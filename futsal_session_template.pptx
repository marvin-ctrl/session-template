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MASTER TEMPLATE  —  keep clean  ·  duplicate Slide 2 for each session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WORKING COPY  —  ready to edit  ·  duplicate weekly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18288"/>
            <a:ext cx="393192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6B6B6B"/>
                </a:solidFill>
                <a:latin typeface="Calibri"/>
              </a:rPr>
              <a:t>[INSERT TEAM]  ·  FUTSAL SESSION PLAN</a:t>
            </a:r>
          </a:p>
          <a:p>
            <a:pPr algn="l"/>
            <a:r>
              <a:rPr sz="2000" b="1" lang="en-GB">
                <a:solidFill>
                  <a:srgbClr val="1A1A1A"/>
                </a:solidFill>
                <a:latin typeface="Calibri"/>
              </a:rPr>
              <a:t>[Insert session title]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452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DATE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date]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41848" y="64008"/>
            <a:ext cx="17830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VENUE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venue]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16368" y="64008"/>
            <a:ext cx="1325880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DURATION</a:t>
            </a:r>
          </a:p>
          <a:p>
            <a:pPr algn="l"/>
            <a:r>
              <a:rPr sz="950" b="1" lang="en-GB">
                <a:solidFill>
                  <a:srgbClr val="1A1A1A"/>
                </a:solidFill>
                <a:latin typeface="Calibri"/>
              </a:rPr>
              <a:t>[Insert duration]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33688" y="64008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STAFF</a:t>
            </a:r>
          </a:p>
          <a:p>
            <a:pPr algn="l"/>
            <a:r>
              <a:rPr sz="950" b="0" lang="en-GB">
                <a:solidFill>
                  <a:srgbClr val="1A1A1A"/>
                </a:solidFill>
                <a:latin typeface="Calibri"/>
              </a:rPr>
              <a:t>[Insert staff]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21208"/>
            <a:ext cx="12191695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566928"/>
            <a:ext cx="301752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0057B8"/>
                </a:solidFill>
                <a:latin typeface="Calibri"/>
              </a:rPr>
              <a:t>SESSION THEME / OBJECTIVE</a:t>
            </a:r>
          </a:p>
          <a:p>
            <a:pPr algn="l"/>
            <a:r>
              <a:rPr sz="1100" b="1" lang="en-GB">
                <a:solidFill>
                  <a:srgbClr val="1A1A1A"/>
                </a:solidFill>
                <a:latin typeface="Calibri"/>
              </a:rPr>
              <a:t>[Insert focus]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66928"/>
            <a:ext cx="315468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COACHING OUTCOMES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key outcomes]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186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0" y="566928"/>
            <a:ext cx="2743200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CONSTRAINTS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constraints]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64040" y="566928"/>
            <a:ext cx="2587752" cy="5029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KEY REMINDERS</a:t>
            </a:r>
          </a:p>
          <a:p>
            <a:pPr algn="l"/>
            <a:r>
              <a:rPr sz="850" b="0" lang="en-GB">
                <a:solidFill>
                  <a:srgbClr val="1A1A1A"/>
                </a:solidFill>
                <a:latin typeface="Calibri"/>
              </a:rPr>
              <a:t>[Insert reminders]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0888" y="612648"/>
            <a:ext cx="0" cy="41148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37160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7160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WARM 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62756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1" name="Court 01"/>
          <p:cNvGrpSpPr/>
          <p:nvPr/>
        </p:nvGrpSpPr>
        <p:grpSpPr>
          <a:xfrm>
            <a:off x="182880" y="1769364"/>
            <a:ext cx="3108960" cy="1490472"/>
            <a:chOff x="182880" y="1769364"/>
            <a:chExt cx="3108960" cy="1490472"/>
          </a:xfrm>
        </p:grpSpPr>
        <p:sp>
          <p:nvSpPr>
            <p:cNvPr id="24" name="Rectangle 23"/>
            <p:cNvSpPr/>
            <p:nvPr/>
          </p:nvSpPr>
          <p:spPr>
            <a:xfrm>
              <a:off x="246888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1737360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Oval 25"/>
            <p:cNvSpPr/>
            <p:nvPr/>
          </p:nvSpPr>
          <p:spPr>
            <a:xfrm>
              <a:off x="1513789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Oval 26"/>
            <p:cNvSpPr/>
            <p:nvPr/>
          </p:nvSpPr>
          <p:spPr>
            <a:xfrm>
              <a:off x="172135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Arc 27"/>
            <p:cNvSpPr/>
            <p:nvPr/>
          </p:nvSpPr>
          <p:spPr>
            <a:xfrm>
              <a:off x="-200254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Arc 28"/>
            <p:cNvSpPr/>
            <p:nvPr/>
          </p:nvSpPr>
          <p:spPr>
            <a:xfrm>
              <a:off x="-200254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69403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Oval 30"/>
            <p:cNvSpPr/>
            <p:nvPr/>
          </p:nvSpPr>
          <p:spPr>
            <a:xfrm>
              <a:off x="67802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97612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82880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Arc 33"/>
            <p:cNvSpPr/>
            <p:nvPr/>
          </p:nvSpPr>
          <p:spPr>
            <a:xfrm>
              <a:off x="2780690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Arc 34"/>
            <p:cNvSpPr/>
            <p:nvPr/>
          </p:nvSpPr>
          <p:spPr>
            <a:xfrm>
              <a:off x="2780690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6" name="Connector 35"/>
            <p:cNvCxnSpPr/>
            <p:nvPr/>
          </p:nvCxnSpPr>
          <p:spPr>
            <a:xfrm>
              <a:off x="2780690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Oval 36"/>
            <p:cNvSpPr/>
            <p:nvPr/>
          </p:nvSpPr>
          <p:spPr>
            <a:xfrm>
              <a:off x="276468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Oval 37"/>
            <p:cNvSpPr/>
            <p:nvPr/>
          </p:nvSpPr>
          <p:spPr>
            <a:xfrm>
              <a:off x="2466594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3227832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02" name="Connector 9001"/>
          <p:cNvCxnSpPr/>
          <p:nvPr/>
        </p:nvCxnSpPr>
        <p:spPr>
          <a:xfrm>
            <a:off x="3337560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3" name="TextBox 9002"/>
          <p:cNvSpPr txBox="1"/>
          <p:nvPr/>
        </p:nvSpPr>
        <p:spPr>
          <a:xfrm>
            <a:off x="3392424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04" name="Connector 9003"/>
          <p:cNvCxnSpPr/>
          <p:nvPr/>
        </p:nvCxnSpPr>
        <p:spPr>
          <a:xfrm>
            <a:off x="201168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05" name="TextBox 9004"/>
          <p:cNvSpPr txBox="1"/>
          <p:nvPr/>
        </p:nvSpPr>
        <p:spPr>
          <a:xfrm>
            <a:off x="201168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06" name="Rectangle 9005"/>
          <p:cNvSpPr/>
          <p:nvPr/>
        </p:nvSpPr>
        <p:spPr>
          <a:xfrm>
            <a:off x="5015484" y="1170432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Rectangle 9006"/>
          <p:cNvSpPr/>
          <p:nvPr/>
        </p:nvSpPr>
        <p:spPr>
          <a:xfrm>
            <a:off x="5015484" y="1170432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5015484" y="1170432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5079492" y="1184148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417820" y="1197864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TECHNICAL / POSSESSION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7118604" y="1202436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641080" y="1202436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5079492" y="1444752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2" name="Court 02"/>
          <p:cNvGrpSpPr/>
          <p:nvPr/>
        </p:nvGrpSpPr>
        <p:grpSpPr>
          <a:xfrm>
            <a:off x="5061204" y="1769364"/>
            <a:ext cx="3108960" cy="1490472"/>
            <a:chOff x="5061204" y="1769364"/>
            <a:chExt cx="3108960" cy="1490472"/>
          </a:xfrm>
        </p:grpSpPr>
        <p:sp>
          <p:nvSpPr>
            <p:cNvPr id="9014" name="Rectangle 9013"/>
            <p:cNvSpPr/>
            <p:nvPr/>
          </p:nvSpPr>
          <p:spPr>
            <a:xfrm>
              <a:off x="5125212" y="1769364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5" name="Connector 9014"/>
            <p:cNvCxnSpPr/>
            <p:nvPr/>
          </p:nvCxnSpPr>
          <p:spPr>
            <a:xfrm>
              <a:off x="6615684" y="1769364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6" name="Oval 9015"/>
            <p:cNvSpPr/>
            <p:nvPr/>
          </p:nvSpPr>
          <p:spPr>
            <a:xfrm>
              <a:off x="6392113" y="2291029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7" name="Oval 9016"/>
            <p:cNvSpPr/>
            <p:nvPr/>
          </p:nvSpPr>
          <p:spPr>
            <a:xfrm>
              <a:off x="659968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8" name="Arc 9017"/>
            <p:cNvSpPr/>
            <p:nvPr/>
          </p:nvSpPr>
          <p:spPr>
            <a:xfrm>
              <a:off x="4678070" y="1955673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9" name="Arc 9018"/>
            <p:cNvSpPr/>
            <p:nvPr/>
          </p:nvSpPr>
          <p:spPr>
            <a:xfrm>
              <a:off x="4678070" y="2179244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0" name="Connector 9019"/>
            <p:cNvCxnSpPr/>
            <p:nvPr/>
          </p:nvCxnSpPr>
          <p:spPr>
            <a:xfrm>
              <a:off x="557235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1" name="Oval 9020"/>
            <p:cNvSpPr/>
            <p:nvPr/>
          </p:nvSpPr>
          <p:spPr>
            <a:xfrm>
              <a:off x="555635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2" name="Oval 9021"/>
            <p:cNvSpPr/>
            <p:nvPr/>
          </p:nvSpPr>
          <p:spPr>
            <a:xfrm>
              <a:off x="5854446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3" name="Rectangle 9022"/>
            <p:cNvSpPr/>
            <p:nvPr/>
          </p:nvSpPr>
          <p:spPr>
            <a:xfrm>
              <a:off x="5061204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4" name="Arc 9023"/>
            <p:cNvSpPr/>
            <p:nvPr/>
          </p:nvSpPr>
          <p:spPr>
            <a:xfrm>
              <a:off x="7659014" y="1955673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5" name="Arc 9024"/>
            <p:cNvSpPr/>
            <p:nvPr/>
          </p:nvSpPr>
          <p:spPr>
            <a:xfrm>
              <a:off x="7659014" y="2179244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26" name="Connector 9025"/>
            <p:cNvCxnSpPr/>
            <p:nvPr/>
          </p:nvCxnSpPr>
          <p:spPr>
            <a:xfrm>
              <a:off x="7659014" y="2402815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27" name="Oval 9026"/>
            <p:cNvSpPr/>
            <p:nvPr/>
          </p:nvSpPr>
          <p:spPr>
            <a:xfrm>
              <a:off x="7643012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8" name="Oval 9027"/>
            <p:cNvSpPr/>
            <p:nvPr/>
          </p:nvSpPr>
          <p:spPr>
            <a:xfrm>
              <a:off x="7344918" y="24985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29" name="Rectangle 9028"/>
            <p:cNvSpPr/>
            <p:nvPr/>
          </p:nvSpPr>
          <p:spPr>
            <a:xfrm>
              <a:off x="8106156" y="2402815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30" name="Connector 9029"/>
          <p:cNvCxnSpPr/>
          <p:nvPr/>
        </p:nvCxnSpPr>
        <p:spPr>
          <a:xfrm>
            <a:off x="8215884" y="1691640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1" name="TextBox 9030"/>
          <p:cNvSpPr txBox="1"/>
          <p:nvPr/>
        </p:nvSpPr>
        <p:spPr>
          <a:xfrm>
            <a:off x="8270748" y="1664208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32" name="Connector 9031"/>
          <p:cNvCxnSpPr/>
          <p:nvPr/>
        </p:nvCxnSpPr>
        <p:spPr>
          <a:xfrm>
            <a:off x="5079492" y="3410712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33" name="TextBox 9032"/>
          <p:cNvSpPr txBox="1"/>
          <p:nvPr/>
        </p:nvSpPr>
        <p:spPr>
          <a:xfrm>
            <a:off x="5079492" y="3429000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34" name="Rectangle 9033"/>
          <p:cNvSpPr/>
          <p:nvPr/>
        </p:nvSpPr>
        <p:spPr>
          <a:xfrm>
            <a:off x="137160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5" name="Rectangle 9034"/>
          <p:cNvSpPr/>
          <p:nvPr/>
        </p:nvSpPr>
        <p:spPr>
          <a:xfrm>
            <a:off x="137160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6" name="Rectangle 9035"/>
          <p:cNvSpPr/>
          <p:nvPr/>
        </p:nvSpPr>
        <p:spPr>
          <a:xfrm>
            <a:off x="137160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7" name="TextBox 9036"/>
          <p:cNvSpPr txBox="1"/>
          <p:nvPr/>
        </p:nvSpPr>
        <p:spPr>
          <a:xfrm>
            <a:off x="201168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03</a:t>
            </a:r>
          </a:p>
        </p:txBody>
      </p:sp>
      <p:sp>
        <p:nvSpPr>
          <p:cNvPr id="9038" name="TextBox 9037"/>
          <p:cNvSpPr txBox="1"/>
          <p:nvPr/>
        </p:nvSpPr>
        <p:spPr>
          <a:xfrm>
            <a:off x="539496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TACTICAL ACTIVITY</a:t>
            </a:r>
          </a:p>
        </p:txBody>
      </p:sp>
      <p:sp>
        <p:nvSpPr>
          <p:cNvPr id="9039" name="TextBox 9038"/>
          <p:cNvSpPr txBox="1"/>
          <p:nvPr/>
        </p:nvSpPr>
        <p:spPr>
          <a:xfrm>
            <a:off x="2240280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40" name="Rounded Rectangle 9039"/>
          <p:cNvSpPr/>
          <p:nvPr/>
        </p:nvSpPr>
        <p:spPr>
          <a:xfrm>
            <a:off x="3762756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41" name="TextBox 9040"/>
          <p:cNvSpPr txBox="1"/>
          <p:nvPr/>
        </p:nvSpPr>
        <p:spPr>
          <a:xfrm>
            <a:off x="201168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3" name="Court 03"/>
          <p:cNvGrpSpPr/>
          <p:nvPr/>
        </p:nvGrpSpPr>
        <p:grpSpPr>
          <a:xfrm>
            <a:off x="182880" y="4576572"/>
            <a:ext cx="3108960" cy="1490472"/>
            <a:chOff x="182880" y="4576572"/>
            <a:chExt cx="3108960" cy="1490472"/>
          </a:xfrm>
        </p:grpSpPr>
        <p:sp>
          <p:nvSpPr>
            <p:cNvPr id="9042" name="Rectangle 9041"/>
            <p:cNvSpPr/>
            <p:nvPr/>
          </p:nvSpPr>
          <p:spPr>
            <a:xfrm>
              <a:off x="246888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3" name="Connector 9042"/>
            <p:cNvCxnSpPr/>
            <p:nvPr/>
          </p:nvCxnSpPr>
          <p:spPr>
            <a:xfrm>
              <a:off x="1737360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4" name="Oval 9043"/>
            <p:cNvSpPr/>
            <p:nvPr/>
          </p:nvSpPr>
          <p:spPr>
            <a:xfrm>
              <a:off x="1513789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5" name="Oval 9044"/>
            <p:cNvSpPr/>
            <p:nvPr/>
          </p:nvSpPr>
          <p:spPr>
            <a:xfrm>
              <a:off x="172135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6" name="Arc 9045"/>
            <p:cNvSpPr/>
            <p:nvPr/>
          </p:nvSpPr>
          <p:spPr>
            <a:xfrm>
              <a:off x="-200254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47" name="Arc 9046"/>
            <p:cNvSpPr/>
            <p:nvPr/>
          </p:nvSpPr>
          <p:spPr>
            <a:xfrm>
              <a:off x="-200254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48" name="Connector 9047"/>
            <p:cNvCxnSpPr/>
            <p:nvPr/>
          </p:nvCxnSpPr>
          <p:spPr>
            <a:xfrm>
              <a:off x="69403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49" name="Oval 9048"/>
            <p:cNvSpPr/>
            <p:nvPr/>
          </p:nvSpPr>
          <p:spPr>
            <a:xfrm>
              <a:off x="67802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0" name="Oval 9049"/>
            <p:cNvSpPr/>
            <p:nvPr/>
          </p:nvSpPr>
          <p:spPr>
            <a:xfrm>
              <a:off x="97612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1" name="Rectangle 9050"/>
            <p:cNvSpPr/>
            <p:nvPr/>
          </p:nvSpPr>
          <p:spPr>
            <a:xfrm>
              <a:off x="182880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2" name="Arc 9051"/>
            <p:cNvSpPr/>
            <p:nvPr/>
          </p:nvSpPr>
          <p:spPr>
            <a:xfrm>
              <a:off x="2780690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3" name="Arc 9052"/>
            <p:cNvSpPr/>
            <p:nvPr/>
          </p:nvSpPr>
          <p:spPr>
            <a:xfrm>
              <a:off x="2780690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54" name="Connector 9053"/>
            <p:cNvCxnSpPr/>
            <p:nvPr/>
          </p:nvCxnSpPr>
          <p:spPr>
            <a:xfrm>
              <a:off x="2780690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55" name="Oval 9054"/>
            <p:cNvSpPr/>
            <p:nvPr/>
          </p:nvSpPr>
          <p:spPr>
            <a:xfrm>
              <a:off x="276468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6" name="Oval 9055"/>
            <p:cNvSpPr/>
            <p:nvPr/>
          </p:nvSpPr>
          <p:spPr>
            <a:xfrm>
              <a:off x="2466594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57" name="Rectangle 9056"/>
            <p:cNvSpPr/>
            <p:nvPr/>
          </p:nvSpPr>
          <p:spPr>
            <a:xfrm>
              <a:off x="3227832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58" name="Connector 9057"/>
          <p:cNvCxnSpPr/>
          <p:nvPr/>
        </p:nvCxnSpPr>
        <p:spPr>
          <a:xfrm>
            <a:off x="3337560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59" name="TextBox 9058"/>
          <p:cNvSpPr txBox="1"/>
          <p:nvPr/>
        </p:nvSpPr>
        <p:spPr>
          <a:xfrm>
            <a:off x="3392424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60" name="Connector 9059"/>
          <p:cNvCxnSpPr/>
          <p:nvPr/>
        </p:nvCxnSpPr>
        <p:spPr>
          <a:xfrm>
            <a:off x="201168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61" name="TextBox 9060"/>
          <p:cNvSpPr txBox="1"/>
          <p:nvPr/>
        </p:nvSpPr>
        <p:spPr>
          <a:xfrm>
            <a:off x="201168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62" name="Rectangle 9061"/>
          <p:cNvSpPr/>
          <p:nvPr/>
        </p:nvSpPr>
        <p:spPr>
          <a:xfrm>
            <a:off x="5015484" y="3977640"/>
            <a:ext cx="4814316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3" name="Rectangle 9062"/>
          <p:cNvSpPr/>
          <p:nvPr/>
        </p:nvSpPr>
        <p:spPr>
          <a:xfrm>
            <a:off x="5015484" y="3977640"/>
            <a:ext cx="4814316" cy="256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4" name="Rectangle 9063"/>
          <p:cNvSpPr/>
          <p:nvPr/>
        </p:nvSpPr>
        <p:spPr>
          <a:xfrm>
            <a:off x="5015484" y="3977640"/>
            <a:ext cx="45720" cy="256032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5" name="TextBox 9064"/>
          <p:cNvSpPr txBox="1"/>
          <p:nvPr/>
        </p:nvSpPr>
        <p:spPr>
          <a:xfrm>
            <a:off x="5079492" y="3991356"/>
            <a:ext cx="329184" cy="2286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100" b="1" lang="en-GB">
                <a:solidFill>
                  <a:srgbClr val="0057B8"/>
                </a:solidFill>
                <a:latin typeface="Calibri"/>
              </a:rPr>
              <a:t>04</a:t>
            </a:r>
          </a:p>
        </p:txBody>
      </p:sp>
      <p:sp>
        <p:nvSpPr>
          <p:cNvPr id="9066" name="TextBox 9065"/>
          <p:cNvSpPr txBox="1"/>
          <p:nvPr/>
        </p:nvSpPr>
        <p:spPr>
          <a:xfrm>
            <a:off x="5417820" y="4005072"/>
            <a:ext cx="1664208" cy="210312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GAME</a:t>
            </a:r>
          </a:p>
        </p:txBody>
      </p:sp>
      <p:sp>
        <p:nvSpPr>
          <p:cNvPr id="9067" name="TextBox 9066"/>
          <p:cNvSpPr txBox="1"/>
          <p:nvPr/>
        </p:nvSpPr>
        <p:spPr>
          <a:xfrm>
            <a:off x="7118604" y="4009644"/>
            <a:ext cx="1431036" cy="201168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r"/>
            <a:r>
              <a:rPr sz="700" b="1" lang="en-GB">
                <a:solidFill>
                  <a:srgbClr val="6B6B6B"/>
                </a:solidFill>
                <a:latin typeface="Calibri"/>
              </a:rPr>
              <a:t>LEAD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responsibility]</a:t>
            </a:r>
          </a:p>
        </p:txBody>
      </p:sp>
      <p:sp>
        <p:nvSpPr>
          <p:cNvPr id="9068" name="Rounded Rectangle 9067"/>
          <p:cNvSpPr/>
          <p:nvPr/>
        </p:nvSpPr>
        <p:spPr>
          <a:xfrm>
            <a:off x="8641080" y="4009644"/>
            <a:ext cx="1115568" cy="1920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57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0" bIns="0"/>
          <a:lstStyle/>
          <a:p>
            <a:pPr algn="ctr"/>
            <a:r>
              <a:rPr sz="800" b="1">
                <a:solidFill>
                  <a:srgbClr val="0057B8"/>
                </a:solidFill>
                <a:latin typeface="Calibri"/>
              </a:rPr>
              <a:t>[Insert timing]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5079492" y="4251960"/>
            <a:ext cx="4686300" cy="18288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OBJECTIVE  </a:t>
            </a:r>
            <a:r>
              <a:rPr sz="850" b="0" lang="en-GB">
                <a:solidFill>
                  <a:srgbClr val="1A1A1A"/>
                </a:solidFill>
                <a:latin typeface="Calibri"/>
              </a:rPr>
              <a:t>[Insert objective]</a:t>
            </a:r>
          </a:p>
        </p:txBody>
      </p:sp>
      <p:grpSp>
        <p:nvGrpSpPr>
          <p:cNvPr id="9004" name="Court 04"/>
          <p:cNvGrpSpPr/>
          <p:nvPr/>
        </p:nvGrpSpPr>
        <p:grpSpPr>
          <a:xfrm>
            <a:off x="5061204" y="4576572"/>
            <a:ext cx="3108960" cy="1490472"/>
            <a:chOff x="5061204" y="4576572"/>
            <a:chExt cx="3108960" cy="1490472"/>
          </a:xfrm>
        </p:grpSpPr>
        <p:sp>
          <p:nvSpPr>
            <p:cNvPr id="9070" name="Rectangle 9069"/>
            <p:cNvSpPr/>
            <p:nvPr/>
          </p:nvSpPr>
          <p:spPr>
            <a:xfrm>
              <a:off x="5125212" y="4576572"/>
              <a:ext cx="2980944" cy="149047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1" name="Connector 9070"/>
            <p:cNvCxnSpPr/>
            <p:nvPr/>
          </p:nvCxnSpPr>
          <p:spPr>
            <a:xfrm>
              <a:off x="6615684" y="4576572"/>
              <a:ext cx="0" cy="149047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2" name="Oval 9071"/>
            <p:cNvSpPr/>
            <p:nvPr/>
          </p:nvSpPr>
          <p:spPr>
            <a:xfrm>
              <a:off x="6392113" y="5098237"/>
              <a:ext cx="447142" cy="447142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3" name="Oval 9072"/>
            <p:cNvSpPr/>
            <p:nvPr/>
          </p:nvSpPr>
          <p:spPr>
            <a:xfrm>
              <a:off x="659968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4" name="Arc 9073"/>
            <p:cNvSpPr/>
            <p:nvPr/>
          </p:nvSpPr>
          <p:spPr>
            <a:xfrm>
              <a:off x="4678070" y="4762881"/>
              <a:ext cx="894283" cy="894283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5" name="Arc 9074"/>
            <p:cNvSpPr/>
            <p:nvPr/>
          </p:nvSpPr>
          <p:spPr>
            <a:xfrm>
              <a:off x="4678070" y="4986452"/>
              <a:ext cx="894283" cy="894283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76" name="Connector 9075"/>
            <p:cNvCxnSpPr/>
            <p:nvPr/>
          </p:nvCxnSpPr>
          <p:spPr>
            <a:xfrm>
              <a:off x="557235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77" name="Oval 9076"/>
            <p:cNvSpPr/>
            <p:nvPr/>
          </p:nvSpPr>
          <p:spPr>
            <a:xfrm>
              <a:off x="555635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8" name="Oval 9077"/>
            <p:cNvSpPr/>
            <p:nvPr/>
          </p:nvSpPr>
          <p:spPr>
            <a:xfrm>
              <a:off x="5854446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79" name="Rectangle 9078"/>
            <p:cNvSpPr/>
            <p:nvPr/>
          </p:nvSpPr>
          <p:spPr>
            <a:xfrm>
              <a:off x="5061204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0" name="Arc 9079"/>
            <p:cNvSpPr/>
            <p:nvPr/>
          </p:nvSpPr>
          <p:spPr>
            <a:xfrm>
              <a:off x="7659014" y="4762881"/>
              <a:ext cx="894283" cy="894283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1" name="Arc 9080"/>
            <p:cNvSpPr/>
            <p:nvPr/>
          </p:nvSpPr>
          <p:spPr>
            <a:xfrm>
              <a:off x="7659014" y="4986452"/>
              <a:ext cx="894283" cy="894283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82" name="Connector 9081"/>
            <p:cNvCxnSpPr/>
            <p:nvPr/>
          </p:nvCxnSpPr>
          <p:spPr>
            <a:xfrm>
              <a:off x="7659014" y="5210023"/>
              <a:ext cx="0" cy="22357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83" name="Oval 9082"/>
            <p:cNvSpPr/>
            <p:nvPr/>
          </p:nvSpPr>
          <p:spPr>
            <a:xfrm>
              <a:off x="7643012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4" name="Oval 9083"/>
            <p:cNvSpPr/>
            <p:nvPr/>
          </p:nvSpPr>
          <p:spPr>
            <a:xfrm>
              <a:off x="7344918" y="5305806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85" name="Rectangle 9084"/>
            <p:cNvSpPr/>
            <p:nvPr/>
          </p:nvSpPr>
          <p:spPr>
            <a:xfrm>
              <a:off x="8106156" y="5210023"/>
              <a:ext cx="64008" cy="223571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086" name="Connector 9085"/>
          <p:cNvCxnSpPr/>
          <p:nvPr/>
        </p:nvCxnSpPr>
        <p:spPr>
          <a:xfrm>
            <a:off x="8215884" y="4498848"/>
            <a:ext cx="0" cy="164592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7" name="TextBox 9086"/>
          <p:cNvSpPr txBox="1"/>
          <p:nvPr/>
        </p:nvSpPr>
        <p:spPr>
          <a:xfrm>
            <a:off x="8270748" y="4471416"/>
            <a:ext cx="1495044" cy="170078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COACHING POINTS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coaching points]</a:t>
            </a:r>
          </a:p>
        </p:txBody>
      </p:sp>
      <p:cxnSp>
        <p:nvCxnSpPr>
          <p:cNvPr id="9088" name="Connector 9087"/>
          <p:cNvCxnSpPr/>
          <p:nvPr/>
        </p:nvCxnSpPr>
        <p:spPr>
          <a:xfrm>
            <a:off x="5079492" y="6217920"/>
            <a:ext cx="46863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89" name="TextBox 9088"/>
          <p:cNvSpPr txBox="1"/>
          <p:nvPr/>
        </p:nvSpPr>
        <p:spPr>
          <a:xfrm>
            <a:off x="5079492" y="6236208"/>
            <a:ext cx="4686300" cy="4663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NOTES / CONSTRAINTS / PROGRESSIONS   </a:t>
            </a:r>
            <a:r>
              <a:rPr sz="800" b="0" lang="en-GB">
                <a:solidFill>
                  <a:srgbClr val="1A1A1A"/>
                </a:solidFill>
                <a:latin typeface="Calibri"/>
              </a:rPr>
              <a:t>[Insert notes]</a:t>
            </a:r>
          </a:p>
        </p:txBody>
      </p:sp>
      <p:sp>
        <p:nvSpPr>
          <p:cNvPr id="9090" name="Rectangle 9089"/>
          <p:cNvSpPr/>
          <p:nvPr/>
        </p:nvSpPr>
        <p:spPr>
          <a:xfrm>
            <a:off x="9902952" y="1170432"/>
            <a:ext cx="2148840" cy="5550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1" name="Rectangle 9090"/>
          <p:cNvSpPr/>
          <p:nvPr/>
        </p:nvSpPr>
        <p:spPr>
          <a:xfrm>
            <a:off x="9902952" y="1170432"/>
            <a:ext cx="2148840" cy="2743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2" name="TextBox 9091"/>
          <p:cNvSpPr txBox="1"/>
          <p:nvPr/>
        </p:nvSpPr>
        <p:spPr>
          <a:xfrm>
            <a:off x="9948672" y="1211580"/>
            <a:ext cx="2057400" cy="219456"/>
          </a:xfrm>
          <a:prstGeom prst="rect">
            <a:avLst/>
          </a:prstGeom>
          <a:noFill/>
          <a:effectLst/>
        </p:spPr>
        <p:txBody>
          <a:bodyPr wrap="none" anchor="t" lIns="27432" rIns="27432" tIns="13716" bIns="13716">
            <a:spAutoFit/>
          </a:bodyPr>
          <a:lstStyle/>
          <a:p>
            <a:pPr algn="l"/>
            <a:r>
              <a:rPr sz="800" b="1" lang="en-GB">
                <a:solidFill>
                  <a:srgbClr val="FFFFFF"/>
                </a:solidFill>
                <a:latin typeface="Calibri"/>
              </a:rPr>
              <a:t>AVAILABLE PLAYERS / POSITIONS</a:t>
            </a:r>
          </a:p>
        </p:txBody>
      </p:sp>
      <p:sp>
        <p:nvSpPr>
          <p:cNvPr id="9093" name="TextBox 9092"/>
          <p:cNvSpPr txBox="1"/>
          <p:nvPr/>
        </p:nvSpPr>
        <p:spPr>
          <a:xfrm>
            <a:off x="9948672" y="1472184"/>
            <a:ext cx="2057400" cy="2194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TOTAL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GK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   </a:t>
            </a:r>
            <a:r>
              <a:rPr sz="700" b="1" lang="en-GB">
                <a:solidFill>
                  <a:srgbClr val="6B6B6B"/>
                </a:solidFill>
                <a:latin typeface="Calibri"/>
              </a:rPr>
              <a:t>OUTFIELD </a:t>
            </a:r>
            <a:r>
              <a:rPr sz="900" b="1" lang="en-GB">
                <a:solidFill>
                  <a:srgbClr val="1A1A1A"/>
                </a:solidFill>
                <a:latin typeface="Calibri"/>
              </a:rPr>
              <a:t>[#]</a:t>
            </a:r>
          </a:p>
        </p:txBody>
      </p:sp>
      <p:graphicFrame>
        <p:nvGraphicFramePr>
          <p:cNvPr id="9094" name="Table 9093"/>
          <p:cNvGraphicFramePr>
            <a:graphicFrameLocks noGrp="1"/>
          </p:cNvGraphicFramePr>
          <p:nvPr/>
        </p:nvGraphicFramePr>
        <p:xfrm>
          <a:off x="9948672" y="1719072"/>
          <a:ext cx="2057400" cy="3703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5488"/>
                <a:gridCol w="987552"/>
                <a:gridCol w="594360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POS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1A1A1A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36576" marR="18288" marT="4572" marB="4572" anchor="ctr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GK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FIXO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ALA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Calibri"/>
                        </a:rPr>
                        <a:t>PIVOT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>[Player]</a:t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6B6B6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36576" marR="18288" marT="4572" marB="4572" anchor="ctr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cxnSp>
        <p:nvCxnSpPr>
          <p:cNvPr id="9095" name="Connector 9094"/>
          <p:cNvCxnSpPr/>
          <p:nvPr/>
        </p:nvCxnSpPr>
        <p:spPr>
          <a:xfrm>
            <a:off x="9948672" y="5971032"/>
            <a:ext cx="2057400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96" name="TextBox 9095"/>
          <p:cNvSpPr txBox="1"/>
          <p:nvPr/>
        </p:nvSpPr>
        <p:spPr>
          <a:xfrm>
            <a:off x="9948672" y="5998464"/>
            <a:ext cx="2057400" cy="676656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SQUAD NOTES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[Insert status notes]</a:t>
            </a:r>
          </a:p>
        </p:txBody>
      </p:sp>
      <p:sp>
        <p:nvSpPr>
          <p:cNvPr id="9097" name="TextBox 9096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GUIDE  —  annotated example  ·  delete the blue notes after reading</a:t>
            </a:r>
          </a:p>
        </p:txBody>
      </p:sp>
      <p:sp>
        <p:nvSpPr>
          <p:cNvPr id="9098" name="Rectangle 9097"/>
          <p:cNvSpPr/>
          <p:nvPr/>
        </p:nvSpPr>
        <p:spPr>
          <a:xfrm>
            <a:off x="50292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Set timing + lead coach in each block header. Keep the objective to one line.</a:t>
            </a:r>
          </a:p>
        </p:txBody>
      </p:sp>
      <p:sp>
        <p:nvSpPr>
          <p:cNvPr id="9099" name="Rectangle 9098"/>
          <p:cNvSpPr/>
          <p:nvPr/>
        </p:nvSpPr>
        <p:spPr>
          <a:xfrm>
            <a:off x="5394960" y="192024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Copy players, arrows and zones from Slide 4 (Component Library) onto the court.</a:t>
            </a:r>
          </a:p>
        </p:txBody>
      </p:sp>
      <p:sp>
        <p:nvSpPr>
          <p:cNvPr id="9100" name="Rectangle 9099"/>
          <p:cNvSpPr/>
          <p:nvPr/>
        </p:nvSpPr>
        <p:spPr>
          <a:xfrm>
            <a:off x="50292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Use the notes strip for constraints, progressions and setup / equipment reminders.</a:t>
            </a:r>
          </a:p>
        </p:txBody>
      </p:sp>
      <p:sp>
        <p:nvSpPr>
          <p:cNvPr id="9101" name="Rectangle 9100"/>
          <p:cNvSpPr/>
          <p:nvPr/>
        </p:nvSpPr>
        <p:spPr>
          <a:xfrm>
            <a:off x="5394960" y="4754880"/>
            <a:ext cx="2331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Duplicate Slide 2 each week. Delete these blue notes — they are single text boxes.</a:t>
            </a:r>
          </a:p>
        </p:txBody>
      </p:sp>
      <p:sp>
        <p:nvSpPr>
          <p:cNvPr id="9102" name="Rectangle 9101"/>
          <p:cNvSpPr/>
          <p:nvPr/>
        </p:nvSpPr>
        <p:spPr>
          <a:xfrm>
            <a:off x="9994392" y="3017520"/>
            <a:ext cx="19659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57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750" b="0">
                <a:solidFill>
                  <a:srgbClr val="0057B8"/>
                </a:solidFill>
                <a:latin typeface="Calibri"/>
              </a:rPr>
              <a:t>HOW TO — Update counts, names and status here for fast late changes. Tab moves between table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45720"/>
            <a:ext cx="8229600" cy="45720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1600" b="1" lang="en-GB">
                <a:solidFill>
                  <a:srgbClr val="1A1A1A"/>
                </a:solidFill>
                <a:latin typeface="Calibri"/>
              </a:rPr>
              <a:t>COMPONENT LIBRARY</a:t>
            </a:r>
          </a:p>
          <a:p>
            <a:pPr algn="l"/>
            <a:r>
              <a:rPr sz="850" b="0" lang="en-GB">
                <a:solidFill>
                  <a:srgbClr val="6B6B6B"/>
                </a:solidFill>
                <a:latin typeface="Calibri"/>
              </a:rPr>
              <a:t>Copy any element into a diagram zone. Consistent sizes and line weights — duplicate freely.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91695" cy="18288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89611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12" y="86868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PLAYERS</a:t>
            </a:r>
          </a:p>
        </p:txBody>
      </p:sp>
      <p:sp>
        <p:nvSpPr>
          <p:cNvPr id="6" name="Oval 5"/>
          <p:cNvSpPr/>
          <p:nvPr/>
        </p:nvSpPr>
        <p:spPr>
          <a:xfrm>
            <a:off x="493776" y="1161288"/>
            <a:ext cx="237744" cy="237744"/>
          </a:xfrm>
          <a:prstGeom prst="ellipse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35608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Attacker</a:t>
            </a:r>
          </a:p>
        </p:txBody>
      </p:sp>
      <p:sp>
        <p:nvSpPr>
          <p:cNvPr id="8" name="Oval 7"/>
          <p:cNvSpPr/>
          <p:nvPr/>
        </p:nvSpPr>
        <p:spPr>
          <a:xfrm>
            <a:off x="1152144" y="11612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6B6B6B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435608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Defender</a:t>
            </a:r>
          </a:p>
        </p:txBody>
      </p:sp>
      <p:sp>
        <p:nvSpPr>
          <p:cNvPr id="10" name="Oval 9"/>
          <p:cNvSpPr/>
          <p:nvPr/>
        </p:nvSpPr>
        <p:spPr>
          <a:xfrm>
            <a:off x="1810512" y="1161288"/>
            <a:ext cx="237744" cy="237744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82496" y="1435608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GK</a:t>
            </a:r>
          </a:p>
        </p:txBody>
      </p:sp>
      <p:sp>
        <p:nvSpPr>
          <p:cNvPr id="12" name="Oval 11"/>
          <p:cNvSpPr/>
          <p:nvPr/>
        </p:nvSpPr>
        <p:spPr>
          <a:xfrm>
            <a:off x="2468880" y="1161288"/>
            <a:ext cx="237744" cy="2377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6B6B6B"/>
                </a:solidFill>
                <a:latin typeface="Calibri"/>
              </a:rPr>
              <a:t>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0864" y="1435608"/>
            <a:ext cx="64008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Neutral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46120" y="89611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9272" y="86868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EQUIPMENT</a:t>
            </a:r>
          </a:p>
        </p:txBody>
      </p:sp>
      <p:sp>
        <p:nvSpPr>
          <p:cNvPr id="16" name="Isosceles Triangle 15"/>
          <p:cNvSpPr/>
          <p:nvPr/>
        </p:nvSpPr>
        <p:spPr>
          <a:xfrm>
            <a:off x="3337560" y="1179576"/>
            <a:ext cx="201168" cy="182880"/>
          </a:xfrm>
          <a:prstGeom prst="triangl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4680" y="1435608"/>
            <a:ext cx="566928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Cone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1124712"/>
            <a:ext cx="45720" cy="292608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1435608"/>
            <a:ext cx="566928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Pole</a:t>
            </a:r>
          </a:p>
        </p:txBody>
      </p:sp>
      <p:sp>
        <p:nvSpPr>
          <p:cNvPr id="20" name="Oval 19"/>
          <p:cNvSpPr/>
          <p:nvPr/>
        </p:nvSpPr>
        <p:spPr>
          <a:xfrm>
            <a:off x="4471416" y="1216152"/>
            <a:ext cx="118872" cy="11887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51960" y="1435608"/>
            <a:ext cx="566928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Ball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89611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22392" y="86868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LINES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394960" y="1252728"/>
            <a:ext cx="822960" cy="0"/>
          </a:xfrm>
          <a:prstGeom prst="line">
            <a:avLst/>
          </a:prstGeom>
          <a:ln w="19050">
            <a:solidFill>
              <a:srgbClr val="1A1A1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349240" y="1325880"/>
            <a:ext cx="91440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Movement run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0" y="1252728"/>
            <a:ext cx="822960" cy="0"/>
          </a:xfrm>
          <a:prstGeom prst="line">
            <a:avLst/>
          </a:prstGeom>
          <a:ln w="19050">
            <a:solidFill>
              <a:srgbClr val="1A1A1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1325880"/>
            <a:ext cx="91440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Pass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1252728"/>
            <a:ext cx="822960" cy="0"/>
          </a:xfrm>
          <a:prstGeom prst="line">
            <a:avLst/>
          </a:prstGeom>
          <a:ln w="19050">
            <a:solidFill>
              <a:srgbClr val="1A1A1A"/>
            </a:solidFill>
            <a:prstDash val="sysDot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360920" y="1325880"/>
            <a:ext cx="91440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Dribble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23960" y="89611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97112" y="86868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ZONES / SCREENS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69680" y="1143000"/>
            <a:ext cx="777240" cy="365760"/>
          </a:xfrm>
          <a:prstGeom prst="rect">
            <a:avLst/>
          </a:prstGeom>
          <a:solidFill>
            <a:srgbClr val="0057B8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23960" y="1527048"/>
            <a:ext cx="86868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Shaded zone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21240" y="1289304"/>
            <a:ext cx="411480" cy="64008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1527048"/>
            <a:ext cx="731520" cy="164592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ctr"/>
            <a:r>
              <a:rPr sz="650" b="0" lang="en-GB">
                <a:solidFill>
                  <a:srgbClr val="6B6B6B"/>
                </a:solidFill>
                <a:latin typeface="Calibri"/>
              </a:rPr>
              <a:t>Screen / block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13055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8912" y="210312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FULL COURT  (40m x 20m)</a:t>
            </a:r>
          </a:p>
        </p:txBody>
      </p:sp>
      <p:grpSp>
        <p:nvGrpSpPr>
          <p:cNvPr id="9005" name="Library full court"/>
          <p:cNvGrpSpPr/>
          <p:nvPr/>
        </p:nvGrpSpPr>
        <p:grpSpPr>
          <a:xfrm>
            <a:off x="438912" y="2423160"/>
            <a:ext cx="4151376" cy="2011680"/>
            <a:chOff x="438912" y="2423160"/>
            <a:chExt cx="4151376" cy="2011680"/>
          </a:xfrm>
        </p:grpSpPr>
        <p:sp>
          <p:nvSpPr>
            <p:cNvPr id="38" name="Rectangle 37"/>
            <p:cNvSpPr/>
            <p:nvPr/>
          </p:nvSpPr>
          <p:spPr>
            <a:xfrm>
              <a:off x="502920" y="2423160"/>
              <a:ext cx="4023360" cy="2011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9" name="Connector 38"/>
            <p:cNvCxnSpPr/>
            <p:nvPr/>
          </p:nvCxnSpPr>
          <p:spPr>
            <a:xfrm>
              <a:off x="2514600" y="2423160"/>
              <a:ext cx="0" cy="2011680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Oval 39"/>
            <p:cNvSpPr/>
            <p:nvPr/>
          </p:nvSpPr>
          <p:spPr>
            <a:xfrm>
              <a:off x="2212848" y="3127248"/>
              <a:ext cx="603504" cy="603504"/>
            </a:xfrm>
            <a:prstGeom prst="ellipse">
              <a:avLst/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Oval 40"/>
            <p:cNvSpPr/>
            <p:nvPr/>
          </p:nvSpPr>
          <p:spPr>
            <a:xfrm>
              <a:off x="2498598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Arc 41"/>
            <p:cNvSpPr/>
            <p:nvPr/>
          </p:nvSpPr>
          <p:spPr>
            <a:xfrm>
              <a:off x="-100584" y="2674620"/>
              <a:ext cx="1207008" cy="12070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Arc 42"/>
            <p:cNvSpPr/>
            <p:nvPr/>
          </p:nvSpPr>
          <p:spPr>
            <a:xfrm>
              <a:off x="-100584" y="2976372"/>
              <a:ext cx="1207008" cy="12070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44" name="Connector 43"/>
            <p:cNvCxnSpPr/>
            <p:nvPr/>
          </p:nvCxnSpPr>
          <p:spPr>
            <a:xfrm>
              <a:off x="1106424" y="3278124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Oval 44"/>
            <p:cNvSpPr/>
            <p:nvPr/>
          </p:nvSpPr>
          <p:spPr>
            <a:xfrm>
              <a:off x="1090422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Oval 45"/>
            <p:cNvSpPr/>
            <p:nvPr/>
          </p:nvSpPr>
          <p:spPr>
            <a:xfrm>
              <a:off x="1492758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38912" y="3278124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Arc 47"/>
            <p:cNvSpPr/>
            <p:nvPr/>
          </p:nvSpPr>
          <p:spPr>
            <a:xfrm>
              <a:off x="3922776" y="2674620"/>
              <a:ext cx="1207008" cy="1207008"/>
            </a:xfrm>
            <a:prstGeom prst="arc">
              <a:avLst>
                <a:gd name="adj1" fmla="val 108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Arc 48"/>
            <p:cNvSpPr/>
            <p:nvPr/>
          </p:nvSpPr>
          <p:spPr>
            <a:xfrm>
              <a:off x="3922776" y="2976372"/>
              <a:ext cx="1207008" cy="1207008"/>
            </a:xfrm>
            <a:prstGeom prst="arc">
              <a:avLst>
                <a:gd name="adj1" fmla="val 5400000"/>
                <a:gd name="adj2" fmla="val 108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3922776" y="3278124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Oval 50"/>
            <p:cNvSpPr/>
            <p:nvPr/>
          </p:nvSpPr>
          <p:spPr>
            <a:xfrm>
              <a:off x="3906774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3504438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4526280" y="3278124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06" name="Rectangle 9005"/>
          <p:cNvSpPr/>
          <p:nvPr/>
        </p:nvSpPr>
        <p:spPr>
          <a:xfrm>
            <a:off x="5669280" y="2130552"/>
            <a:ext cx="36576" cy="146304"/>
          </a:xfrm>
          <a:prstGeom prst="rect">
            <a:avLst/>
          </a:prstGeom>
          <a:solidFill>
            <a:srgbClr val="005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5742432" y="2103120"/>
            <a:ext cx="2377440" cy="201168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900" b="1" lang="en-GB">
                <a:solidFill>
                  <a:srgbClr val="1A1A1A"/>
                </a:solidFill>
                <a:latin typeface="Calibri"/>
              </a:rPr>
              <a:t>HALF COURT  (20m x 20m)</a:t>
            </a:r>
          </a:p>
        </p:txBody>
      </p:sp>
      <p:grpSp>
        <p:nvGrpSpPr>
          <p:cNvPr id="9006" name="Library half court"/>
          <p:cNvGrpSpPr/>
          <p:nvPr/>
        </p:nvGrpSpPr>
        <p:grpSpPr>
          <a:xfrm>
            <a:off x="5742432" y="2423160"/>
            <a:ext cx="2075688" cy="2011680"/>
            <a:chOff x="5742432" y="2423160"/>
            <a:chExt cx="2075688" cy="2011680"/>
          </a:xfrm>
        </p:grpSpPr>
        <p:sp>
          <p:nvSpPr>
            <p:cNvPr id="9008" name="Rectangle 9007"/>
            <p:cNvSpPr/>
            <p:nvPr/>
          </p:nvSpPr>
          <p:spPr>
            <a:xfrm>
              <a:off x="5806440" y="2423160"/>
              <a:ext cx="2011680" cy="2011680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09" name="Arc 9008"/>
            <p:cNvSpPr/>
            <p:nvPr/>
          </p:nvSpPr>
          <p:spPr>
            <a:xfrm>
              <a:off x="7516368" y="3127248"/>
              <a:ext cx="603504" cy="603504"/>
            </a:xfrm>
            <a:prstGeom prst="arc">
              <a:avLst>
                <a:gd name="adj1" fmla="val 5400000"/>
                <a:gd name="adj2" fmla="val 162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0" name="Oval 9009"/>
            <p:cNvSpPr/>
            <p:nvPr/>
          </p:nvSpPr>
          <p:spPr>
            <a:xfrm>
              <a:off x="7802118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1" name="Arc 9010"/>
            <p:cNvSpPr/>
            <p:nvPr/>
          </p:nvSpPr>
          <p:spPr>
            <a:xfrm>
              <a:off x="5202936" y="2674620"/>
              <a:ext cx="1207008" cy="1207008"/>
            </a:xfrm>
            <a:prstGeom prst="arc">
              <a:avLst>
                <a:gd name="adj1" fmla="val 16200000"/>
                <a:gd name="adj2" fmla="val 216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2" name="Arc 9011"/>
            <p:cNvSpPr/>
            <p:nvPr/>
          </p:nvSpPr>
          <p:spPr>
            <a:xfrm>
              <a:off x="5202936" y="2976372"/>
              <a:ext cx="1207008" cy="1207008"/>
            </a:xfrm>
            <a:prstGeom prst="arc">
              <a:avLst>
                <a:gd name="adj1" fmla="val 0"/>
                <a:gd name="adj2" fmla="val 5400000"/>
              </a:avLst>
            </a:prstGeom>
            <a:noFill/>
            <a:ln w="9525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013" name="Connector 9012"/>
            <p:cNvCxnSpPr/>
            <p:nvPr/>
          </p:nvCxnSpPr>
          <p:spPr>
            <a:xfrm>
              <a:off x="6409944" y="3278124"/>
              <a:ext cx="0" cy="301752"/>
            </a:xfrm>
            <a:prstGeom prst="line">
              <a:avLst/>
            </a:prstGeom>
            <a:ln w="9525">
              <a:solidFill>
                <a:srgbClr val="A9B1BB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14" name="Oval 9013"/>
            <p:cNvSpPr/>
            <p:nvPr/>
          </p:nvSpPr>
          <p:spPr>
            <a:xfrm>
              <a:off x="6393942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5" name="Oval 9014"/>
            <p:cNvSpPr/>
            <p:nvPr/>
          </p:nvSpPr>
          <p:spPr>
            <a:xfrm>
              <a:off x="6796278" y="3412998"/>
              <a:ext cx="32004" cy="32004"/>
            </a:xfrm>
            <a:prstGeom prst="ellipse">
              <a:avLst/>
            </a:prstGeom>
            <a:solidFill>
              <a:srgbClr val="A9B1B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16" name="Rectangle 9015"/>
            <p:cNvSpPr/>
            <p:nvPr/>
          </p:nvSpPr>
          <p:spPr>
            <a:xfrm>
              <a:off x="5742432" y="3278124"/>
              <a:ext cx="64008" cy="301752"/>
            </a:xfrm>
            <a:prstGeom prst="rect">
              <a:avLst/>
            </a:prstGeom>
            <a:noFill/>
            <a:ln w="12700">
              <a:solidFill>
                <a:srgbClr val="A9B1B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017" name="TextBox 9016"/>
          <p:cNvSpPr txBox="1"/>
          <p:nvPr/>
        </p:nvSpPr>
        <p:spPr>
          <a:xfrm>
            <a:off x="8823960" y="2423160"/>
            <a:ext cx="3017520" cy="2103120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700" b="1" lang="en-GB">
                <a:solidFill>
                  <a:srgbClr val="6B6B6B"/>
                </a:solidFill>
                <a:latin typeface="Calibri"/>
              </a:rPr>
              <a:t>USAGE</a:t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Courts are grouped — copy a whole court in one click, or ungroup to edit lines.</a:t>
            </a:r>
          </a:p>
          <a:p>
            <a:pPr algn="l"/>
            <a:r>
              <a:rPr sz="400" b="0" lang="en-GB">
                <a:solidFill>
                  <a:srgbClr val="1A1A1A"/>
                </a:solidFill>
                <a:latin typeface="Calibri"/>
              </a:rPr>
              <a:t/>
            </a:r>
          </a:p>
          <a:p>
            <a:pPr algn="l"/>
            <a:r>
              <a:rPr sz="800" b="0" lang="en-GB">
                <a:solidFill>
                  <a:srgbClr val="1A1A1A"/>
                </a:solidFill>
                <a:latin typeface="Calibri"/>
              </a:rPr>
              <a:t>Markers, lines and zones are single objects. Copy, paste and drag onto any diagram. Numbers inside markers are editable text.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137160" y="6725412"/>
            <a:ext cx="11917375" cy="123444"/>
          </a:xfrm>
          <a:prstGeom prst="rect">
            <a:avLst/>
          </a:prstGeom>
          <a:noFill/>
          <a:effectLst/>
        </p:spPr>
        <p:txBody>
          <a:bodyPr wrap="square" anchor="t" lIns="27432" rIns="27432" tIns="13716" bIns="13716">
            <a:spAutoFit/>
          </a:bodyPr>
          <a:lstStyle/>
          <a:p>
            <a:pPr algn="l"/>
            <a:r>
              <a:rPr sz="650" b="0" lang="en-GB">
                <a:solidFill>
                  <a:srgbClr val="6B6B6B"/>
                </a:solidFill>
                <a:latin typeface="Calibri"/>
              </a:rPr>
              <a:t>COMPONENT LIBRARY  —  futsal tactical symbols  ·  copy into any diagram zone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