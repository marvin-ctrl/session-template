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18288"/>
            <a:ext cx="3931920" cy="4663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rgbClr val="6B6B6B"/>
                </a:solidFill>
                <a:latin typeface="Calibri"/>
              </a:rPr>
              <a:t>[INSERT TEAM]  ·  FUTSAL SESSION PLAN</a:t>
            </a:r>
          </a:p>
          <a:p>
            <a:pPr algn="l"/>
            <a:r>
              <a:rPr sz="2000" b="1" lang="en-GB">
                <a:solidFill>
                  <a:srgbClr val="1A1A1A"/>
                </a:solidFill>
                <a:latin typeface="Calibri"/>
              </a:rPr>
              <a:t>[Insert session 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24528" y="64008"/>
            <a:ext cx="1325880" cy="4023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DATE</a:t>
            </a:r>
          </a:p>
          <a:p>
            <a:pPr algn="l"/>
            <a:r>
              <a:rPr sz="950" b="0" lang="en-GB">
                <a:solidFill>
                  <a:srgbClr val="1A1A1A"/>
                </a:solidFill>
                <a:latin typeface="Calibri"/>
              </a:rPr>
              <a:t>[Insert date]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41848" y="64008"/>
            <a:ext cx="1783080" cy="4023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VENUE</a:t>
            </a:r>
          </a:p>
          <a:p>
            <a:pPr algn="l"/>
            <a:r>
              <a:rPr sz="950" b="0" lang="en-GB">
                <a:solidFill>
                  <a:srgbClr val="1A1A1A"/>
                </a:solidFill>
                <a:latin typeface="Calibri"/>
              </a:rPr>
              <a:t>[Insert venue]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16368" y="64008"/>
            <a:ext cx="1325880" cy="4023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DURATION</a:t>
            </a:r>
          </a:p>
          <a:p>
            <a:pPr algn="l"/>
            <a:r>
              <a:rPr sz="950" b="1" lang="en-GB">
                <a:solidFill>
                  <a:srgbClr val="1A1A1A"/>
                </a:solidFill>
                <a:latin typeface="Calibri"/>
              </a:rPr>
              <a:t>[Insert duration]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33688" y="64008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STAFF</a:t>
            </a:r>
          </a:p>
          <a:p>
            <a:pPr algn="l"/>
            <a:r>
              <a:rPr sz="950" b="0" lang="en-GB">
                <a:solidFill>
                  <a:srgbClr val="1A1A1A"/>
                </a:solidFill>
                <a:latin typeface="Calibri"/>
              </a:rPr>
              <a:t>[Insert staff]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182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21208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566928"/>
            <a:ext cx="301752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chemeClr val="accent1"/>
                </a:solidFill>
                <a:latin typeface="Calibri"/>
              </a:rPr>
              <a:t>SESSION THEME / OBJECTIVE</a:t>
            </a:r>
          </a:p>
          <a:p>
            <a:pPr algn="l"/>
            <a:r>
              <a:rPr sz="1100" b="1" lang="en-GB">
                <a:solidFill>
                  <a:srgbClr val="1A1A1A"/>
                </a:solidFill>
                <a:latin typeface="Calibri"/>
              </a:rPr>
              <a:t>[Insert focus]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66928"/>
            <a:ext cx="315468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KEY COACHING OUTCOMES</a:t>
            </a:r>
          </a:p>
          <a:p>
            <a:pPr algn="l"/>
            <a:r>
              <a:rPr sz="850" b="0" lang="en-GB">
                <a:solidFill>
                  <a:srgbClr val="1A1A1A"/>
                </a:solidFill>
                <a:latin typeface="Calibri"/>
              </a:rPr>
              <a:t>[Insert key outcomes]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8" y="612648"/>
            <a:ext cx="0" cy="41148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0" y="566928"/>
            <a:ext cx="274320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KEY CONSTRAINTS</a:t>
            </a:r>
          </a:p>
          <a:p>
            <a:pPr algn="l"/>
            <a:r>
              <a:rPr sz="850" b="0" lang="en-GB">
                <a:solidFill>
                  <a:srgbClr val="1A1A1A"/>
                </a:solidFill>
                <a:latin typeface="Calibri"/>
              </a:rPr>
              <a:t>[Insert constraints]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10528" y="612648"/>
            <a:ext cx="0" cy="41148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64040" y="566928"/>
            <a:ext cx="2587752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KEY REMINDERS</a:t>
            </a:r>
          </a:p>
          <a:p>
            <a:pPr algn="l"/>
            <a:r>
              <a:rPr sz="850" b="0" lang="en-GB">
                <a:solidFill>
                  <a:srgbClr val="1A1A1A"/>
                </a:solidFill>
                <a:latin typeface="Calibri"/>
              </a:rPr>
              <a:t>[Insert reminders]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90888" y="612648"/>
            <a:ext cx="0" cy="41148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37160" y="1170432"/>
            <a:ext cx="48143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" y="1170432"/>
            <a:ext cx="481431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" y="1170432"/>
            <a:ext cx="45720" cy="256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1184148"/>
            <a:ext cx="329184" cy="2286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" y="1197864"/>
            <a:ext cx="1664208" cy="21031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WARM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1202436"/>
            <a:ext cx="1431036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00" b="1" lang="en-GB">
                <a:solidFill>
                  <a:srgbClr val="6B6B6B"/>
                </a:solidFill>
                <a:latin typeface="Calibri"/>
              </a:rPr>
              <a:t>LEAD  </a:t>
            </a:r>
            <a:r>
              <a:rPr sz="800" b="0" lang="en-GB">
                <a:solidFill>
                  <a:srgbClr val="1A1A1A"/>
                </a:solidFill>
                <a:latin typeface="Calibri"/>
              </a:rPr>
              <a:t>[Insert responsibility]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62756" y="1202436"/>
            <a:ext cx="1115568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>
                <a:solidFill>
                  <a:schemeClr val="accent1"/>
                </a:solidFill>
                <a:latin typeface="Calibri"/>
              </a:rPr>
              <a:t>[Insert timing]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1444752"/>
            <a:ext cx="46863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OBJECTIVE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objective]</a:t>
            </a:r>
          </a:p>
        </p:txBody>
      </p:sp>
      <p:grpSp>
        <p:nvGrpSpPr>
          <p:cNvPr id="24" name="Court 01"/>
          <p:cNvGrpSpPr/>
          <p:nvPr/>
        </p:nvGrpSpPr>
        <p:grpSpPr>
          <a:xfrm>
            <a:off x="182880" y="1769364"/>
            <a:ext cx="3108960" cy="1490472"/>
            <a:chOff x="182880" y="1769364"/>
            <a:chExt cx="3108960" cy="1490472"/>
          </a:xfrm>
        </p:grpSpPr>
        <p:sp>
          <p:nvSpPr>
            <p:cNvPr id="25" name="Rectangle 23"/>
            <p:cNvSpPr/>
            <p:nvPr/>
          </p:nvSpPr>
          <p:spPr>
            <a:xfrm>
              <a:off x="246888" y="1769364"/>
              <a:ext cx="2980944" cy="149047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4"/>
            <p:cNvCxnSpPr/>
            <p:nvPr/>
          </p:nvCxnSpPr>
          <p:spPr>
            <a:xfrm>
              <a:off x="1737360" y="1769364"/>
              <a:ext cx="0" cy="149047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5"/>
            <p:cNvSpPr/>
            <p:nvPr/>
          </p:nvSpPr>
          <p:spPr>
            <a:xfrm>
              <a:off x="1513789" y="2291029"/>
              <a:ext cx="447142" cy="447142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6"/>
            <p:cNvSpPr/>
            <p:nvPr/>
          </p:nvSpPr>
          <p:spPr>
            <a:xfrm>
              <a:off x="1721358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Arc 27"/>
            <p:cNvSpPr/>
            <p:nvPr/>
          </p:nvSpPr>
          <p:spPr>
            <a:xfrm>
              <a:off x="-200254" y="1955673"/>
              <a:ext cx="894283" cy="894283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Arc 28"/>
            <p:cNvSpPr/>
            <p:nvPr/>
          </p:nvSpPr>
          <p:spPr>
            <a:xfrm>
              <a:off x="-200254" y="2179244"/>
              <a:ext cx="894283" cy="894283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29"/>
            <p:cNvCxnSpPr/>
            <p:nvPr/>
          </p:nvCxnSpPr>
          <p:spPr>
            <a:xfrm>
              <a:off x="694030" y="2402815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0"/>
            <p:cNvSpPr/>
            <p:nvPr/>
          </p:nvSpPr>
          <p:spPr>
            <a:xfrm>
              <a:off x="678028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1"/>
            <p:cNvSpPr/>
            <p:nvPr/>
          </p:nvSpPr>
          <p:spPr>
            <a:xfrm>
              <a:off x="976122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2"/>
            <p:cNvSpPr/>
            <p:nvPr/>
          </p:nvSpPr>
          <p:spPr>
            <a:xfrm>
              <a:off x="182880" y="2402815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Arc 33"/>
            <p:cNvSpPr/>
            <p:nvPr/>
          </p:nvSpPr>
          <p:spPr>
            <a:xfrm>
              <a:off x="2780690" y="1955673"/>
              <a:ext cx="894283" cy="894283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Arc 34"/>
            <p:cNvSpPr/>
            <p:nvPr/>
          </p:nvSpPr>
          <p:spPr>
            <a:xfrm>
              <a:off x="2780690" y="2179244"/>
              <a:ext cx="894283" cy="894283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Connector 35"/>
            <p:cNvCxnSpPr/>
            <p:nvPr/>
          </p:nvCxnSpPr>
          <p:spPr>
            <a:xfrm>
              <a:off x="2780690" y="2402815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6"/>
            <p:cNvSpPr/>
            <p:nvPr/>
          </p:nvSpPr>
          <p:spPr>
            <a:xfrm>
              <a:off x="2764688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7"/>
            <p:cNvSpPr/>
            <p:nvPr/>
          </p:nvSpPr>
          <p:spPr>
            <a:xfrm>
              <a:off x="2466594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8"/>
            <p:cNvSpPr/>
            <p:nvPr/>
          </p:nvSpPr>
          <p:spPr>
            <a:xfrm>
              <a:off x="3227832" y="2402815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1" name="Connector 9001"/>
          <p:cNvCxnSpPr/>
          <p:nvPr/>
        </p:nvCxnSpPr>
        <p:spPr>
          <a:xfrm>
            <a:off x="3337560" y="1691640"/>
            <a:ext cx="0" cy="164592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9002"/>
          <p:cNvSpPr txBox="1"/>
          <p:nvPr/>
        </p:nvSpPr>
        <p:spPr>
          <a:xfrm>
            <a:off x="3392424" y="1664208"/>
            <a:ext cx="1495044" cy="17007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COACHING POINTS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coaching points]</a:t>
            </a:r>
          </a:p>
        </p:txBody>
      </p:sp>
      <p:cxnSp>
        <p:nvCxnSpPr>
          <p:cNvPr id="43" name="Connector 9003"/>
          <p:cNvCxnSpPr/>
          <p:nvPr/>
        </p:nvCxnSpPr>
        <p:spPr>
          <a:xfrm>
            <a:off x="201168" y="3410712"/>
            <a:ext cx="46863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9004"/>
          <p:cNvSpPr txBox="1"/>
          <p:nvPr/>
        </p:nvSpPr>
        <p:spPr>
          <a:xfrm>
            <a:off x="201168" y="3429000"/>
            <a:ext cx="2084832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SETUP / CONSTRAINTS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setup]</a:t>
            </a:r>
          </a:p>
        </p:txBody>
      </p:sp>
      <p:sp>
        <p:nvSpPr>
          <p:cNvPr id="45" name="TextBox 9005"/>
          <p:cNvSpPr txBox="1"/>
          <p:nvPr/>
        </p:nvSpPr>
        <p:spPr>
          <a:xfrm>
            <a:off x="2368296" y="3429000"/>
            <a:ext cx="1188720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PROGRESSION  ↑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[Harder]</a:t>
            </a:r>
          </a:p>
        </p:txBody>
      </p:sp>
      <p:sp>
        <p:nvSpPr>
          <p:cNvPr id="46" name="TextBox 9006"/>
          <p:cNvSpPr txBox="1"/>
          <p:nvPr/>
        </p:nvSpPr>
        <p:spPr>
          <a:xfrm>
            <a:off x="3666744" y="3429000"/>
            <a:ext cx="1207008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REGRESSION  ↓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[Easier]</a:t>
            </a:r>
          </a:p>
        </p:txBody>
      </p:sp>
      <p:cxnSp>
        <p:nvCxnSpPr>
          <p:cNvPr id="47" name="Connector 9007"/>
          <p:cNvCxnSpPr/>
          <p:nvPr/>
        </p:nvCxnSpPr>
        <p:spPr>
          <a:xfrm>
            <a:off x="2295144" y="3456432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9008"/>
          <p:cNvCxnSpPr/>
          <p:nvPr/>
        </p:nvCxnSpPr>
        <p:spPr>
          <a:xfrm>
            <a:off x="3593592" y="3456432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9009"/>
          <p:cNvSpPr/>
          <p:nvPr/>
        </p:nvSpPr>
        <p:spPr>
          <a:xfrm>
            <a:off x="5015484" y="1170432"/>
            <a:ext cx="48143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9010"/>
          <p:cNvSpPr/>
          <p:nvPr/>
        </p:nvSpPr>
        <p:spPr>
          <a:xfrm>
            <a:off x="5015484" y="1170432"/>
            <a:ext cx="481431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9011"/>
          <p:cNvSpPr/>
          <p:nvPr/>
        </p:nvSpPr>
        <p:spPr>
          <a:xfrm>
            <a:off x="5015484" y="1170432"/>
            <a:ext cx="45720" cy="256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9012"/>
          <p:cNvSpPr txBox="1"/>
          <p:nvPr/>
        </p:nvSpPr>
        <p:spPr>
          <a:xfrm>
            <a:off x="5079492" y="1184148"/>
            <a:ext cx="329184" cy="2286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02</a:t>
            </a:r>
          </a:p>
        </p:txBody>
      </p:sp>
      <p:sp>
        <p:nvSpPr>
          <p:cNvPr id="53" name="TextBox 9013"/>
          <p:cNvSpPr txBox="1"/>
          <p:nvPr/>
        </p:nvSpPr>
        <p:spPr>
          <a:xfrm>
            <a:off x="5417820" y="1197864"/>
            <a:ext cx="1664208" cy="21031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TECHNICAL / POSSESSION</a:t>
            </a:r>
          </a:p>
        </p:txBody>
      </p:sp>
      <p:sp>
        <p:nvSpPr>
          <p:cNvPr id="54" name="TextBox 9014"/>
          <p:cNvSpPr txBox="1"/>
          <p:nvPr/>
        </p:nvSpPr>
        <p:spPr>
          <a:xfrm>
            <a:off x="7118604" y="1202436"/>
            <a:ext cx="1431036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00" b="1" lang="en-GB">
                <a:solidFill>
                  <a:srgbClr val="6B6B6B"/>
                </a:solidFill>
                <a:latin typeface="Calibri"/>
              </a:rPr>
              <a:t>LEAD  </a:t>
            </a:r>
            <a:r>
              <a:rPr sz="800" b="0" lang="en-GB">
                <a:solidFill>
                  <a:srgbClr val="1A1A1A"/>
                </a:solidFill>
                <a:latin typeface="Calibri"/>
              </a:rPr>
              <a:t>[Insert responsibility]</a:t>
            </a:r>
          </a:p>
        </p:txBody>
      </p:sp>
      <p:sp>
        <p:nvSpPr>
          <p:cNvPr id="55" name="Rounded Rectangle 9015"/>
          <p:cNvSpPr/>
          <p:nvPr/>
        </p:nvSpPr>
        <p:spPr>
          <a:xfrm>
            <a:off x="8641080" y="1202436"/>
            <a:ext cx="1115568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>
                <a:solidFill>
                  <a:schemeClr val="accent1"/>
                </a:solidFill>
                <a:latin typeface="Calibri"/>
              </a:rPr>
              <a:t>[Insert timing]</a:t>
            </a:r>
          </a:p>
        </p:txBody>
      </p:sp>
      <p:sp>
        <p:nvSpPr>
          <p:cNvPr id="56" name="TextBox 9016"/>
          <p:cNvSpPr txBox="1"/>
          <p:nvPr/>
        </p:nvSpPr>
        <p:spPr>
          <a:xfrm>
            <a:off x="5079492" y="1444752"/>
            <a:ext cx="46863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OBJECTIVE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objective]</a:t>
            </a:r>
          </a:p>
        </p:txBody>
      </p:sp>
      <p:grpSp>
        <p:nvGrpSpPr>
          <p:cNvPr id="57" name="Court 02"/>
          <p:cNvGrpSpPr/>
          <p:nvPr/>
        </p:nvGrpSpPr>
        <p:grpSpPr>
          <a:xfrm>
            <a:off x="5061204" y="1769364"/>
            <a:ext cx="3108960" cy="1490472"/>
            <a:chOff x="5061204" y="1769364"/>
            <a:chExt cx="3108960" cy="1490472"/>
          </a:xfrm>
        </p:grpSpPr>
        <p:sp>
          <p:nvSpPr>
            <p:cNvPr id="58" name="Rectangle 9017"/>
            <p:cNvSpPr/>
            <p:nvPr/>
          </p:nvSpPr>
          <p:spPr>
            <a:xfrm>
              <a:off x="5125212" y="1769364"/>
              <a:ext cx="2980944" cy="149047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Connector 9018"/>
            <p:cNvCxnSpPr/>
            <p:nvPr/>
          </p:nvCxnSpPr>
          <p:spPr>
            <a:xfrm>
              <a:off x="6615684" y="1769364"/>
              <a:ext cx="0" cy="149047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9019"/>
            <p:cNvSpPr/>
            <p:nvPr/>
          </p:nvSpPr>
          <p:spPr>
            <a:xfrm>
              <a:off x="6392113" y="2291029"/>
              <a:ext cx="447142" cy="447142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9020"/>
            <p:cNvSpPr/>
            <p:nvPr/>
          </p:nvSpPr>
          <p:spPr>
            <a:xfrm>
              <a:off x="6599682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Arc 9021"/>
            <p:cNvSpPr/>
            <p:nvPr/>
          </p:nvSpPr>
          <p:spPr>
            <a:xfrm>
              <a:off x="4678070" y="1955673"/>
              <a:ext cx="894283" cy="894283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Arc 9022"/>
            <p:cNvSpPr/>
            <p:nvPr/>
          </p:nvSpPr>
          <p:spPr>
            <a:xfrm>
              <a:off x="4678070" y="2179244"/>
              <a:ext cx="894283" cy="894283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Connector 9023"/>
            <p:cNvCxnSpPr/>
            <p:nvPr/>
          </p:nvCxnSpPr>
          <p:spPr>
            <a:xfrm>
              <a:off x="5572354" y="2402815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Oval 9024"/>
            <p:cNvSpPr/>
            <p:nvPr/>
          </p:nvSpPr>
          <p:spPr>
            <a:xfrm>
              <a:off x="5556352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9025"/>
            <p:cNvSpPr/>
            <p:nvPr/>
          </p:nvSpPr>
          <p:spPr>
            <a:xfrm>
              <a:off x="5854446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9026"/>
            <p:cNvSpPr/>
            <p:nvPr/>
          </p:nvSpPr>
          <p:spPr>
            <a:xfrm>
              <a:off x="5061204" y="2402815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Arc 9027"/>
            <p:cNvSpPr/>
            <p:nvPr/>
          </p:nvSpPr>
          <p:spPr>
            <a:xfrm>
              <a:off x="7659014" y="1955673"/>
              <a:ext cx="894283" cy="894283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Arc 9028"/>
            <p:cNvSpPr/>
            <p:nvPr/>
          </p:nvSpPr>
          <p:spPr>
            <a:xfrm>
              <a:off x="7659014" y="2179244"/>
              <a:ext cx="894283" cy="894283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0" name="Connector 9029"/>
            <p:cNvCxnSpPr/>
            <p:nvPr/>
          </p:nvCxnSpPr>
          <p:spPr>
            <a:xfrm>
              <a:off x="7659014" y="2402815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9030"/>
            <p:cNvSpPr/>
            <p:nvPr/>
          </p:nvSpPr>
          <p:spPr>
            <a:xfrm>
              <a:off x="7643012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9031"/>
            <p:cNvSpPr/>
            <p:nvPr/>
          </p:nvSpPr>
          <p:spPr>
            <a:xfrm>
              <a:off x="7344918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9032"/>
            <p:cNvSpPr/>
            <p:nvPr/>
          </p:nvSpPr>
          <p:spPr>
            <a:xfrm>
              <a:off x="8106156" y="2402815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74" name="Connector 9033"/>
          <p:cNvCxnSpPr/>
          <p:nvPr/>
        </p:nvCxnSpPr>
        <p:spPr>
          <a:xfrm>
            <a:off x="8215884" y="1691640"/>
            <a:ext cx="0" cy="164592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9034"/>
          <p:cNvSpPr txBox="1"/>
          <p:nvPr/>
        </p:nvSpPr>
        <p:spPr>
          <a:xfrm>
            <a:off x="8270748" y="1664208"/>
            <a:ext cx="1495044" cy="17007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COACHING POINTS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coaching points]</a:t>
            </a:r>
          </a:p>
        </p:txBody>
      </p:sp>
      <p:cxnSp>
        <p:nvCxnSpPr>
          <p:cNvPr id="76" name="Connector 9035"/>
          <p:cNvCxnSpPr/>
          <p:nvPr/>
        </p:nvCxnSpPr>
        <p:spPr>
          <a:xfrm>
            <a:off x="5079492" y="3410712"/>
            <a:ext cx="46863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9036"/>
          <p:cNvSpPr txBox="1"/>
          <p:nvPr/>
        </p:nvSpPr>
        <p:spPr>
          <a:xfrm>
            <a:off x="5079492" y="3429000"/>
            <a:ext cx="2084832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SETUP / CONSTRAINTS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setup]</a:t>
            </a:r>
          </a:p>
        </p:txBody>
      </p:sp>
      <p:sp>
        <p:nvSpPr>
          <p:cNvPr id="78" name="TextBox 9037"/>
          <p:cNvSpPr txBox="1"/>
          <p:nvPr/>
        </p:nvSpPr>
        <p:spPr>
          <a:xfrm>
            <a:off x="7246620" y="3429000"/>
            <a:ext cx="1188720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PROGRESSION  ↑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[Harder]</a:t>
            </a:r>
          </a:p>
        </p:txBody>
      </p:sp>
      <p:sp>
        <p:nvSpPr>
          <p:cNvPr id="79" name="TextBox 9038"/>
          <p:cNvSpPr txBox="1"/>
          <p:nvPr/>
        </p:nvSpPr>
        <p:spPr>
          <a:xfrm>
            <a:off x="8545068" y="3429000"/>
            <a:ext cx="1207008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REGRESSION  ↓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[Easier]</a:t>
            </a:r>
          </a:p>
        </p:txBody>
      </p:sp>
      <p:cxnSp>
        <p:nvCxnSpPr>
          <p:cNvPr id="80" name="Connector 9039"/>
          <p:cNvCxnSpPr/>
          <p:nvPr/>
        </p:nvCxnSpPr>
        <p:spPr>
          <a:xfrm>
            <a:off x="7173468" y="3456432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9040"/>
          <p:cNvCxnSpPr/>
          <p:nvPr/>
        </p:nvCxnSpPr>
        <p:spPr>
          <a:xfrm>
            <a:off x="8471916" y="3456432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9041"/>
          <p:cNvSpPr/>
          <p:nvPr/>
        </p:nvSpPr>
        <p:spPr>
          <a:xfrm>
            <a:off x="137160" y="3977640"/>
            <a:ext cx="48143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9042"/>
          <p:cNvSpPr/>
          <p:nvPr/>
        </p:nvSpPr>
        <p:spPr>
          <a:xfrm>
            <a:off x="137160" y="3977640"/>
            <a:ext cx="481431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9043"/>
          <p:cNvSpPr/>
          <p:nvPr/>
        </p:nvSpPr>
        <p:spPr>
          <a:xfrm>
            <a:off x="137160" y="3977640"/>
            <a:ext cx="45720" cy="256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9044"/>
          <p:cNvSpPr txBox="1"/>
          <p:nvPr/>
        </p:nvSpPr>
        <p:spPr>
          <a:xfrm>
            <a:off x="201168" y="3991356"/>
            <a:ext cx="329184" cy="2286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03</a:t>
            </a:r>
          </a:p>
        </p:txBody>
      </p:sp>
      <p:sp>
        <p:nvSpPr>
          <p:cNvPr id="86" name="TextBox 9045"/>
          <p:cNvSpPr txBox="1"/>
          <p:nvPr/>
        </p:nvSpPr>
        <p:spPr>
          <a:xfrm>
            <a:off x="539496" y="4005072"/>
            <a:ext cx="1664208" cy="21031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TACTICAL ACTIVITY</a:t>
            </a:r>
          </a:p>
        </p:txBody>
      </p:sp>
      <p:sp>
        <p:nvSpPr>
          <p:cNvPr id="87" name="TextBox 9046"/>
          <p:cNvSpPr txBox="1"/>
          <p:nvPr/>
        </p:nvSpPr>
        <p:spPr>
          <a:xfrm>
            <a:off x="2240280" y="4009644"/>
            <a:ext cx="1431036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00" b="1" lang="en-GB">
                <a:solidFill>
                  <a:srgbClr val="6B6B6B"/>
                </a:solidFill>
                <a:latin typeface="Calibri"/>
              </a:rPr>
              <a:t>LEAD  </a:t>
            </a:r>
            <a:r>
              <a:rPr sz="800" b="0" lang="en-GB">
                <a:solidFill>
                  <a:srgbClr val="1A1A1A"/>
                </a:solidFill>
                <a:latin typeface="Calibri"/>
              </a:rPr>
              <a:t>[Insert responsibility]</a:t>
            </a:r>
          </a:p>
        </p:txBody>
      </p:sp>
      <p:sp>
        <p:nvSpPr>
          <p:cNvPr id="88" name="Rounded Rectangle 9047"/>
          <p:cNvSpPr/>
          <p:nvPr/>
        </p:nvSpPr>
        <p:spPr>
          <a:xfrm>
            <a:off x="3762756" y="4009644"/>
            <a:ext cx="1115568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>
                <a:solidFill>
                  <a:schemeClr val="accent1"/>
                </a:solidFill>
                <a:latin typeface="Calibri"/>
              </a:rPr>
              <a:t>[Insert timing]</a:t>
            </a:r>
          </a:p>
        </p:txBody>
      </p:sp>
      <p:sp>
        <p:nvSpPr>
          <p:cNvPr id="89" name="TextBox 9048"/>
          <p:cNvSpPr txBox="1"/>
          <p:nvPr/>
        </p:nvSpPr>
        <p:spPr>
          <a:xfrm>
            <a:off x="201168" y="4251960"/>
            <a:ext cx="46863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OBJECTIVE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objective]</a:t>
            </a:r>
          </a:p>
        </p:txBody>
      </p:sp>
      <p:grpSp>
        <p:nvGrpSpPr>
          <p:cNvPr id="90" name="Court 03"/>
          <p:cNvGrpSpPr/>
          <p:nvPr/>
        </p:nvGrpSpPr>
        <p:grpSpPr>
          <a:xfrm>
            <a:off x="182880" y="4576572"/>
            <a:ext cx="3108960" cy="1490472"/>
            <a:chOff x="182880" y="4576572"/>
            <a:chExt cx="3108960" cy="1490472"/>
          </a:xfrm>
        </p:grpSpPr>
        <p:sp>
          <p:nvSpPr>
            <p:cNvPr id="91" name="Rectangle 9049"/>
            <p:cNvSpPr/>
            <p:nvPr/>
          </p:nvSpPr>
          <p:spPr>
            <a:xfrm>
              <a:off x="246888" y="4576572"/>
              <a:ext cx="2980944" cy="149047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2" name="Connector 9050"/>
            <p:cNvCxnSpPr/>
            <p:nvPr/>
          </p:nvCxnSpPr>
          <p:spPr>
            <a:xfrm>
              <a:off x="1737360" y="4576572"/>
              <a:ext cx="0" cy="149047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Oval 9051"/>
            <p:cNvSpPr/>
            <p:nvPr/>
          </p:nvSpPr>
          <p:spPr>
            <a:xfrm>
              <a:off x="1513789" y="5098237"/>
              <a:ext cx="447142" cy="447142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052"/>
            <p:cNvSpPr/>
            <p:nvPr/>
          </p:nvSpPr>
          <p:spPr>
            <a:xfrm>
              <a:off x="1721358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Arc 9053"/>
            <p:cNvSpPr/>
            <p:nvPr/>
          </p:nvSpPr>
          <p:spPr>
            <a:xfrm>
              <a:off x="-200254" y="4762881"/>
              <a:ext cx="894283" cy="894283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Arc 9054"/>
            <p:cNvSpPr/>
            <p:nvPr/>
          </p:nvSpPr>
          <p:spPr>
            <a:xfrm>
              <a:off x="-200254" y="4986452"/>
              <a:ext cx="894283" cy="894283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7" name="Connector 9055"/>
            <p:cNvCxnSpPr/>
            <p:nvPr/>
          </p:nvCxnSpPr>
          <p:spPr>
            <a:xfrm>
              <a:off x="694030" y="5210023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056"/>
            <p:cNvSpPr/>
            <p:nvPr/>
          </p:nvSpPr>
          <p:spPr>
            <a:xfrm>
              <a:off x="678028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057"/>
            <p:cNvSpPr/>
            <p:nvPr/>
          </p:nvSpPr>
          <p:spPr>
            <a:xfrm>
              <a:off x="976122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Rectangle 9058"/>
            <p:cNvSpPr/>
            <p:nvPr/>
          </p:nvSpPr>
          <p:spPr>
            <a:xfrm>
              <a:off x="182880" y="5210023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Arc 9059"/>
            <p:cNvSpPr/>
            <p:nvPr/>
          </p:nvSpPr>
          <p:spPr>
            <a:xfrm>
              <a:off x="2780690" y="4762881"/>
              <a:ext cx="894283" cy="894283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Arc 9060"/>
            <p:cNvSpPr/>
            <p:nvPr/>
          </p:nvSpPr>
          <p:spPr>
            <a:xfrm>
              <a:off x="2780690" y="4986452"/>
              <a:ext cx="894283" cy="894283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3" name="Connector 9061"/>
            <p:cNvCxnSpPr/>
            <p:nvPr/>
          </p:nvCxnSpPr>
          <p:spPr>
            <a:xfrm>
              <a:off x="2780690" y="5210023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Oval 9062"/>
            <p:cNvSpPr/>
            <p:nvPr/>
          </p:nvSpPr>
          <p:spPr>
            <a:xfrm>
              <a:off x="2764688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9063"/>
            <p:cNvSpPr/>
            <p:nvPr/>
          </p:nvSpPr>
          <p:spPr>
            <a:xfrm>
              <a:off x="2466594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Rectangle 9064"/>
            <p:cNvSpPr/>
            <p:nvPr/>
          </p:nvSpPr>
          <p:spPr>
            <a:xfrm>
              <a:off x="3227832" y="5210023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07" name="Connector 9065"/>
          <p:cNvCxnSpPr/>
          <p:nvPr/>
        </p:nvCxnSpPr>
        <p:spPr>
          <a:xfrm>
            <a:off x="3337560" y="4498848"/>
            <a:ext cx="0" cy="164592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9066"/>
          <p:cNvSpPr txBox="1"/>
          <p:nvPr/>
        </p:nvSpPr>
        <p:spPr>
          <a:xfrm>
            <a:off x="3392424" y="4471416"/>
            <a:ext cx="1495044" cy="17007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COACHING POINTS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coaching points]</a:t>
            </a:r>
          </a:p>
        </p:txBody>
      </p:sp>
      <p:cxnSp>
        <p:nvCxnSpPr>
          <p:cNvPr id="109" name="Connector 9067"/>
          <p:cNvCxnSpPr/>
          <p:nvPr/>
        </p:nvCxnSpPr>
        <p:spPr>
          <a:xfrm>
            <a:off x="201168" y="6217920"/>
            <a:ext cx="46863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9068"/>
          <p:cNvSpPr txBox="1"/>
          <p:nvPr/>
        </p:nvSpPr>
        <p:spPr>
          <a:xfrm>
            <a:off x="201168" y="6236208"/>
            <a:ext cx="2084832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SETUP / CONSTRAINTS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setup]</a:t>
            </a:r>
          </a:p>
        </p:txBody>
      </p:sp>
      <p:sp>
        <p:nvSpPr>
          <p:cNvPr id="111" name="TextBox 9069"/>
          <p:cNvSpPr txBox="1"/>
          <p:nvPr/>
        </p:nvSpPr>
        <p:spPr>
          <a:xfrm>
            <a:off x="2368296" y="6236208"/>
            <a:ext cx="1188720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PROGRESSION  ↑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[Harder]</a:t>
            </a:r>
          </a:p>
        </p:txBody>
      </p:sp>
      <p:sp>
        <p:nvSpPr>
          <p:cNvPr id="112" name="TextBox 9070"/>
          <p:cNvSpPr txBox="1"/>
          <p:nvPr/>
        </p:nvSpPr>
        <p:spPr>
          <a:xfrm>
            <a:off x="3666744" y="6236208"/>
            <a:ext cx="1207008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REGRESSION  ↓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[Easier]</a:t>
            </a:r>
          </a:p>
        </p:txBody>
      </p:sp>
      <p:cxnSp>
        <p:nvCxnSpPr>
          <p:cNvPr id="113" name="Connector 9071"/>
          <p:cNvCxnSpPr/>
          <p:nvPr/>
        </p:nvCxnSpPr>
        <p:spPr>
          <a:xfrm>
            <a:off x="2295144" y="6263640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9072"/>
          <p:cNvCxnSpPr/>
          <p:nvPr/>
        </p:nvCxnSpPr>
        <p:spPr>
          <a:xfrm>
            <a:off x="3593592" y="6263640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9073"/>
          <p:cNvSpPr/>
          <p:nvPr/>
        </p:nvSpPr>
        <p:spPr>
          <a:xfrm>
            <a:off x="5015484" y="3977640"/>
            <a:ext cx="48143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9074"/>
          <p:cNvSpPr/>
          <p:nvPr/>
        </p:nvSpPr>
        <p:spPr>
          <a:xfrm>
            <a:off x="5015484" y="3977640"/>
            <a:ext cx="481431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9075"/>
          <p:cNvSpPr/>
          <p:nvPr/>
        </p:nvSpPr>
        <p:spPr>
          <a:xfrm>
            <a:off x="5015484" y="3977640"/>
            <a:ext cx="45720" cy="256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9076"/>
          <p:cNvSpPr txBox="1"/>
          <p:nvPr/>
        </p:nvSpPr>
        <p:spPr>
          <a:xfrm>
            <a:off x="5079492" y="3991356"/>
            <a:ext cx="329184" cy="2286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04</a:t>
            </a:r>
          </a:p>
        </p:txBody>
      </p:sp>
      <p:sp>
        <p:nvSpPr>
          <p:cNvPr id="119" name="TextBox 9077"/>
          <p:cNvSpPr txBox="1"/>
          <p:nvPr/>
        </p:nvSpPr>
        <p:spPr>
          <a:xfrm>
            <a:off x="5417820" y="4005072"/>
            <a:ext cx="1664208" cy="21031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GAME</a:t>
            </a:r>
          </a:p>
        </p:txBody>
      </p:sp>
      <p:sp>
        <p:nvSpPr>
          <p:cNvPr id="120" name="TextBox 9078"/>
          <p:cNvSpPr txBox="1"/>
          <p:nvPr/>
        </p:nvSpPr>
        <p:spPr>
          <a:xfrm>
            <a:off x="7118604" y="4009644"/>
            <a:ext cx="1431036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00" b="1" lang="en-GB">
                <a:solidFill>
                  <a:srgbClr val="6B6B6B"/>
                </a:solidFill>
                <a:latin typeface="Calibri"/>
              </a:rPr>
              <a:t>LEAD  </a:t>
            </a:r>
            <a:r>
              <a:rPr sz="800" b="0" lang="en-GB">
                <a:solidFill>
                  <a:srgbClr val="1A1A1A"/>
                </a:solidFill>
                <a:latin typeface="Calibri"/>
              </a:rPr>
              <a:t>[Insert responsibility]</a:t>
            </a:r>
          </a:p>
        </p:txBody>
      </p:sp>
      <p:sp>
        <p:nvSpPr>
          <p:cNvPr id="121" name="Rounded Rectangle 9079"/>
          <p:cNvSpPr/>
          <p:nvPr/>
        </p:nvSpPr>
        <p:spPr>
          <a:xfrm>
            <a:off x="8641080" y="4009644"/>
            <a:ext cx="1115568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>
                <a:solidFill>
                  <a:schemeClr val="accent1"/>
                </a:solidFill>
                <a:latin typeface="Calibri"/>
              </a:rPr>
              <a:t>[Insert timing]</a:t>
            </a:r>
          </a:p>
        </p:txBody>
      </p:sp>
      <p:sp>
        <p:nvSpPr>
          <p:cNvPr id="122" name="TextBox 9080"/>
          <p:cNvSpPr txBox="1"/>
          <p:nvPr/>
        </p:nvSpPr>
        <p:spPr>
          <a:xfrm>
            <a:off x="5079492" y="4251960"/>
            <a:ext cx="46863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OBJECTIVE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objective]</a:t>
            </a:r>
          </a:p>
        </p:txBody>
      </p:sp>
      <p:grpSp>
        <p:nvGrpSpPr>
          <p:cNvPr id="123" name="Court 04"/>
          <p:cNvGrpSpPr/>
          <p:nvPr/>
        </p:nvGrpSpPr>
        <p:grpSpPr>
          <a:xfrm>
            <a:off x="5061204" y="4576572"/>
            <a:ext cx="3108960" cy="1490472"/>
            <a:chOff x="5061204" y="4576572"/>
            <a:chExt cx="3108960" cy="1490472"/>
          </a:xfrm>
        </p:grpSpPr>
        <p:sp>
          <p:nvSpPr>
            <p:cNvPr id="124" name="Rectangle 9081"/>
            <p:cNvSpPr/>
            <p:nvPr/>
          </p:nvSpPr>
          <p:spPr>
            <a:xfrm>
              <a:off x="5125212" y="4576572"/>
              <a:ext cx="2980944" cy="149047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5" name="Connector 9082"/>
            <p:cNvCxnSpPr/>
            <p:nvPr/>
          </p:nvCxnSpPr>
          <p:spPr>
            <a:xfrm>
              <a:off x="6615684" y="4576572"/>
              <a:ext cx="0" cy="149047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Oval 9083"/>
            <p:cNvSpPr/>
            <p:nvPr/>
          </p:nvSpPr>
          <p:spPr>
            <a:xfrm>
              <a:off x="6392113" y="5098237"/>
              <a:ext cx="447142" cy="447142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9084"/>
            <p:cNvSpPr/>
            <p:nvPr/>
          </p:nvSpPr>
          <p:spPr>
            <a:xfrm>
              <a:off x="6599682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Arc 9085"/>
            <p:cNvSpPr/>
            <p:nvPr/>
          </p:nvSpPr>
          <p:spPr>
            <a:xfrm>
              <a:off x="4678070" y="4762881"/>
              <a:ext cx="894283" cy="894283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Arc 9086"/>
            <p:cNvSpPr/>
            <p:nvPr/>
          </p:nvSpPr>
          <p:spPr>
            <a:xfrm>
              <a:off x="4678070" y="4986452"/>
              <a:ext cx="894283" cy="894283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0" name="Connector 9087"/>
            <p:cNvCxnSpPr/>
            <p:nvPr/>
          </p:nvCxnSpPr>
          <p:spPr>
            <a:xfrm>
              <a:off x="5572354" y="5210023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Oval 9088"/>
            <p:cNvSpPr/>
            <p:nvPr/>
          </p:nvSpPr>
          <p:spPr>
            <a:xfrm>
              <a:off x="5556352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Oval 9089"/>
            <p:cNvSpPr/>
            <p:nvPr/>
          </p:nvSpPr>
          <p:spPr>
            <a:xfrm>
              <a:off x="5854446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9090"/>
            <p:cNvSpPr/>
            <p:nvPr/>
          </p:nvSpPr>
          <p:spPr>
            <a:xfrm>
              <a:off x="5061204" y="5210023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Arc 9091"/>
            <p:cNvSpPr/>
            <p:nvPr/>
          </p:nvSpPr>
          <p:spPr>
            <a:xfrm>
              <a:off x="7659014" y="4762881"/>
              <a:ext cx="894283" cy="894283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Arc 9092"/>
            <p:cNvSpPr/>
            <p:nvPr/>
          </p:nvSpPr>
          <p:spPr>
            <a:xfrm>
              <a:off x="7659014" y="4986452"/>
              <a:ext cx="894283" cy="894283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6" name="Connector 9093"/>
            <p:cNvCxnSpPr/>
            <p:nvPr/>
          </p:nvCxnSpPr>
          <p:spPr>
            <a:xfrm>
              <a:off x="7659014" y="5210023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9094"/>
            <p:cNvSpPr/>
            <p:nvPr/>
          </p:nvSpPr>
          <p:spPr>
            <a:xfrm>
              <a:off x="7643012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Oval 9095"/>
            <p:cNvSpPr/>
            <p:nvPr/>
          </p:nvSpPr>
          <p:spPr>
            <a:xfrm>
              <a:off x="7344918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9096"/>
            <p:cNvSpPr/>
            <p:nvPr/>
          </p:nvSpPr>
          <p:spPr>
            <a:xfrm>
              <a:off x="8106156" y="5210023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0" name="Connector 9097"/>
          <p:cNvCxnSpPr/>
          <p:nvPr/>
        </p:nvCxnSpPr>
        <p:spPr>
          <a:xfrm>
            <a:off x="8215884" y="4498848"/>
            <a:ext cx="0" cy="164592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9098"/>
          <p:cNvSpPr txBox="1"/>
          <p:nvPr/>
        </p:nvSpPr>
        <p:spPr>
          <a:xfrm>
            <a:off x="8270748" y="4471416"/>
            <a:ext cx="1495044" cy="17007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COACHING POINTS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coaching points]</a:t>
            </a:r>
          </a:p>
        </p:txBody>
      </p:sp>
      <p:cxnSp>
        <p:nvCxnSpPr>
          <p:cNvPr id="142" name="Connector 9099"/>
          <p:cNvCxnSpPr/>
          <p:nvPr/>
        </p:nvCxnSpPr>
        <p:spPr>
          <a:xfrm>
            <a:off x="5079492" y="6217920"/>
            <a:ext cx="46863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9100"/>
          <p:cNvSpPr txBox="1"/>
          <p:nvPr/>
        </p:nvSpPr>
        <p:spPr>
          <a:xfrm>
            <a:off x="5079492" y="6236208"/>
            <a:ext cx="2084832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SETUP / CONSTRAINTS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setup]</a:t>
            </a:r>
          </a:p>
        </p:txBody>
      </p:sp>
      <p:sp>
        <p:nvSpPr>
          <p:cNvPr id="144" name="TextBox 9101"/>
          <p:cNvSpPr txBox="1"/>
          <p:nvPr/>
        </p:nvSpPr>
        <p:spPr>
          <a:xfrm>
            <a:off x="7246620" y="6236208"/>
            <a:ext cx="1188720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PROGRESSION  ↑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[Harder]</a:t>
            </a:r>
          </a:p>
        </p:txBody>
      </p:sp>
      <p:sp>
        <p:nvSpPr>
          <p:cNvPr id="145" name="TextBox 9102"/>
          <p:cNvSpPr txBox="1"/>
          <p:nvPr/>
        </p:nvSpPr>
        <p:spPr>
          <a:xfrm>
            <a:off x="8545068" y="6236208"/>
            <a:ext cx="1207008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REGRESSION  ↓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[Easier]</a:t>
            </a:r>
          </a:p>
        </p:txBody>
      </p:sp>
      <p:cxnSp>
        <p:nvCxnSpPr>
          <p:cNvPr id="146" name="Connector 9103"/>
          <p:cNvCxnSpPr/>
          <p:nvPr/>
        </p:nvCxnSpPr>
        <p:spPr>
          <a:xfrm>
            <a:off x="7173468" y="6263640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9104"/>
          <p:cNvCxnSpPr/>
          <p:nvPr/>
        </p:nvCxnSpPr>
        <p:spPr>
          <a:xfrm>
            <a:off x="8471916" y="6263640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9105"/>
          <p:cNvSpPr/>
          <p:nvPr/>
        </p:nvSpPr>
        <p:spPr>
          <a:xfrm>
            <a:off x="9902952" y="1170432"/>
            <a:ext cx="2148840" cy="55504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9106"/>
          <p:cNvSpPr/>
          <p:nvPr/>
        </p:nvSpPr>
        <p:spPr>
          <a:xfrm>
            <a:off x="9902952" y="1170432"/>
            <a:ext cx="2148840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9107"/>
          <p:cNvSpPr txBox="1"/>
          <p:nvPr/>
        </p:nvSpPr>
        <p:spPr>
          <a:xfrm>
            <a:off x="9948672" y="1211580"/>
            <a:ext cx="2057400" cy="21945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rgbClr val="FFFFFF"/>
                </a:solidFill>
                <a:latin typeface="Calibri"/>
              </a:rPr>
              <a:t>AVAILABLE PLAYERS / POSITIONS</a:t>
            </a:r>
          </a:p>
        </p:txBody>
      </p:sp>
      <p:sp>
        <p:nvSpPr>
          <p:cNvPr id="151" name="TextBox 9108"/>
          <p:cNvSpPr txBox="1"/>
          <p:nvPr/>
        </p:nvSpPr>
        <p:spPr>
          <a:xfrm>
            <a:off x="9948672" y="1472184"/>
            <a:ext cx="2057400" cy="21945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TOTAL </a:t>
            </a:r>
            <a:r>
              <a:rPr sz="900" b="1" lang="en-GB">
                <a:solidFill>
                  <a:srgbClr val="1A1A1A"/>
                </a:solidFill>
                <a:latin typeface="Calibri"/>
              </a:rPr>
              <a:t>[#]   </a:t>
            </a:r>
            <a:r>
              <a:rPr sz="700" b="1" lang="en-GB">
                <a:solidFill>
                  <a:srgbClr val="6B6B6B"/>
                </a:solidFill>
                <a:latin typeface="Calibri"/>
              </a:rPr>
              <a:t>GK </a:t>
            </a:r>
            <a:r>
              <a:rPr sz="900" b="1" lang="en-GB">
                <a:solidFill>
                  <a:srgbClr val="1A1A1A"/>
                </a:solidFill>
                <a:latin typeface="Calibri"/>
              </a:rPr>
              <a:t>[#]   </a:t>
            </a:r>
            <a:r>
              <a:rPr sz="700" b="1" lang="en-GB">
                <a:solidFill>
                  <a:srgbClr val="6B6B6B"/>
                </a:solidFill>
                <a:latin typeface="Calibri"/>
              </a:rPr>
              <a:t>OUTFIELD </a:t>
            </a:r>
            <a:r>
              <a:rPr sz="900" b="1" lang="en-GB">
                <a:solidFill>
                  <a:srgbClr val="1A1A1A"/>
                </a:solidFill>
                <a:latin typeface="Calibri"/>
              </a:rPr>
              <a:t>[#]</a:t>
            </a:r>
          </a:p>
        </p:txBody>
      </p:sp>
      <p:graphicFrame>
        <p:nvGraphicFramePr>
          <p:cNvPr id="152" name="Table 9109"/>
          <p:cNvGraphicFramePr>
            <a:graphicFrameLocks noGrp="1"/>
          </p:cNvGraphicFramePr>
          <p:nvPr/>
        </p:nvGraphicFramePr>
        <p:xfrm>
          <a:off x="9948672" y="1719072"/>
          <a:ext cx="2057400" cy="3703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5488"/>
                <a:gridCol w="987552"/>
                <a:gridCol w="59436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GK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GK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FIXO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FIXO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FIXO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PIVOT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PIVOT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PIVOT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cxnSp>
        <p:nvCxnSpPr>
          <p:cNvPr id="153" name="Connector 9110"/>
          <p:cNvCxnSpPr/>
          <p:nvPr/>
        </p:nvCxnSpPr>
        <p:spPr>
          <a:xfrm>
            <a:off x="9948672" y="5971032"/>
            <a:ext cx="20574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9111"/>
          <p:cNvSpPr txBox="1"/>
          <p:nvPr/>
        </p:nvSpPr>
        <p:spPr>
          <a:xfrm>
            <a:off x="9948672" y="5998464"/>
            <a:ext cx="2057400" cy="67665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SQUAD NOTES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status notes]</a:t>
            </a:r>
          </a:p>
        </p:txBody>
      </p:sp>
      <p:sp>
        <p:nvSpPr>
          <p:cNvPr id="155" name="TextBox 9112"/>
          <p:cNvSpPr txBox="1"/>
          <p:nvPr/>
        </p:nvSpPr>
        <p:spPr>
          <a:xfrm>
            <a:off x="137160" y="6725412"/>
            <a:ext cx="11917375" cy="1234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0" lang="en-GB">
                <a:solidFill>
                  <a:srgbClr val="6B6B6B"/>
                </a:solidFill>
                <a:latin typeface="Calibri"/>
              </a:rPr>
              <a:t>MASTER TEMPLATE  —  keep clean  ·  duplicate Slide 2 for each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18288"/>
            <a:ext cx="3931920" cy="4663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rgbClr val="6B6B6B"/>
                </a:solidFill>
                <a:latin typeface="Calibri"/>
              </a:rPr>
              <a:t>[INSERT TEAM]  ·  FUTSAL SESSION PLAN</a:t>
            </a:r>
          </a:p>
          <a:p>
            <a:pPr algn="l"/>
            <a:r>
              <a:rPr sz="2000" b="1" lang="en-GB">
                <a:solidFill>
                  <a:srgbClr val="1A1A1A"/>
                </a:solidFill>
                <a:latin typeface="Calibri"/>
              </a:rPr>
              <a:t>[Insert session 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24528" y="64008"/>
            <a:ext cx="1325880" cy="4023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DATE</a:t>
            </a:r>
          </a:p>
          <a:p>
            <a:pPr algn="l"/>
            <a:r>
              <a:rPr sz="950" b="0" lang="en-GB">
                <a:solidFill>
                  <a:srgbClr val="1A1A1A"/>
                </a:solidFill>
                <a:latin typeface="Calibri"/>
              </a:rPr>
              <a:t>[Insert date]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41848" y="64008"/>
            <a:ext cx="1783080" cy="4023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VENUE</a:t>
            </a:r>
          </a:p>
          <a:p>
            <a:pPr algn="l"/>
            <a:r>
              <a:rPr sz="950" b="0" lang="en-GB">
                <a:solidFill>
                  <a:srgbClr val="1A1A1A"/>
                </a:solidFill>
                <a:latin typeface="Calibri"/>
              </a:rPr>
              <a:t>[Insert venue]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16368" y="64008"/>
            <a:ext cx="1325880" cy="4023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DURATION</a:t>
            </a:r>
          </a:p>
          <a:p>
            <a:pPr algn="l"/>
            <a:r>
              <a:rPr sz="950" b="1" lang="en-GB">
                <a:solidFill>
                  <a:srgbClr val="1A1A1A"/>
                </a:solidFill>
                <a:latin typeface="Calibri"/>
              </a:rPr>
              <a:t>[Insert duration]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33688" y="64008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STAFF</a:t>
            </a:r>
          </a:p>
          <a:p>
            <a:pPr algn="l"/>
            <a:r>
              <a:rPr sz="950" b="0" lang="en-GB">
                <a:solidFill>
                  <a:srgbClr val="1A1A1A"/>
                </a:solidFill>
                <a:latin typeface="Calibri"/>
              </a:rPr>
              <a:t>[Insert staff]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182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21208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566928"/>
            <a:ext cx="301752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chemeClr val="accent1"/>
                </a:solidFill>
                <a:latin typeface="Calibri"/>
              </a:rPr>
              <a:t>SESSION THEME / OBJECTIVE</a:t>
            </a:r>
          </a:p>
          <a:p>
            <a:pPr algn="l"/>
            <a:r>
              <a:rPr sz="1100" b="1" lang="en-GB">
                <a:solidFill>
                  <a:srgbClr val="1A1A1A"/>
                </a:solidFill>
                <a:latin typeface="Calibri"/>
              </a:rPr>
              <a:t>[Insert focus]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66928"/>
            <a:ext cx="315468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KEY COACHING OUTCOMES</a:t>
            </a:r>
          </a:p>
          <a:p>
            <a:pPr algn="l"/>
            <a:r>
              <a:rPr sz="850" b="0" lang="en-GB">
                <a:solidFill>
                  <a:srgbClr val="1A1A1A"/>
                </a:solidFill>
                <a:latin typeface="Calibri"/>
              </a:rPr>
              <a:t>[Insert key outcomes]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8" y="612648"/>
            <a:ext cx="0" cy="41148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0" y="566928"/>
            <a:ext cx="274320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KEY CONSTRAINTS</a:t>
            </a:r>
          </a:p>
          <a:p>
            <a:pPr algn="l"/>
            <a:r>
              <a:rPr sz="850" b="0" lang="en-GB">
                <a:solidFill>
                  <a:srgbClr val="1A1A1A"/>
                </a:solidFill>
                <a:latin typeface="Calibri"/>
              </a:rPr>
              <a:t>[Insert constraints]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10528" y="612648"/>
            <a:ext cx="0" cy="41148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64040" y="566928"/>
            <a:ext cx="2587752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KEY REMINDERS</a:t>
            </a:r>
          </a:p>
          <a:p>
            <a:pPr algn="l"/>
            <a:r>
              <a:rPr sz="850" b="0" lang="en-GB">
                <a:solidFill>
                  <a:srgbClr val="1A1A1A"/>
                </a:solidFill>
                <a:latin typeface="Calibri"/>
              </a:rPr>
              <a:t>[Insert reminders]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90888" y="612648"/>
            <a:ext cx="0" cy="41148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37160" y="1170432"/>
            <a:ext cx="48143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" y="1170432"/>
            <a:ext cx="481431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" y="1170432"/>
            <a:ext cx="45720" cy="256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1184148"/>
            <a:ext cx="329184" cy="2286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" y="1197864"/>
            <a:ext cx="1664208" cy="21031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WARM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1202436"/>
            <a:ext cx="1431036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00" b="1" lang="en-GB">
                <a:solidFill>
                  <a:srgbClr val="6B6B6B"/>
                </a:solidFill>
                <a:latin typeface="Calibri"/>
              </a:rPr>
              <a:t>LEAD  </a:t>
            </a:r>
            <a:r>
              <a:rPr sz="800" b="0" lang="en-GB">
                <a:solidFill>
                  <a:srgbClr val="1A1A1A"/>
                </a:solidFill>
                <a:latin typeface="Calibri"/>
              </a:rPr>
              <a:t>[Insert responsibility]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62756" y="1202436"/>
            <a:ext cx="1115568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>
                <a:solidFill>
                  <a:schemeClr val="accent1"/>
                </a:solidFill>
                <a:latin typeface="Calibri"/>
              </a:rPr>
              <a:t>[Insert timing]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1444752"/>
            <a:ext cx="46863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OBJECTIVE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objective]</a:t>
            </a:r>
          </a:p>
        </p:txBody>
      </p:sp>
      <p:grpSp>
        <p:nvGrpSpPr>
          <p:cNvPr id="24" name="Court 01"/>
          <p:cNvGrpSpPr/>
          <p:nvPr/>
        </p:nvGrpSpPr>
        <p:grpSpPr>
          <a:xfrm>
            <a:off x="182880" y="1769364"/>
            <a:ext cx="3108960" cy="1490472"/>
            <a:chOff x="182880" y="1769364"/>
            <a:chExt cx="3108960" cy="1490472"/>
          </a:xfrm>
        </p:grpSpPr>
        <p:sp>
          <p:nvSpPr>
            <p:cNvPr id="25" name="Rectangle 23"/>
            <p:cNvSpPr/>
            <p:nvPr/>
          </p:nvSpPr>
          <p:spPr>
            <a:xfrm>
              <a:off x="246888" y="1769364"/>
              <a:ext cx="2980944" cy="149047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4"/>
            <p:cNvCxnSpPr/>
            <p:nvPr/>
          </p:nvCxnSpPr>
          <p:spPr>
            <a:xfrm>
              <a:off x="1737360" y="1769364"/>
              <a:ext cx="0" cy="149047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5"/>
            <p:cNvSpPr/>
            <p:nvPr/>
          </p:nvSpPr>
          <p:spPr>
            <a:xfrm>
              <a:off x="1513789" y="2291029"/>
              <a:ext cx="447142" cy="447142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6"/>
            <p:cNvSpPr/>
            <p:nvPr/>
          </p:nvSpPr>
          <p:spPr>
            <a:xfrm>
              <a:off x="1721358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Arc 27"/>
            <p:cNvSpPr/>
            <p:nvPr/>
          </p:nvSpPr>
          <p:spPr>
            <a:xfrm>
              <a:off x="-200254" y="1955673"/>
              <a:ext cx="894283" cy="894283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Arc 28"/>
            <p:cNvSpPr/>
            <p:nvPr/>
          </p:nvSpPr>
          <p:spPr>
            <a:xfrm>
              <a:off x="-200254" y="2179244"/>
              <a:ext cx="894283" cy="894283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29"/>
            <p:cNvCxnSpPr/>
            <p:nvPr/>
          </p:nvCxnSpPr>
          <p:spPr>
            <a:xfrm>
              <a:off x="694030" y="2402815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0"/>
            <p:cNvSpPr/>
            <p:nvPr/>
          </p:nvSpPr>
          <p:spPr>
            <a:xfrm>
              <a:off x="678028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1"/>
            <p:cNvSpPr/>
            <p:nvPr/>
          </p:nvSpPr>
          <p:spPr>
            <a:xfrm>
              <a:off x="976122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2"/>
            <p:cNvSpPr/>
            <p:nvPr/>
          </p:nvSpPr>
          <p:spPr>
            <a:xfrm>
              <a:off x="182880" y="2402815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Arc 33"/>
            <p:cNvSpPr/>
            <p:nvPr/>
          </p:nvSpPr>
          <p:spPr>
            <a:xfrm>
              <a:off x="2780690" y="1955673"/>
              <a:ext cx="894283" cy="894283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Arc 34"/>
            <p:cNvSpPr/>
            <p:nvPr/>
          </p:nvSpPr>
          <p:spPr>
            <a:xfrm>
              <a:off x="2780690" y="2179244"/>
              <a:ext cx="894283" cy="894283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Connector 35"/>
            <p:cNvCxnSpPr/>
            <p:nvPr/>
          </p:nvCxnSpPr>
          <p:spPr>
            <a:xfrm>
              <a:off x="2780690" y="2402815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6"/>
            <p:cNvSpPr/>
            <p:nvPr/>
          </p:nvSpPr>
          <p:spPr>
            <a:xfrm>
              <a:off x="2764688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7"/>
            <p:cNvSpPr/>
            <p:nvPr/>
          </p:nvSpPr>
          <p:spPr>
            <a:xfrm>
              <a:off x="2466594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8"/>
            <p:cNvSpPr/>
            <p:nvPr/>
          </p:nvSpPr>
          <p:spPr>
            <a:xfrm>
              <a:off x="3227832" y="2402815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1" name="Connector 9001"/>
          <p:cNvCxnSpPr/>
          <p:nvPr/>
        </p:nvCxnSpPr>
        <p:spPr>
          <a:xfrm>
            <a:off x="3337560" y="1691640"/>
            <a:ext cx="0" cy="164592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9002"/>
          <p:cNvSpPr txBox="1"/>
          <p:nvPr/>
        </p:nvSpPr>
        <p:spPr>
          <a:xfrm>
            <a:off x="3392424" y="1664208"/>
            <a:ext cx="1495044" cy="17007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COACHING POINTS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coaching points]</a:t>
            </a:r>
          </a:p>
        </p:txBody>
      </p:sp>
      <p:cxnSp>
        <p:nvCxnSpPr>
          <p:cNvPr id="43" name="Connector 9003"/>
          <p:cNvCxnSpPr/>
          <p:nvPr/>
        </p:nvCxnSpPr>
        <p:spPr>
          <a:xfrm>
            <a:off x="201168" y="3410712"/>
            <a:ext cx="46863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9004"/>
          <p:cNvSpPr txBox="1"/>
          <p:nvPr/>
        </p:nvSpPr>
        <p:spPr>
          <a:xfrm>
            <a:off x="201168" y="3429000"/>
            <a:ext cx="2084832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SETUP / CONSTRAINTS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setup]</a:t>
            </a:r>
          </a:p>
        </p:txBody>
      </p:sp>
      <p:sp>
        <p:nvSpPr>
          <p:cNvPr id="45" name="TextBox 9005"/>
          <p:cNvSpPr txBox="1"/>
          <p:nvPr/>
        </p:nvSpPr>
        <p:spPr>
          <a:xfrm>
            <a:off x="2368296" y="3429000"/>
            <a:ext cx="1188720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PROGRESSION  ↑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[Harder]</a:t>
            </a:r>
          </a:p>
        </p:txBody>
      </p:sp>
      <p:sp>
        <p:nvSpPr>
          <p:cNvPr id="46" name="TextBox 9006"/>
          <p:cNvSpPr txBox="1"/>
          <p:nvPr/>
        </p:nvSpPr>
        <p:spPr>
          <a:xfrm>
            <a:off x="3666744" y="3429000"/>
            <a:ext cx="1207008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REGRESSION  ↓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[Easier]</a:t>
            </a:r>
          </a:p>
        </p:txBody>
      </p:sp>
      <p:cxnSp>
        <p:nvCxnSpPr>
          <p:cNvPr id="47" name="Connector 9007"/>
          <p:cNvCxnSpPr/>
          <p:nvPr/>
        </p:nvCxnSpPr>
        <p:spPr>
          <a:xfrm>
            <a:off x="2295144" y="3456432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9008"/>
          <p:cNvCxnSpPr/>
          <p:nvPr/>
        </p:nvCxnSpPr>
        <p:spPr>
          <a:xfrm>
            <a:off x="3593592" y="3456432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9009"/>
          <p:cNvSpPr/>
          <p:nvPr/>
        </p:nvSpPr>
        <p:spPr>
          <a:xfrm>
            <a:off x="5015484" y="1170432"/>
            <a:ext cx="48143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9010"/>
          <p:cNvSpPr/>
          <p:nvPr/>
        </p:nvSpPr>
        <p:spPr>
          <a:xfrm>
            <a:off x="5015484" y="1170432"/>
            <a:ext cx="481431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9011"/>
          <p:cNvSpPr/>
          <p:nvPr/>
        </p:nvSpPr>
        <p:spPr>
          <a:xfrm>
            <a:off x="5015484" y="1170432"/>
            <a:ext cx="45720" cy="256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9012"/>
          <p:cNvSpPr txBox="1"/>
          <p:nvPr/>
        </p:nvSpPr>
        <p:spPr>
          <a:xfrm>
            <a:off x="5079492" y="1184148"/>
            <a:ext cx="329184" cy="2286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02</a:t>
            </a:r>
          </a:p>
        </p:txBody>
      </p:sp>
      <p:sp>
        <p:nvSpPr>
          <p:cNvPr id="53" name="TextBox 9013"/>
          <p:cNvSpPr txBox="1"/>
          <p:nvPr/>
        </p:nvSpPr>
        <p:spPr>
          <a:xfrm>
            <a:off x="5417820" y="1197864"/>
            <a:ext cx="1664208" cy="21031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TECHNICAL / POSSESSION</a:t>
            </a:r>
          </a:p>
        </p:txBody>
      </p:sp>
      <p:sp>
        <p:nvSpPr>
          <p:cNvPr id="54" name="TextBox 9014"/>
          <p:cNvSpPr txBox="1"/>
          <p:nvPr/>
        </p:nvSpPr>
        <p:spPr>
          <a:xfrm>
            <a:off x="7118604" y="1202436"/>
            <a:ext cx="1431036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00" b="1" lang="en-GB">
                <a:solidFill>
                  <a:srgbClr val="6B6B6B"/>
                </a:solidFill>
                <a:latin typeface="Calibri"/>
              </a:rPr>
              <a:t>LEAD  </a:t>
            </a:r>
            <a:r>
              <a:rPr sz="800" b="0" lang="en-GB">
                <a:solidFill>
                  <a:srgbClr val="1A1A1A"/>
                </a:solidFill>
                <a:latin typeface="Calibri"/>
              </a:rPr>
              <a:t>[Insert responsibility]</a:t>
            </a:r>
          </a:p>
        </p:txBody>
      </p:sp>
      <p:sp>
        <p:nvSpPr>
          <p:cNvPr id="55" name="Rounded Rectangle 9015"/>
          <p:cNvSpPr/>
          <p:nvPr/>
        </p:nvSpPr>
        <p:spPr>
          <a:xfrm>
            <a:off x="8641080" y="1202436"/>
            <a:ext cx="1115568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>
                <a:solidFill>
                  <a:schemeClr val="accent1"/>
                </a:solidFill>
                <a:latin typeface="Calibri"/>
              </a:rPr>
              <a:t>[Insert timing]</a:t>
            </a:r>
          </a:p>
        </p:txBody>
      </p:sp>
      <p:sp>
        <p:nvSpPr>
          <p:cNvPr id="56" name="TextBox 9016"/>
          <p:cNvSpPr txBox="1"/>
          <p:nvPr/>
        </p:nvSpPr>
        <p:spPr>
          <a:xfrm>
            <a:off x="5079492" y="1444752"/>
            <a:ext cx="46863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OBJECTIVE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objective]</a:t>
            </a:r>
          </a:p>
        </p:txBody>
      </p:sp>
      <p:grpSp>
        <p:nvGrpSpPr>
          <p:cNvPr id="57" name="Court 02"/>
          <p:cNvGrpSpPr/>
          <p:nvPr/>
        </p:nvGrpSpPr>
        <p:grpSpPr>
          <a:xfrm>
            <a:off x="5061204" y="1769364"/>
            <a:ext cx="3108960" cy="1490472"/>
            <a:chOff x="5061204" y="1769364"/>
            <a:chExt cx="3108960" cy="1490472"/>
          </a:xfrm>
        </p:grpSpPr>
        <p:sp>
          <p:nvSpPr>
            <p:cNvPr id="58" name="Rectangle 9017"/>
            <p:cNvSpPr/>
            <p:nvPr/>
          </p:nvSpPr>
          <p:spPr>
            <a:xfrm>
              <a:off x="5125212" y="1769364"/>
              <a:ext cx="2980944" cy="149047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Connector 9018"/>
            <p:cNvCxnSpPr/>
            <p:nvPr/>
          </p:nvCxnSpPr>
          <p:spPr>
            <a:xfrm>
              <a:off x="6615684" y="1769364"/>
              <a:ext cx="0" cy="149047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9019"/>
            <p:cNvSpPr/>
            <p:nvPr/>
          </p:nvSpPr>
          <p:spPr>
            <a:xfrm>
              <a:off x="6392113" y="2291029"/>
              <a:ext cx="447142" cy="447142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9020"/>
            <p:cNvSpPr/>
            <p:nvPr/>
          </p:nvSpPr>
          <p:spPr>
            <a:xfrm>
              <a:off x="6599682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Arc 9021"/>
            <p:cNvSpPr/>
            <p:nvPr/>
          </p:nvSpPr>
          <p:spPr>
            <a:xfrm>
              <a:off x="4678070" y="1955673"/>
              <a:ext cx="894283" cy="894283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Arc 9022"/>
            <p:cNvSpPr/>
            <p:nvPr/>
          </p:nvSpPr>
          <p:spPr>
            <a:xfrm>
              <a:off x="4678070" y="2179244"/>
              <a:ext cx="894283" cy="894283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Connector 9023"/>
            <p:cNvCxnSpPr/>
            <p:nvPr/>
          </p:nvCxnSpPr>
          <p:spPr>
            <a:xfrm>
              <a:off x="5572354" y="2402815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Oval 9024"/>
            <p:cNvSpPr/>
            <p:nvPr/>
          </p:nvSpPr>
          <p:spPr>
            <a:xfrm>
              <a:off x="5556352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9025"/>
            <p:cNvSpPr/>
            <p:nvPr/>
          </p:nvSpPr>
          <p:spPr>
            <a:xfrm>
              <a:off x="5854446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9026"/>
            <p:cNvSpPr/>
            <p:nvPr/>
          </p:nvSpPr>
          <p:spPr>
            <a:xfrm>
              <a:off x="5061204" y="2402815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Arc 9027"/>
            <p:cNvSpPr/>
            <p:nvPr/>
          </p:nvSpPr>
          <p:spPr>
            <a:xfrm>
              <a:off x="7659014" y="1955673"/>
              <a:ext cx="894283" cy="894283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Arc 9028"/>
            <p:cNvSpPr/>
            <p:nvPr/>
          </p:nvSpPr>
          <p:spPr>
            <a:xfrm>
              <a:off x="7659014" y="2179244"/>
              <a:ext cx="894283" cy="894283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0" name="Connector 9029"/>
            <p:cNvCxnSpPr/>
            <p:nvPr/>
          </p:nvCxnSpPr>
          <p:spPr>
            <a:xfrm>
              <a:off x="7659014" y="2402815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9030"/>
            <p:cNvSpPr/>
            <p:nvPr/>
          </p:nvSpPr>
          <p:spPr>
            <a:xfrm>
              <a:off x="7643012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9031"/>
            <p:cNvSpPr/>
            <p:nvPr/>
          </p:nvSpPr>
          <p:spPr>
            <a:xfrm>
              <a:off x="7344918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9032"/>
            <p:cNvSpPr/>
            <p:nvPr/>
          </p:nvSpPr>
          <p:spPr>
            <a:xfrm>
              <a:off x="8106156" y="2402815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74" name="Connector 9033"/>
          <p:cNvCxnSpPr/>
          <p:nvPr/>
        </p:nvCxnSpPr>
        <p:spPr>
          <a:xfrm>
            <a:off x="8215884" y="1691640"/>
            <a:ext cx="0" cy="164592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9034"/>
          <p:cNvSpPr txBox="1"/>
          <p:nvPr/>
        </p:nvSpPr>
        <p:spPr>
          <a:xfrm>
            <a:off x="8270748" y="1664208"/>
            <a:ext cx="1495044" cy="17007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COACHING POINTS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coaching points]</a:t>
            </a:r>
          </a:p>
        </p:txBody>
      </p:sp>
      <p:cxnSp>
        <p:nvCxnSpPr>
          <p:cNvPr id="76" name="Connector 9035"/>
          <p:cNvCxnSpPr/>
          <p:nvPr/>
        </p:nvCxnSpPr>
        <p:spPr>
          <a:xfrm>
            <a:off x="5079492" y="3410712"/>
            <a:ext cx="46863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9036"/>
          <p:cNvSpPr txBox="1"/>
          <p:nvPr/>
        </p:nvSpPr>
        <p:spPr>
          <a:xfrm>
            <a:off x="5079492" y="3429000"/>
            <a:ext cx="2084832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SETUP / CONSTRAINTS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setup]</a:t>
            </a:r>
          </a:p>
        </p:txBody>
      </p:sp>
      <p:sp>
        <p:nvSpPr>
          <p:cNvPr id="78" name="TextBox 9037"/>
          <p:cNvSpPr txBox="1"/>
          <p:nvPr/>
        </p:nvSpPr>
        <p:spPr>
          <a:xfrm>
            <a:off x="7246620" y="3429000"/>
            <a:ext cx="1188720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PROGRESSION  ↑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[Harder]</a:t>
            </a:r>
          </a:p>
        </p:txBody>
      </p:sp>
      <p:sp>
        <p:nvSpPr>
          <p:cNvPr id="79" name="TextBox 9038"/>
          <p:cNvSpPr txBox="1"/>
          <p:nvPr/>
        </p:nvSpPr>
        <p:spPr>
          <a:xfrm>
            <a:off x="8545068" y="3429000"/>
            <a:ext cx="1207008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REGRESSION  ↓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[Easier]</a:t>
            </a:r>
          </a:p>
        </p:txBody>
      </p:sp>
      <p:cxnSp>
        <p:nvCxnSpPr>
          <p:cNvPr id="80" name="Connector 9039"/>
          <p:cNvCxnSpPr/>
          <p:nvPr/>
        </p:nvCxnSpPr>
        <p:spPr>
          <a:xfrm>
            <a:off x="7173468" y="3456432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9040"/>
          <p:cNvCxnSpPr/>
          <p:nvPr/>
        </p:nvCxnSpPr>
        <p:spPr>
          <a:xfrm>
            <a:off x="8471916" y="3456432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9041"/>
          <p:cNvSpPr/>
          <p:nvPr/>
        </p:nvSpPr>
        <p:spPr>
          <a:xfrm>
            <a:off x="137160" y="3977640"/>
            <a:ext cx="48143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9042"/>
          <p:cNvSpPr/>
          <p:nvPr/>
        </p:nvSpPr>
        <p:spPr>
          <a:xfrm>
            <a:off x="137160" y="3977640"/>
            <a:ext cx="481431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9043"/>
          <p:cNvSpPr/>
          <p:nvPr/>
        </p:nvSpPr>
        <p:spPr>
          <a:xfrm>
            <a:off x="137160" y="3977640"/>
            <a:ext cx="45720" cy="256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9044"/>
          <p:cNvSpPr txBox="1"/>
          <p:nvPr/>
        </p:nvSpPr>
        <p:spPr>
          <a:xfrm>
            <a:off x="201168" y="3991356"/>
            <a:ext cx="329184" cy="2286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03</a:t>
            </a:r>
          </a:p>
        </p:txBody>
      </p:sp>
      <p:sp>
        <p:nvSpPr>
          <p:cNvPr id="86" name="TextBox 9045"/>
          <p:cNvSpPr txBox="1"/>
          <p:nvPr/>
        </p:nvSpPr>
        <p:spPr>
          <a:xfrm>
            <a:off x="539496" y="4005072"/>
            <a:ext cx="1664208" cy="21031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TACTICAL ACTIVITY</a:t>
            </a:r>
          </a:p>
        </p:txBody>
      </p:sp>
      <p:sp>
        <p:nvSpPr>
          <p:cNvPr id="87" name="TextBox 9046"/>
          <p:cNvSpPr txBox="1"/>
          <p:nvPr/>
        </p:nvSpPr>
        <p:spPr>
          <a:xfrm>
            <a:off x="2240280" y="4009644"/>
            <a:ext cx="1431036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00" b="1" lang="en-GB">
                <a:solidFill>
                  <a:srgbClr val="6B6B6B"/>
                </a:solidFill>
                <a:latin typeface="Calibri"/>
              </a:rPr>
              <a:t>LEAD  </a:t>
            </a:r>
            <a:r>
              <a:rPr sz="800" b="0" lang="en-GB">
                <a:solidFill>
                  <a:srgbClr val="1A1A1A"/>
                </a:solidFill>
                <a:latin typeface="Calibri"/>
              </a:rPr>
              <a:t>[Insert responsibility]</a:t>
            </a:r>
          </a:p>
        </p:txBody>
      </p:sp>
      <p:sp>
        <p:nvSpPr>
          <p:cNvPr id="88" name="Rounded Rectangle 9047"/>
          <p:cNvSpPr/>
          <p:nvPr/>
        </p:nvSpPr>
        <p:spPr>
          <a:xfrm>
            <a:off x="3762756" y="4009644"/>
            <a:ext cx="1115568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>
                <a:solidFill>
                  <a:schemeClr val="accent1"/>
                </a:solidFill>
                <a:latin typeface="Calibri"/>
              </a:rPr>
              <a:t>[Insert timing]</a:t>
            </a:r>
          </a:p>
        </p:txBody>
      </p:sp>
      <p:sp>
        <p:nvSpPr>
          <p:cNvPr id="89" name="TextBox 9048"/>
          <p:cNvSpPr txBox="1"/>
          <p:nvPr/>
        </p:nvSpPr>
        <p:spPr>
          <a:xfrm>
            <a:off x="201168" y="4251960"/>
            <a:ext cx="46863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OBJECTIVE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objective]</a:t>
            </a:r>
          </a:p>
        </p:txBody>
      </p:sp>
      <p:grpSp>
        <p:nvGrpSpPr>
          <p:cNvPr id="90" name="Court 03"/>
          <p:cNvGrpSpPr/>
          <p:nvPr/>
        </p:nvGrpSpPr>
        <p:grpSpPr>
          <a:xfrm>
            <a:off x="182880" y="4576572"/>
            <a:ext cx="3108960" cy="1490472"/>
            <a:chOff x="182880" y="4576572"/>
            <a:chExt cx="3108960" cy="1490472"/>
          </a:xfrm>
        </p:grpSpPr>
        <p:sp>
          <p:nvSpPr>
            <p:cNvPr id="91" name="Rectangle 9049"/>
            <p:cNvSpPr/>
            <p:nvPr/>
          </p:nvSpPr>
          <p:spPr>
            <a:xfrm>
              <a:off x="246888" y="4576572"/>
              <a:ext cx="2980944" cy="149047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2" name="Connector 9050"/>
            <p:cNvCxnSpPr/>
            <p:nvPr/>
          </p:nvCxnSpPr>
          <p:spPr>
            <a:xfrm>
              <a:off x="1737360" y="4576572"/>
              <a:ext cx="0" cy="149047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Oval 9051"/>
            <p:cNvSpPr/>
            <p:nvPr/>
          </p:nvSpPr>
          <p:spPr>
            <a:xfrm>
              <a:off x="1513789" y="5098237"/>
              <a:ext cx="447142" cy="447142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052"/>
            <p:cNvSpPr/>
            <p:nvPr/>
          </p:nvSpPr>
          <p:spPr>
            <a:xfrm>
              <a:off x="1721358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Arc 9053"/>
            <p:cNvSpPr/>
            <p:nvPr/>
          </p:nvSpPr>
          <p:spPr>
            <a:xfrm>
              <a:off x="-200254" y="4762881"/>
              <a:ext cx="894283" cy="894283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Arc 9054"/>
            <p:cNvSpPr/>
            <p:nvPr/>
          </p:nvSpPr>
          <p:spPr>
            <a:xfrm>
              <a:off x="-200254" y="4986452"/>
              <a:ext cx="894283" cy="894283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7" name="Connector 9055"/>
            <p:cNvCxnSpPr/>
            <p:nvPr/>
          </p:nvCxnSpPr>
          <p:spPr>
            <a:xfrm>
              <a:off x="694030" y="5210023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056"/>
            <p:cNvSpPr/>
            <p:nvPr/>
          </p:nvSpPr>
          <p:spPr>
            <a:xfrm>
              <a:off x="678028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057"/>
            <p:cNvSpPr/>
            <p:nvPr/>
          </p:nvSpPr>
          <p:spPr>
            <a:xfrm>
              <a:off x="976122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Rectangle 9058"/>
            <p:cNvSpPr/>
            <p:nvPr/>
          </p:nvSpPr>
          <p:spPr>
            <a:xfrm>
              <a:off x="182880" y="5210023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Arc 9059"/>
            <p:cNvSpPr/>
            <p:nvPr/>
          </p:nvSpPr>
          <p:spPr>
            <a:xfrm>
              <a:off x="2780690" y="4762881"/>
              <a:ext cx="894283" cy="894283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Arc 9060"/>
            <p:cNvSpPr/>
            <p:nvPr/>
          </p:nvSpPr>
          <p:spPr>
            <a:xfrm>
              <a:off x="2780690" y="4986452"/>
              <a:ext cx="894283" cy="894283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3" name="Connector 9061"/>
            <p:cNvCxnSpPr/>
            <p:nvPr/>
          </p:nvCxnSpPr>
          <p:spPr>
            <a:xfrm>
              <a:off x="2780690" y="5210023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Oval 9062"/>
            <p:cNvSpPr/>
            <p:nvPr/>
          </p:nvSpPr>
          <p:spPr>
            <a:xfrm>
              <a:off x="2764688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9063"/>
            <p:cNvSpPr/>
            <p:nvPr/>
          </p:nvSpPr>
          <p:spPr>
            <a:xfrm>
              <a:off x="2466594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Rectangle 9064"/>
            <p:cNvSpPr/>
            <p:nvPr/>
          </p:nvSpPr>
          <p:spPr>
            <a:xfrm>
              <a:off x="3227832" y="5210023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07" name="Connector 9065"/>
          <p:cNvCxnSpPr/>
          <p:nvPr/>
        </p:nvCxnSpPr>
        <p:spPr>
          <a:xfrm>
            <a:off x="3337560" y="4498848"/>
            <a:ext cx="0" cy="164592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9066"/>
          <p:cNvSpPr txBox="1"/>
          <p:nvPr/>
        </p:nvSpPr>
        <p:spPr>
          <a:xfrm>
            <a:off x="3392424" y="4471416"/>
            <a:ext cx="1495044" cy="17007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COACHING POINTS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coaching points]</a:t>
            </a:r>
          </a:p>
        </p:txBody>
      </p:sp>
      <p:cxnSp>
        <p:nvCxnSpPr>
          <p:cNvPr id="109" name="Connector 9067"/>
          <p:cNvCxnSpPr/>
          <p:nvPr/>
        </p:nvCxnSpPr>
        <p:spPr>
          <a:xfrm>
            <a:off x="201168" y="6217920"/>
            <a:ext cx="46863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9068"/>
          <p:cNvSpPr txBox="1"/>
          <p:nvPr/>
        </p:nvSpPr>
        <p:spPr>
          <a:xfrm>
            <a:off x="201168" y="6236208"/>
            <a:ext cx="2084832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SETUP / CONSTRAINTS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setup]</a:t>
            </a:r>
          </a:p>
        </p:txBody>
      </p:sp>
      <p:sp>
        <p:nvSpPr>
          <p:cNvPr id="111" name="TextBox 9069"/>
          <p:cNvSpPr txBox="1"/>
          <p:nvPr/>
        </p:nvSpPr>
        <p:spPr>
          <a:xfrm>
            <a:off x="2368296" y="6236208"/>
            <a:ext cx="1188720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PROGRESSION  ↑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[Harder]</a:t>
            </a:r>
          </a:p>
        </p:txBody>
      </p:sp>
      <p:sp>
        <p:nvSpPr>
          <p:cNvPr id="112" name="TextBox 9070"/>
          <p:cNvSpPr txBox="1"/>
          <p:nvPr/>
        </p:nvSpPr>
        <p:spPr>
          <a:xfrm>
            <a:off x="3666744" y="6236208"/>
            <a:ext cx="1207008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REGRESSION  ↓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[Easier]</a:t>
            </a:r>
          </a:p>
        </p:txBody>
      </p:sp>
      <p:cxnSp>
        <p:nvCxnSpPr>
          <p:cNvPr id="113" name="Connector 9071"/>
          <p:cNvCxnSpPr/>
          <p:nvPr/>
        </p:nvCxnSpPr>
        <p:spPr>
          <a:xfrm>
            <a:off x="2295144" y="6263640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9072"/>
          <p:cNvCxnSpPr/>
          <p:nvPr/>
        </p:nvCxnSpPr>
        <p:spPr>
          <a:xfrm>
            <a:off x="3593592" y="6263640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9073"/>
          <p:cNvSpPr/>
          <p:nvPr/>
        </p:nvSpPr>
        <p:spPr>
          <a:xfrm>
            <a:off x="5015484" y="3977640"/>
            <a:ext cx="48143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9074"/>
          <p:cNvSpPr/>
          <p:nvPr/>
        </p:nvSpPr>
        <p:spPr>
          <a:xfrm>
            <a:off x="5015484" y="3977640"/>
            <a:ext cx="481431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9075"/>
          <p:cNvSpPr/>
          <p:nvPr/>
        </p:nvSpPr>
        <p:spPr>
          <a:xfrm>
            <a:off x="5015484" y="3977640"/>
            <a:ext cx="45720" cy="256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9076"/>
          <p:cNvSpPr txBox="1"/>
          <p:nvPr/>
        </p:nvSpPr>
        <p:spPr>
          <a:xfrm>
            <a:off x="5079492" y="3991356"/>
            <a:ext cx="329184" cy="2286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04</a:t>
            </a:r>
          </a:p>
        </p:txBody>
      </p:sp>
      <p:sp>
        <p:nvSpPr>
          <p:cNvPr id="119" name="TextBox 9077"/>
          <p:cNvSpPr txBox="1"/>
          <p:nvPr/>
        </p:nvSpPr>
        <p:spPr>
          <a:xfrm>
            <a:off x="5417820" y="4005072"/>
            <a:ext cx="1664208" cy="21031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GAME</a:t>
            </a:r>
          </a:p>
        </p:txBody>
      </p:sp>
      <p:sp>
        <p:nvSpPr>
          <p:cNvPr id="120" name="TextBox 9078"/>
          <p:cNvSpPr txBox="1"/>
          <p:nvPr/>
        </p:nvSpPr>
        <p:spPr>
          <a:xfrm>
            <a:off x="7118604" y="4009644"/>
            <a:ext cx="1431036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00" b="1" lang="en-GB">
                <a:solidFill>
                  <a:srgbClr val="6B6B6B"/>
                </a:solidFill>
                <a:latin typeface="Calibri"/>
              </a:rPr>
              <a:t>LEAD  </a:t>
            </a:r>
            <a:r>
              <a:rPr sz="800" b="0" lang="en-GB">
                <a:solidFill>
                  <a:srgbClr val="1A1A1A"/>
                </a:solidFill>
                <a:latin typeface="Calibri"/>
              </a:rPr>
              <a:t>[Insert responsibility]</a:t>
            </a:r>
          </a:p>
        </p:txBody>
      </p:sp>
      <p:sp>
        <p:nvSpPr>
          <p:cNvPr id="121" name="Rounded Rectangle 9079"/>
          <p:cNvSpPr/>
          <p:nvPr/>
        </p:nvSpPr>
        <p:spPr>
          <a:xfrm>
            <a:off x="8641080" y="4009644"/>
            <a:ext cx="1115568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>
                <a:solidFill>
                  <a:schemeClr val="accent1"/>
                </a:solidFill>
                <a:latin typeface="Calibri"/>
              </a:rPr>
              <a:t>[Insert timing]</a:t>
            </a:r>
          </a:p>
        </p:txBody>
      </p:sp>
      <p:sp>
        <p:nvSpPr>
          <p:cNvPr id="122" name="TextBox 9080"/>
          <p:cNvSpPr txBox="1"/>
          <p:nvPr/>
        </p:nvSpPr>
        <p:spPr>
          <a:xfrm>
            <a:off x="5079492" y="4251960"/>
            <a:ext cx="46863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OBJECTIVE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objective]</a:t>
            </a:r>
          </a:p>
        </p:txBody>
      </p:sp>
      <p:grpSp>
        <p:nvGrpSpPr>
          <p:cNvPr id="123" name="Court 04"/>
          <p:cNvGrpSpPr/>
          <p:nvPr/>
        </p:nvGrpSpPr>
        <p:grpSpPr>
          <a:xfrm>
            <a:off x="5061204" y="4576572"/>
            <a:ext cx="3108960" cy="1490472"/>
            <a:chOff x="5061204" y="4576572"/>
            <a:chExt cx="3108960" cy="1490472"/>
          </a:xfrm>
        </p:grpSpPr>
        <p:sp>
          <p:nvSpPr>
            <p:cNvPr id="124" name="Rectangle 9081"/>
            <p:cNvSpPr/>
            <p:nvPr/>
          </p:nvSpPr>
          <p:spPr>
            <a:xfrm>
              <a:off x="5125212" y="4576572"/>
              <a:ext cx="2980944" cy="149047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5" name="Connector 9082"/>
            <p:cNvCxnSpPr/>
            <p:nvPr/>
          </p:nvCxnSpPr>
          <p:spPr>
            <a:xfrm>
              <a:off x="6615684" y="4576572"/>
              <a:ext cx="0" cy="149047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Oval 9083"/>
            <p:cNvSpPr/>
            <p:nvPr/>
          </p:nvSpPr>
          <p:spPr>
            <a:xfrm>
              <a:off x="6392113" y="5098237"/>
              <a:ext cx="447142" cy="447142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9084"/>
            <p:cNvSpPr/>
            <p:nvPr/>
          </p:nvSpPr>
          <p:spPr>
            <a:xfrm>
              <a:off x="6599682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Arc 9085"/>
            <p:cNvSpPr/>
            <p:nvPr/>
          </p:nvSpPr>
          <p:spPr>
            <a:xfrm>
              <a:off x="4678070" y="4762881"/>
              <a:ext cx="894283" cy="894283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Arc 9086"/>
            <p:cNvSpPr/>
            <p:nvPr/>
          </p:nvSpPr>
          <p:spPr>
            <a:xfrm>
              <a:off x="4678070" y="4986452"/>
              <a:ext cx="894283" cy="894283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0" name="Connector 9087"/>
            <p:cNvCxnSpPr/>
            <p:nvPr/>
          </p:nvCxnSpPr>
          <p:spPr>
            <a:xfrm>
              <a:off x="5572354" y="5210023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Oval 9088"/>
            <p:cNvSpPr/>
            <p:nvPr/>
          </p:nvSpPr>
          <p:spPr>
            <a:xfrm>
              <a:off x="5556352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Oval 9089"/>
            <p:cNvSpPr/>
            <p:nvPr/>
          </p:nvSpPr>
          <p:spPr>
            <a:xfrm>
              <a:off x="5854446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9090"/>
            <p:cNvSpPr/>
            <p:nvPr/>
          </p:nvSpPr>
          <p:spPr>
            <a:xfrm>
              <a:off x="5061204" y="5210023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Arc 9091"/>
            <p:cNvSpPr/>
            <p:nvPr/>
          </p:nvSpPr>
          <p:spPr>
            <a:xfrm>
              <a:off x="7659014" y="4762881"/>
              <a:ext cx="894283" cy="894283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Arc 9092"/>
            <p:cNvSpPr/>
            <p:nvPr/>
          </p:nvSpPr>
          <p:spPr>
            <a:xfrm>
              <a:off x="7659014" y="4986452"/>
              <a:ext cx="894283" cy="894283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6" name="Connector 9093"/>
            <p:cNvCxnSpPr/>
            <p:nvPr/>
          </p:nvCxnSpPr>
          <p:spPr>
            <a:xfrm>
              <a:off x="7659014" y="5210023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9094"/>
            <p:cNvSpPr/>
            <p:nvPr/>
          </p:nvSpPr>
          <p:spPr>
            <a:xfrm>
              <a:off x="7643012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Oval 9095"/>
            <p:cNvSpPr/>
            <p:nvPr/>
          </p:nvSpPr>
          <p:spPr>
            <a:xfrm>
              <a:off x="7344918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9096"/>
            <p:cNvSpPr/>
            <p:nvPr/>
          </p:nvSpPr>
          <p:spPr>
            <a:xfrm>
              <a:off x="8106156" y="5210023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0" name="Connector 9097"/>
          <p:cNvCxnSpPr/>
          <p:nvPr/>
        </p:nvCxnSpPr>
        <p:spPr>
          <a:xfrm>
            <a:off x="8215884" y="4498848"/>
            <a:ext cx="0" cy="164592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9098"/>
          <p:cNvSpPr txBox="1"/>
          <p:nvPr/>
        </p:nvSpPr>
        <p:spPr>
          <a:xfrm>
            <a:off x="8270748" y="4471416"/>
            <a:ext cx="1495044" cy="17007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COACHING POINTS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coaching points]</a:t>
            </a:r>
          </a:p>
        </p:txBody>
      </p:sp>
      <p:cxnSp>
        <p:nvCxnSpPr>
          <p:cNvPr id="142" name="Connector 9099"/>
          <p:cNvCxnSpPr/>
          <p:nvPr/>
        </p:nvCxnSpPr>
        <p:spPr>
          <a:xfrm>
            <a:off x="5079492" y="6217920"/>
            <a:ext cx="46863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9100"/>
          <p:cNvSpPr txBox="1"/>
          <p:nvPr/>
        </p:nvSpPr>
        <p:spPr>
          <a:xfrm>
            <a:off x="5079492" y="6236208"/>
            <a:ext cx="2084832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SETUP / CONSTRAINTS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setup]</a:t>
            </a:r>
          </a:p>
        </p:txBody>
      </p:sp>
      <p:sp>
        <p:nvSpPr>
          <p:cNvPr id="144" name="TextBox 9101"/>
          <p:cNvSpPr txBox="1"/>
          <p:nvPr/>
        </p:nvSpPr>
        <p:spPr>
          <a:xfrm>
            <a:off x="7246620" y="6236208"/>
            <a:ext cx="1188720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PROGRESSION  ↑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[Harder]</a:t>
            </a:r>
          </a:p>
        </p:txBody>
      </p:sp>
      <p:sp>
        <p:nvSpPr>
          <p:cNvPr id="145" name="TextBox 9102"/>
          <p:cNvSpPr txBox="1"/>
          <p:nvPr/>
        </p:nvSpPr>
        <p:spPr>
          <a:xfrm>
            <a:off x="8545068" y="6236208"/>
            <a:ext cx="1207008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REGRESSION  ↓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[Easier]</a:t>
            </a:r>
          </a:p>
        </p:txBody>
      </p:sp>
      <p:cxnSp>
        <p:nvCxnSpPr>
          <p:cNvPr id="146" name="Connector 9103"/>
          <p:cNvCxnSpPr/>
          <p:nvPr/>
        </p:nvCxnSpPr>
        <p:spPr>
          <a:xfrm>
            <a:off x="7173468" y="6263640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9104"/>
          <p:cNvCxnSpPr/>
          <p:nvPr/>
        </p:nvCxnSpPr>
        <p:spPr>
          <a:xfrm>
            <a:off x="8471916" y="6263640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9105"/>
          <p:cNvSpPr/>
          <p:nvPr/>
        </p:nvSpPr>
        <p:spPr>
          <a:xfrm>
            <a:off x="9902952" y="1170432"/>
            <a:ext cx="2148840" cy="55504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9106"/>
          <p:cNvSpPr/>
          <p:nvPr/>
        </p:nvSpPr>
        <p:spPr>
          <a:xfrm>
            <a:off x="9902952" y="1170432"/>
            <a:ext cx="2148840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9107"/>
          <p:cNvSpPr txBox="1"/>
          <p:nvPr/>
        </p:nvSpPr>
        <p:spPr>
          <a:xfrm>
            <a:off x="9948672" y="1211580"/>
            <a:ext cx="2057400" cy="21945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rgbClr val="FFFFFF"/>
                </a:solidFill>
                <a:latin typeface="Calibri"/>
              </a:rPr>
              <a:t>AVAILABLE PLAYERS / POSITIONS</a:t>
            </a:r>
          </a:p>
        </p:txBody>
      </p:sp>
      <p:sp>
        <p:nvSpPr>
          <p:cNvPr id="151" name="TextBox 9108"/>
          <p:cNvSpPr txBox="1"/>
          <p:nvPr/>
        </p:nvSpPr>
        <p:spPr>
          <a:xfrm>
            <a:off x="9948672" y="1472184"/>
            <a:ext cx="2057400" cy="21945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TOTAL </a:t>
            </a:r>
            <a:r>
              <a:rPr sz="900" b="1" lang="en-GB">
                <a:solidFill>
                  <a:srgbClr val="1A1A1A"/>
                </a:solidFill>
                <a:latin typeface="Calibri"/>
              </a:rPr>
              <a:t>[#]   </a:t>
            </a:r>
            <a:r>
              <a:rPr sz="700" b="1" lang="en-GB">
                <a:solidFill>
                  <a:srgbClr val="6B6B6B"/>
                </a:solidFill>
                <a:latin typeface="Calibri"/>
              </a:rPr>
              <a:t>GK </a:t>
            </a:r>
            <a:r>
              <a:rPr sz="900" b="1" lang="en-GB">
                <a:solidFill>
                  <a:srgbClr val="1A1A1A"/>
                </a:solidFill>
                <a:latin typeface="Calibri"/>
              </a:rPr>
              <a:t>[#]   </a:t>
            </a:r>
            <a:r>
              <a:rPr sz="700" b="1" lang="en-GB">
                <a:solidFill>
                  <a:srgbClr val="6B6B6B"/>
                </a:solidFill>
                <a:latin typeface="Calibri"/>
              </a:rPr>
              <a:t>OUTFIELD </a:t>
            </a:r>
            <a:r>
              <a:rPr sz="900" b="1" lang="en-GB">
                <a:solidFill>
                  <a:srgbClr val="1A1A1A"/>
                </a:solidFill>
                <a:latin typeface="Calibri"/>
              </a:rPr>
              <a:t>[#]</a:t>
            </a:r>
          </a:p>
        </p:txBody>
      </p:sp>
      <p:graphicFrame>
        <p:nvGraphicFramePr>
          <p:cNvPr id="152" name="Table 9109"/>
          <p:cNvGraphicFramePr>
            <a:graphicFrameLocks noGrp="1"/>
          </p:cNvGraphicFramePr>
          <p:nvPr/>
        </p:nvGraphicFramePr>
        <p:xfrm>
          <a:off x="9948672" y="1719072"/>
          <a:ext cx="2057400" cy="3703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5488"/>
                <a:gridCol w="987552"/>
                <a:gridCol w="59436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GK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GK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FIXO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FIXO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FIXO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PIVOT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PIVOT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PIVOT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cxnSp>
        <p:nvCxnSpPr>
          <p:cNvPr id="153" name="Connector 9110"/>
          <p:cNvCxnSpPr/>
          <p:nvPr/>
        </p:nvCxnSpPr>
        <p:spPr>
          <a:xfrm>
            <a:off x="9948672" y="5971032"/>
            <a:ext cx="20574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9111"/>
          <p:cNvSpPr txBox="1"/>
          <p:nvPr/>
        </p:nvSpPr>
        <p:spPr>
          <a:xfrm>
            <a:off x="9948672" y="5998464"/>
            <a:ext cx="2057400" cy="67665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SQUAD NOTES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status notes]</a:t>
            </a:r>
          </a:p>
        </p:txBody>
      </p:sp>
      <p:sp>
        <p:nvSpPr>
          <p:cNvPr id="155" name="TextBox 9112"/>
          <p:cNvSpPr txBox="1"/>
          <p:nvPr/>
        </p:nvSpPr>
        <p:spPr>
          <a:xfrm>
            <a:off x="137160" y="6725412"/>
            <a:ext cx="11917375" cy="1234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0" lang="en-GB">
                <a:solidFill>
                  <a:srgbClr val="6B6B6B"/>
                </a:solidFill>
                <a:latin typeface="Calibri"/>
              </a:rPr>
              <a:t>WORKING COPY  —  ready to edit  ·  duplicate weekly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18288"/>
            <a:ext cx="3931920" cy="4663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rgbClr val="6B6B6B"/>
                </a:solidFill>
                <a:latin typeface="Calibri"/>
              </a:rPr>
              <a:t>[INSERT TEAM]  ·  FUTSAL SESSION PLAN</a:t>
            </a:r>
          </a:p>
          <a:p>
            <a:pPr algn="l"/>
            <a:r>
              <a:rPr sz="2000" b="1" lang="en-GB">
                <a:solidFill>
                  <a:srgbClr val="1A1A1A"/>
                </a:solidFill>
                <a:latin typeface="Calibri"/>
              </a:rPr>
              <a:t>[Insert session 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24528" y="64008"/>
            <a:ext cx="1325880" cy="4023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DATE</a:t>
            </a:r>
          </a:p>
          <a:p>
            <a:pPr algn="l"/>
            <a:r>
              <a:rPr sz="950" b="0" lang="en-GB">
                <a:solidFill>
                  <a:srgbClr val="1A1A1A"/>
                </a:solidFill>
                <a:latin typeface="Calibri"/>
              </a:rPr>
              <a:t>[Insert date]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41848" y="64008"/>
            <a:ext cx="1783080" cy="4023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VENUE</a:t>
            </a:r>
          </a:p>
          <a:p>
            <a:pPr algn="l"/>
            <a:r>
              <a:rPr sz="950" b="0" lang="en-GB">
                <a:solidFill>
                  <a:srgbClr val="1A1A1A"/>
                </a:solidFill>
                <a:latin typeface="Calibri"/>
              </a:rPr>
              <a:t>[Insert venue]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16368" y="64008"/>
            <a:ext cx="1325880" cy="4023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DURATION</a:t>
            </a:r>
          </a:p>
          <a:p>
            <a:pPr algn="l"/>
            <a:r>
              <a:rPr sz="950" b="1" lang="en-GB">
                <a:solidFill>
                  <a:srgbClr val="1A1A1A"/>
                </a:solidFill>
                <a:latin typeface="Calibri"/>
              </a:rPr>
              <a:t>[Insert duration]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33688" y="64008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STAFF</a:t>
            </a:r>
          </a:p>
          <a:p>
            <a:pPr algn="l"/>
            <a:r>
              <a:rPr sz="950" b="0" lang="en-GB">
                <a:solidFill>
                  <a:srgbClr val="1A1A1A"/>
                </a:solidFill>
                <a:latin typeface="Calibri"/>
              </a:rPr>
              <a:t>[Insert staff]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"/>
            <a:ext cx="12191695" cy="182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21208"/>
            <a:ext cx="12191695" cy="594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566928"/>
            <a:ext cx="301752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chemeClr val="accent1"/>
                </a:solidFill>
                <a:latin typeface="Calibri"/>
              </a:rPr>
              <a:t>SESSION THEME / OBJECTIVE</a:t>
            </a:r>
          </a:p>
          <a:p>
            <a:pPr algn="l"/>
            <a:r>
              <a:rPr sz="1100" b="1" lang="en-GB">
                <a:solidFill>
                  <a:srgbClr val="1A1A1A"/>
                </a:solidFill>
                <a:latin typeface="Calibri"/>
              </a:rPr>
              <a:t>[Insert focus]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66928"/>
            <a:ext cx="315468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KEY COACHING OUTCOMES</a:t>
            </a:r>
          </a:p>
          <a:p>
            <a:pPr algn="l"/>
            <a:r>
              <a:rPr sz="850" b="0" lang="en-GB">
                <a:solidFill>
                  <a:srgbClr val="1A1A1A"/>
                </a:solidFill>
                <a:latin typeface="Calibri"/>
              </a:rPr>
              <a:t>[Insert key outcomes]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8" y="612648"/>
            <a:ext cx="0" cy="41148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0" y="566928"/>
            <a:ext cx="274320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KEY CONSTRAINTS</a:t>
            </a:r>
          </a:p>
          <a:p>
            <a:pPr algn="l"/>
            <a:r>
              <a:rPr sz="850" b="0" lang="en-GB">
                <a:solidFill>
                  <a:srgbClr val="1A1A1A"/>
                </a:solidFill>
                <a:latin typeface="Calibri"/>
              </a:rPr>
              <a:t>[Insert constraints]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10528" y="612648"/>
            <a:ext cx="0" cy="41148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64040" y="566928"/>
            <a:ext cx="2587752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KEY REMINDERS</a:t>
            </a:r>
          </a:p>
          <a:p>
            <a:pPr algn="l"/>
            <a:r>
              <a:rPr sz="850" b="0" lang="en-GB">
                <a:solidFill>
                  <a:srgbClr val="1A1A1A"/>
                </a:solidFill>
                <a:latin typeface="Calibri"/>
              </a:rPr>
              <a:t>[Insert reminders]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90888" y="612648"/>
            <a:ext cx="0" cy="41148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37160" y="1170432"/>
            <a:ext cx="48143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" y="1170432"/>
            <a:ext cx="481431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" y="1170432"/>
            <a:ext cx="45720" cy="256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1184148"/>
            <a:ext cx="329184" cy="2286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" y="1197864"/>
            <a:ext cx="1664208" cy="21031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WARM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1202436"/>
            <a:ext cx="1431036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00" b="1" lang="en-GB">
                <a:solidFill>
                  <a:srgbClr val="6B6B6B"/>
                </a:solidFill>
                <a:latin typeface="Calibri"/>
              </a:rPr>
              <a:t>LEAD  </a:t>
            </a:r>
            <a:r>
              <a:rPr sz="800" b="0" lang="en-GB">
                <a:solidFill>
                  <a:srgbClr val="1A1A1A"/>
                </a:solidFill>
                <a:latin typeface="Calibri"/>
              </a:rPr>
              <a:t>[Insert responsibility]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62756" y="1202436"/>
            <a:ext cx="1115568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>
                <a:solidFill>
                  <a:schemeClr val="accent1"/>
                </a:solidFill>
                <a:latin typeface="Calibri"/>
              </a:rPr>
              <a:t>[Insert timing]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1444752"/>
            <a:ext cx="46863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OBJECTIVE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objective]</a:t>
            </a:r>
          </a:p>
        </p:txBody>
      </p:sp>
      <p:grpSp>
        <p:nvGrpSpPr>
          <p:cNvPr id="24" name="Court 01"/>
          <p:cNvGrpSpPr/>
          <p:nvPr/>
        </p:nvGrpSpPr>
        <p:grpSpPr>
          <a:xfrm>
            <a:off x="182880" y="1769364"/>
            <a:ext cx="3108960" cy="1490472"/>
            <a:chOff x="182880" y="1769364"/>
            <a:chExt cx="3108960" cy="1490472"/>
          </a:xfrm>
        </p:grpSpPr>
        <p:sp>
          <p:nvSpPr>
            <p:cNvPr id="25" name="Rectangle 23"/>
            <p:cNvSpPr/>
            <p:nvPr/>
          </p:nvSpPr>
          <p:spPr>
            <a:xfrm>
              <a:off x="246888" y="1769364"/>
              <a:ext cx="2980944" cy="149047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4"/>
            <p:cNvCxnSpPr/>
            <p:nvPr/>
          </p:nvCxnSpPr>
          <p:spPr>
            <a:xfrm>
              <a:off x="1737360" y="1769364"/>
              <a:ext cx="0" cy="149047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5"/>
            <p:cNvSpPr/>
            <p:nvPr/>
          </p:nvSpPr>
          <p:spPr>
            <a:xfrm>
              <a:off x="1513789" y="2291029"/>
              <a:ext cx="447142" cy="447142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6"/>
            <p:cNvSpPr/>
            <p:nvPr/>
          </p:nvSpPr>
          <p:spPr>
            <a:xfrm>
              <a:off x="1721358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Arc 27"/>
            <p:cNvSpPr/>
            <p:nvPr/>
          </p:nvSpPr>
          <p:spPr>
            <a:xfrm>
              <a:off x="-200254" y="1955673"/>
              <a:ext cx="894283" cy="894283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Arc 28"/>
            <p:cNvSpPr/>
            <p:nvPr/>
          </p:nvSpPr>
          <p:spPr>
            <a:xfrm>
              <a:off x="-200254" y="2179244"/>
              <a:ext cx="894283" cy="894283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29"/>
            <p:cNvCxnSpPr/>
            <p:nvPr/>
          </p:nvCxnSpPr>
          <p:spPr>
            <a:xfrm>
              <a:off x="694030" y="2402815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0"/>
            <p:cNvSpPr/>
            <p:nvPr/>
          </p:nvSpPr>
          <p:spPr>
            <a:xfrm>
              <a:off x="678028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1"/>
            <p:cNvSpPr/>
            <p:nvPr/>
          </p:nvSpPr>
          <p:spPr>
            <a:xfrm>
              <a:off x="976122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2"/>
            <p:cNvSpPr/>
            <p:nvPr/>
          </p:nvSpPr>
          <p:spPr>
            <a:xfrm>
              <a:off x="182880" y="2402815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Arc 33"/>
            <p:cNvSpPr/>
            <p:nvPr/>
          </p:nvSpPr>
          <p:spPr>
            <a:xfrm>
              <a:off x="2780690" y="1955673"/>
              <a:ext cx="894283" cy="894283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Arc 34"/>
            <p:cNvSpPr/>
            <p:nvPr/>
          </p:nvSpPr>
          <p:spPr>
            <a:xfrm>
              <a:off x="2780690" y="2179244"/>
              <a:ext cx="894283" cy="894283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Connector 35"/>
            <p:cNvCxnSpPr/>
            <p:nvPr/>
          </p:nvCxnSpPr>
          <p:spPr>
            <a:xfrm>
              <a:off x="2780690" y="2402815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6"/>
            <p:cNvSpPr/>
            <p:nvPr/>
          </p:nvSpPr>
          <p:spPr>
            <a:xfrm>
              <a:off x="2764688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7"/>
            <p:cNvSpPr/>
            <p:nvPr/>
          </p:nvSpPr>
          <p:spPr>
            <a:xfrm>
              <a:off x="2466594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8"/>
            <p:cNvSpPr/>
            <p:nvPr/>
          </p:nvSpPr>
          <p:spPr>
            <a:xfrm>
              <a:off x="3227832" y="2402815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1" name="Connector 9001"/>
          <p:cNvCxnSpPr/>
          <p:nvPr/>
        </p:nvCxnSpPr>
        <p:spPr>
          <a:xfrm>
            <a:off x="3337560" y="1691640"/>
            <a:ext cx="0" cy="164592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9002"/>
          <p:cNvSpPr txBox="1"/>
          <p:nvPr/>
        </p:nvSpPr>
        <p:spPr>
          <a:xfrm>
            <a:off x="3392424" y="1664208"/>
            <a:ext cx="1495044" cy="17007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COACHING POINTS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coaching points]</a:t>
            </a:r>
          </a:p>
        </p:txBody>
      </p:sp>
      <p:cxnSp>
        <p:nvCxnSpPr>
          <p:cNvPr id="43" name="Connector 9003"/>
          <p:cNvCxnSpPr/>
          <p:nvPr/>
        </p:nvCxnSpPr>
        <p:spPr>
          <a:xfrm>
            <a:off x="201168" y="3410712"/>
            <a:ext cx="46863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9004"/>
          <p:cNvSpPr txBox="1"/>
          <p:nvPr/>
        </p:nvSpPr>
        <p:spPr>
          <a:xfrm>
            <a:off x="201168" y="3429000"/>
            <a:ext cx="2084832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SETUP / CONSTRAINTS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setup]</a:t>
            </a:r>
          </a:p>
        </p:txBody>
      </p:sp>
      <p:sp>
        <p:nvSpPr>
          <p:cNvPr id="45" name="TextBox 9005"/>
          <p:cNvSpPr txBox="1"/>
          <p:nvPr/>
        </p:nvSpPr>
        <p:spPr>
          <a:xfrm>
            <a:off x="2368296" y="3429000"/>
            <a:ext cx="1188720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PROGRESSION  ↑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[Harder]</a:t>
            </a:r>
          </a:p>
        </p:txBody>
      </p:sp>
      <p:sp>
        <p:nvSpPr>
          <p:cNvPr id="46" name="TextBox 9006"/>
          <p:cNvSpPr txBox="1"/>
          <p:nvPr/>
        </p:nvSpPr>
        <p:spPr>
          <a:xfrm>
            <a:off x="3666744" y="3429000"/>
            <a:ext cx="1207008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REGRESSION  ↓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[Easier]</a:t>
            </a:r>
          </a:p>
        </p:txBody>
      </p:sp>
      <p:cxnSp>
        <p:nvCxnSpPr>
          <p:cNvPr id="47" name="Connector 9007"/>
          <p:cNvCxnSpPr/>
          <p:nvPr/>
        </p:nvCxnSpPr>
        <p:spPr>
          <a:xfrm>
            <a:off x="2295144" y="3456432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9008"/>
          <p:cNvCxnSpPr/>
          <p:nvPr/>
        </p:nvCxnSpPr>
        <p:spPr>
          <a:xfrm>
            <a:off x="3593592" y="3456432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9009"/>
          <p:cNvSpPr/>
          <p:nvPr/>
        </p:nvSpPr>
        <p:spPr>
          <a:xfrm>
            <a:off x="5015484" y="1170432"/>
            <a:ext cx="48143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9010"/>
          <p:cNvSpPr/>
          <p:nvPr/>
        </p:nvSpPr>
        <p:spPr>
          <a:xfrm>
            <a:off x="5015484" y="1170432"/>
            <a:ext cx="481431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9011"/>
          <p:cNvSpPr/>
          <p:nvPr/>
        </p:nvSpPr>
        <p:spPr>
          <a:xfrm>
            <a:off x="5015484" y="1170432"/>
            <a:ext cx="45720" cy="256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9012"/>
          <p:cNvSpPr txBox="1"/>
          <p:nvPr/>
        </p:nvSpPr>
        <p:spPr>
          <a:xfrm>
            <a:off x="5079492" y="1184148"/>
            <a:ext cx="329184" cy="2286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02</a:t>
            </a:r>
          </a:p>
        </p:txBody>
      </p:sp>
      <p:sp>
        <p:nvSpPr>
          <p:cNvPr id="53" name="TextBox 9013"/>
          <p:cNvSpPr txBox="1"/>
          <p:nvPr/>
        </p:nvSpPr>
        <p:spPr>
          <a:xfrm>
            <a:off x="5417820" y="1197864"/>
            <a:ext cx="1664208" cy="21031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TECHNICAL / POSSESSION</a:t>
            </a:r>
          </a:p>
        </p:txBody>
      </p:sp>
      <p:sp>
        <p:nvSpPr>
          <p:cNvPr id="54" name="TextBox 9014"/>
          <p:cNvSpPr txBox="1"/>
          <p:nvPr/>
        </p:nvSpPr>
        <p:spPr>
          <a:xfrm>
            <a:off x="7118604" y="1202436"/>
            <a:ext cx="1431036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00" b="1" lang="en-GB">
                <a:solidFill>
                  <a:srgbClr val="6B6B6B"/>
                </a:solidFill>
                <a:latin typeface="Calibri"/>
              </a:rPr>
              <a:t>LEAD  </a:t>
            </a:r>
            <a:r>
              <a:rPr sz="800" b="0" lang="en-GB">
                <a:solidFill>
                  <a:srgbClr val="1A1A1A"/>
                </a:solidFill>
                <a:latin typeface="Calibri"/>
              </a:rPr>
              <a:t>[Insert responsibility]</a:t>
            </a:r>
          </a:p>
        </p:txBody>
      </p:sp>
      <p:sp>
        <p:nvSpPr>
          <p:cNvPr id="55" name="Rounded Rectangle 9015"/>
          <p:cNvSpPr/>
          <p:nvPr/>
        </p:nvSpPr>
        <p:spPr>
          <a:xfrm>
            <a:off x="8641080" y="1202436"/>
            <a:ext cx="1115568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>
                <a:solidFill>
                  <a:schemeClr val="accent1"/>
                </a:solidFill>
                <a:latin typeface="Calibri"/>
              </a:rPr>
              <a:t>[Insert timing]</a:t>
            </a:r>
          </a:p>
        </p:txBody>
      </p:sp>
      <p:sp>
        <p:nvSpPr>
          <p:cNvPr id="56" name="TextBox 9016"/>
          <p:cNvSpPr txBox="1"/>
          <p:nvPr/>
        </p:nvSpPr>
        <p:spPr>
          <a:xfrm>
            <a:off x="5079492" y="1444752"/>
            <a:ext cx="46863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OBJECTIVE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objective]</a:t>
            </a:r>
          </a:p>
        </p:txBody>
      </p:sp>
      <p:grpSp>
        <p:nvGrpSpPr>
          <p:cNvPr id="57" name="Court 02"/>
          <p:cNvGrpSpPr/>
          <p:nvPr/>
        </p:nvGrpSpPr>
        <p:grpSpPr>
          <a:xfrm>
            <a:off x="5061204" y="1769364"/>
            <a:ext cx="3108960" cy="1490472"/>
            <a:chOff x="5061204" y="1769364"/>
            <a:chExt cx="3108960" cy="1490472"/>
          </a:xfrm>
        </p:grpSpPr>
        <p:sp>
          <p:nvSpPr>
            <p:cNvPr id="58" name="Rectangle 9017"/>
            <p:cNvSpPr/>
            <p:nvPr/>
          </p:nvSpPr>
          <p:spPr>
            <a:xfrm>
              <a:off x="5125212" y="1769364"/>
              <a:ext cx="2980944" cy="149047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Connector 9018"/>
            <p:cNvCxnSpPr/>
            <p:nvPr/>
          </p:nvCxnSpPr>
          <p:spPr>
            <a:xfrm>
              <a:off x="6615684" y="1769364"/>
              <a:ext cx="0" cy="149047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9019"/>
            <p:cNvSpPr/>
            <p:nvPr/>
          </p:nvSpPr>
          <p:spPr>
            <a:xfrm>
              <a:off x="6392113" y="2291029"/>
              <a:ext cx="447142" cy="447142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9020"/>
            <p:cNvSpPr/>
            <p:nvPr/>
          </p:nvSpPr>
          <p:spPr>
            <a:xfrm>
              <a:off x="6599682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Arc 9021"/>
            <p:cNvSpPr/>
            <p:nvPr/>
          </p:nvSpPr>
          <p:spPr>
            <a:xfrm>
              <a:off x="4678070" y="1955673"/>
              <a:ext cx="894283" cy="894283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Arc 9022"/>
            <p:cNvSpPr/>
            <p:nvPr/>
          </p:nvSpPr>
          <p:spPr>
            <a:xfrm>
              <a:off x="4678070" y="2179244"/>
              <a:ext cx="894283" cy="894283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Connector 9023"/>
            <p:cNvCxnSpPr/>
            <p:nvPr/>
          </p:nvCxnSpPr>
          <p:spPr>
            <a:xfrm>
              <a:off x="5572354" y="2402815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Oval 9024"/>
            <p:cNvSpPr/>
            <p:nvPr/>
          </p:nvSpPr>
          <p:spPr>
            <a:xfrm>
              <a:off x="5556352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9025"/>
            <p:cNvSpPr/>
            <p:nvPr/>
          </p:nvSpPr>
          <p:spPr>
            <a:xfrm>
              <a:off x="5854446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9026"/>
            <p:cNvSpPr/>
            <p:nvPr/>
          </p:nvSpPr>
          <p:spPr>
            <a:xfrm>
              <a:off x="5061204" y="2402815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Arc 9027"/>
            <p:cNvSpPr/>
            <p:nvPr/>
          </p:nvSpPr>
          <p:spPr>
            <a:xfrm>
              <a:off x="7659014" y="1955673"/>
              <a:ext cx="894283" cy="894283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Arc 9028"/>
            <p:cNvSpPr/>
            <p:nvPr/>
          </p:nvSpPr>
          <p:spPr>
            <a:xfrm>
              <a:off x="7659014" y="2179244"/>
              <a:ext cx="894283" cy="894283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0" name="Connector 9029"/>
            <p:cNvCxnSpPr/>
            <p:nvPr/>
          </p:nvCxnSpPr>
          <p:spPr>
            <a:xfrm>
              <a:off x="7659014" y="2402815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9030"/>
            <p:cNvSpPr/>
            <p:nvPr/>
          </p:nvSpPr>
          <p:spPr>
            <a:xfrm>
              <a:off x="7643012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9031"/>
            <p:cNvSpPr/>
            <p:nvPr/>
          </p:nvSpPr>
          <p:spPr>
            <a:xfrm>
              <a:off x="7344918" y="249859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9032"/>
            <p:cNvSpPr/>
            <p:nvPr/>
          </p:nvSpPr>
          <p:spPr>
            <a:xfrm>
              <a:off x="8106156" y="2402815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74" name="Connector 9033"/>
          <p:cNvCxnSpPr/>
          <p:nvPr/>
        </p:nvCxnSpPr>
        <p:spPr>
          <a:xfrm>
            <a:off x="8215884" y="1691640"/>
            <a:ext cx="0" cy="164592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9034"/>
          <p:cNvSpPr txBox="1"/>
          <p:nvPr/>
        </p:nvSpPr>
        <p:spPr>
          <a:xfrm>
            <a:off x="8270748" y="1664208"/>
            <a:ext cx="1495044" cy="17007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COACHING POINTS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coaching points]</a:t>
            </a:r>
          </a:p>
        </p:txBody>
      </p:sp>
      <p:cxnSp>
        <p:nvCxnSpPr>
          <p:cNvPr id="76" name="Connector 9035"/>
          <p:cNvCxnSpPr/>
          <p:nvPr/>
        </p:nvCxnSpPr>
        <p:spPr>
          <a:xfrm>
            <a:off x="5079492" y="3410712"/>
            <a:ext cx="46863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9036"/>
          <p:cNvSpPr txBox="1"/>
          <p:nvPr/>
        </p:nvSpPr>
        <p:spPr>
          <a:xfrm>
            <a:off x="5079492" y="3429000"/>
            <a:ext cx="2084832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SETUP / CONSTRAINTS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setup]</a:t>
            </a:r>
          </a:p>
        </p:txBody>
      </p:sp>
      <p:sp>
        <p:nvSpPr>
          <p:cNvPr id="78" name="TextBox 9037"/>
          <p:cNvSpPr txBox="1"/>
          <p:nvPr/>
        </p:nvSpPr>
        <p:spPr>
          <a:xfrm>
            <a:off x="7246620" y="3429000"/>
            <a:ext cx="1188720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PROGRESSION  ↑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[Harder]</a:t>
            </a:r>
          </a:p>
        </p:txBody>
      </p:sp>
      <p:sp>
        <p:nvSpPr>
          <p:cNvPr id="79" name="TextBox 9038"/>
          <p:cNvSpPr txBox="1"/>
          <p:nvPr/>
        </p:nvSpPr>
        <p:spPr>
          <a:xfrm>
            <a:off x="8545068" y="3429000"/>
            <a:ext cx="1207008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REGRESSION  ↓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[Easier]</a:t>
            </a:r>
          </a:p>
        </p:txBody>
      </p:sp>
      <p:cxnSp>
        <p:nvCxnSpPr>
          <p:cNvPr id="80" name="Connector 9039"/>
          <p:cNvCxnSpPr/>
          <p:nvPr/>
        </p:nvCxnSpPr>
        <p:spPr>
          <a:xfrm>
            <a:off x="7173468" y="3456432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9040"/>
          <p:cNvCxnSpPr/>
          <p:nvPr/>
        </p:nvCxnSpPr>
        <p:spPr>
          <a:xfrm>
            <a:off x="8471916" y="3456432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9041"/>
          <p:cNvSpPr/>
          <p:nvPr/>
        </p:nvSpPr>
        <p:spPr>
          <a:xfrm>
            <a:off x="137160" y="3977640"/>
            <a:ext cx="48143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9042"/>
          <p:cNvSpPr/>
          <p:nvPr/>
        </p:nvSpPr>
        <p:spPr>
          <a:xfrm>
            <a:off x="137160" y="3977640"/>
            <a:ext cx="481431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9043"/>
          <p:cNvSpPr/>
          <p:nvPr/>
        </p:nvSpPr>
        <p:spPr>
          <a:xfrm>
            <a:off x="137160" y="3977640"/>
            <a:ext cx="45720" cy="256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9044"/>
          <p:cNvSpPr txBox="1"/>
          <p:nvPr/>
        </p:nvSpPr>
        <p:spPr>
          <a:xfrm>
            <a:off x="201168" y="3991356"/>
            <a:ext cx="329184" cy="2286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03</a:t>
            </a:r>
          </a:p>
        </p:txBody>
      </p:sp>
      <p:sp>
        <p:nvSpPr>
          <p:cNvPr id="86" name="TextBox 9045"/>
          <p:cNvSpPr txBox="1"/>
          <p:nvPr/>
        </p:nvSpPr>
        <p:spPr>
          <a:xfrm>
            <a:off x="539496" y="4005072"/>
            <a:ext cx="1664208" cy="21031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TACTICAL ACTIVITY</a:t>
            </a:r>
          </a:p>
        </p:txBody>
      </p:sp>
      <p:sp>
        <p:nvSpPr>
          <p:cNvPr id="87" name="TextBox 9046"/>
          <p:cNvSpPr txBox="1"/>
          <p:nvPr/>
        </p:nvSpPr>
        <p:spPr>
          <a:xfrm>
            <a:off x="2240280" y="4009644"/>
            <a:ext cx="1431036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00" b="1" lang="en-GB">
                <a:solidFill>
                  <a:srgbClr val="6B6B6B"/>
                </a:solidFill>
                <a:latin typeface="Calibri"/>
              </a:rPr>
              <a:t>LEAD  </a:t>
            </a:r>
            <a:r>
              <a:rPr sz="800" b="0" lang="en-GB">
                <a:solidFill>
                  <a:srgbClr val="1A1A1A"/>
                </a:solidFill>
                <a:latin typeface="Calibri"/>
              </a:rPr>
              <a:t>[Insert responsibility]</a:t>
            </a:r>
          </a:p>
        </p:txBody>
      </p:sp>
      <p:sp>
        <p:nvSpPr>
          <p:cNvPr id="88" name="Rounded Rectangle 9047"/>
          <p:cNvSpPr/>
          <p:nvPr/>
        </p:nvSpPr>
        <p:spPr>
          <a:xfrm>
            <a:off x="3762756" y="4009644"/>
            <a:ext cx="1115568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>
                <a:solidFill>
                  <a:schemeClr val="accent1"/>
                </a:solidFill>
                <a:latin typeface="Calibri"/>
              </a:rPr>
              <a:t>[Insert timing]</a:t>
            </a:r>
          </a:p>
        </p:txBody>
      </p:sp>
      <p:sp>
        <p:nvSpPr>
          <p:cNvPr id="89" name="TextBox 9048"/>
          <p:cNvSpPr txBox="1"/>
          <p:nvPr/>
        </p:nvSpPr>
        <p:spPr>
          <a:xfrm>
            <a:off x="201168" y="4251960"/>
            <a:ext cx="46863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OBJECTIVE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objective]</a:t>
            </a:r>
          </a:p>
        </p:txBody>
      </p:sp>
      <p:grpSp>
        <p:nvGrpSpPr>
          <p:cNvPr id="90" name="Court 03"/>
          <p:cNvGrpSpPr/>
          <p:nvPr/>
        </p:nvGrpSpPr>
        <p:grpSpPr>
          <a:xfrm>
            <a:off x="182880" y="4576572"/>
            <a:ext cx="3108960" cy="1490472"/>
            <a:chOff x="182880" y="4576572"/>
            <a:chExt cx="3108960" cy="1490472"/>
          </a:xfrm>
        </p:grpSpPr>
        <p:sp>
          <p:nvSpPr>
            <p:cNvPr id="91" name="Rectangle 9049"/>
            <p:cNvSpPr/>
            <p:nvPr/>
          </p:nvSpPr>
          <p:spPr>
            <a:xfrm>
              <a:off x="246888" y="4576572"/>
              <a:ext cx="2980944" cy="149047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2" name="Connector 9050"/>
            <p:cNvCxnSpPr/>
            <p:nvPr/>
          </p:nvCxnSpPr>
          <p:spPr>
            <a:xfrm>
              <a:off x="1737360" y="4576572"/>
              <a:ext cx="0" cy="149047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Oval 9051"/>
            <p:cNvSpPr/>
            <p:nvPr/>
          </p:nvSpPr>
          <p:spPr>
            <a:xfrm>
              <a:off x="1513789" y="5098237"/>
              <a:ext cx="447142" cy="447142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052"/>
            <p:cNvSpPr/>
            <p:nvPr/>
          </p:nvSpPr>
          <p:spPr>
            <a:xfrm>
              <a:off x="1721358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Arc 9053"/>
            <p:cNvSpPr/>
            <p:nvPr/>
          </p:nvSpPr>
          <p:spPr>
            <a:xfrm>
              <a:off x="-200254" y="4762881"/>
              <a:ext cx="894283" cy="894283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Arc 9054"/>
            <p:cNvSpPr/>
            <p:nvPr/>
          </p:nvSpPr>
          <p:spPr>
            <a:xfrm>
              <a:off x="-200254" y="4986452"/>
              <a:ext cx="894283" cy="894283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7" name="Connector 9055"/>
            <p:cNvCxnSpPr/>
            <p:nvPr/>
          </p:nvCxnSpPr>
          <p:spPr>
            <a:xfrm>
              <a:off x="694030" y="5210023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056"/>
            <p:cNvSpPr/>
            <p:nvPr/>
          </p:nvSpPr>
          <p:spPr>
            <a:xfrm>
              <a:off x="678028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057"/>
            <p:cNvSpPr/>
            <p:nvPr/>
          </p:nvSpPr>
          <p:spPr>
            <a:xfrm>
              <a:off x="976122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Rectangle 9058"/>
            <p:cNvSpPr/>
            <p:nvPr/>
          </p:nvSpPr>
          <p:spPr>
            <a:xfrm>
              <a:off x="182880" y="5210023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Arc 9059"/>
            <p:cNvSpPr/>
            <p:nvPr/>
          </p:nvSpPr>
          <p:spPr>
            <a:xfrm>
              <a:off x="2780690" y="4762881"/>
              <a:ext cx="894283" cy="894283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Arc 9060"/>
            <p:cNvSpPr/>
            <p:nvPr/>
          </p:nvSpPr>
          <p:spPr>
            <a:xfrm>
              <a:off x="2780690" y="4986452"/>
              <a:ext cx="894283" cy="894283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3" name="Connector 9061"/>
            <p:cNvCxnSpPr/>
            <p:nvPr/>
          </p:nvCxnSpPr>
          <p:spPr>
            <a:xfrm>
              <a:off x="2780690" y="5210023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Oval 9062"/>
            <p:cNvSpPr/>
            <p:nvPr/>
          </p:nvSpPr>
          <p:spPr>
            <a:xfrm>
              <a:off x="2764688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9063"/>
            <p:cNvSpPr/>
            <p:nvPr/>
          </p:nvSpPr>
          <p:spPr>
            <a:xfrm>
              <a:off x="2466594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Rectangle 9064"/>
            <p:cNvSpPr/>
            <p:nvPr/>
          </p:nvSpPr>
          <p:spPr>
            <a:xfrm>
              <a:off x="3227832" y="5210023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07" name="Connector 9065"/>
          <p:cNvCxnSpPr/>
          <p:nvPr/>
        </p:nvCxnSpPr>
        <p:spPr>
          <a:xfrm>
            <a:off x="3337560" y="4498848"/>
            <a:ext cx="0" cy="164592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9066"/>
          <p:cNvSpPr txBox="1"/>
          <p:nvPr/>
        </p:nvSpPr>
        <p:spPr>
          <a:xfrm>
            <a:off x="3392424" y="4471416"/>
            <a:ext cx="1495044" cy="17007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COACHING POINTS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coaching points]</a:t>
            </a:r>
          </a:p>
        </p:txBody>
      </p:sp>
      <p:cxnSp>
        <p:nvCxnSpPr>
          <p:cNvPr id="109" name="Connector 9067"/>
          <p:cNvCxnSpPr/>
          <p:nvPr/>
        </p:nvCxnSpPr>
        <p:spPr>
          <a:xfrm>
            <a:off x="201168" y="6217920"/>
            <a:ext cx="46863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9068"/>
          <p:cNvSpPr txBox="1"/>
          <p:nvPr/>
        </p:nvSpPr>
        <p:spPr>
          <a:xfrm>
            <a:off x="201168" y="6236208"/>
            <a:ext cx="2084832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SETUP / CONSTRAINTS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setup]</a:t>
            </a:r>
          </a:p>
        </p:txBody>
      </p:sp>
      <p:sp>
        <p:nvSpPr>
          <p:cNvPr id="111" name="TextBox 9069"/>
          <p:cNvSpPr txBox="1"/>
          <p:nvPr/>
        </p:nvSpPr>
        <p:spPr>
          <a:xfrm>
            <a:off x="2368296" y="6236208"/>
            <a:ext cx="1188720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PROGRESSION  ↑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[Harder]</a:t>
            </a:r>
          </a:p>
        </p:txBody>
      </p:sp>
      <p:sp>
        <p:nvSpPr>
          <p:cNvPr id="112" name="TextBox 9070"/>
          <p:cNvSpPr txBox="1"/>
          <p:nvPr/>
        </p:nvSpPr>
        <p:spPr>
          <a:xfrm>
            <a:off x="3666744" y="6236208"/>
            <a:ext cx="1207008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REGRESSION  ↓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[Easier]</a:t>
            </a:r>
          </a:p>
        </p:txBody>
      </p:sp>
      <p:cxnSp>
        <p:nvCxnSpPr>
          <p:cNvPr id="113" name="Connector 9071"/>
          <p:cNvCxnSpPr/>
          <p:nvPr/>
        </p:nvCxnSpPr>
        <p:spPr>
          <a:xfrm>
            <a:off x="2295144" y="6263640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9072"/>
          <p:cNvCxnSpPr/>
          <p:nvPr/>
        </p:nvCxnSpPr>
        <p:spPr>
          <a:xfrm>
            <a:off x="3593592" y="6263640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9073"/>
          <p:cNvSpPr/>
          <p:nvPr/>
        </p:nvSpPr>
        <p:spPr>
          <a:xfrm>
            <a:off x="5015484" y="3977640"/>
            <a:ext cx="48143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9074"/>
          <p:cNvSpPr/>
          <p:nvPr/>
        </p:nvSpPr>
        <p:spPr>
          <a:xfrm>
            <a:off x="5015484" y="3977640"/>
            <a:ext cx="481431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9075"/>
          <p:cNvSpPr/>
          <p:nvPr/>
        </p:nvSpPr>
        <p:spPr>
          <a:xfrm>
            <a:off x="5015484" y="3977640"/>
            <a:ext cx="45720" cy="256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9076"/>
          <p:cNvSpPr txBox="1"/>
          <p:nvPr/>
        </p:nvSpPr>
        <p:spPr>
          <a:xfrm>
            <a:off x="5079492" y="3991356"/>
            <a:ext cx="329184" cy="2286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04</a:t>
            </a:r>
          </a:p>
        </p:txBody>
      </p:sp>
      <p:sp>
        <p:nvSpPr>
          <p:cNvPr id="119" name="TextBox 9077"/>
          <p:cNvSpPr txBox="1"/>
          <p:nvPr/>
        </p:nvSpPr>
        <p:spPr>
          <a:xfrm>
            <a:off x="5417820" y="4005072"/>
            <a:ext cx="1664208" cy="21031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GAME</a:t>
            </a:r>
          </a:p>
        </p:txBody>
      </p:sp>
      <p:sp>
        <p:nvSpPr>
          <p:cNvPr id="120" name="TextBox 9078"/>
          <p:cNvSpPr txBox="1"/>
          <p:nvPr/>
        </p:nvSpPr>
        <p:spPr>
          <a:xfrm>
            <a:off x="7118604" y="4009644"/>
            <a:ext cx="1431036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00" b="1" lang="en-GB">
                <a:solidFill>
                  <a:srgbClr val="6B6B6B"/>
                </a:solidFill>
                <a:latin typeface="Calibri"/>
              </a:rPr>
              <a:t>LEAD  </a:t>
            </a:r>
            <a:r>
              <a:rPr sz="800" b="0" lang="en-GB">
                <a:solidFill>
                  <a:srgbClr val="1A1A1A"/>
                </a:solidFill>
                <a:latin typeface="Calibri"/>
              </a:rPr>
              <a:t>[Insert responsibility]</a:t>
            </a:r>
          </a:p>
        </p:txBody>
      </p:sp>
      <p:sp>
        <p:nvSpPr>
          <p:cNvPr id="121" name="Rounded Rectangle 9079"/>
          <p:cNvSpPr/>
          <p:nvPr/>
        </p:nvSpPr>
        <p:spPr>
          <a:xfrm>
            <a:off x="8641080" y="4009644"/>
            <a:ext cx="1115568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>
                <a:solidFill>
                  <a:schemeClr val="accent1"/>
                </a:solidFill>
                <a:latin typeface="Calibri"/>
              </a:rPr>
              <a:t>[Insert timing]</a:t>
            </a:r>
          </a:p>
        </p:txBody>
      </p:sp>
      <p:sp>
        <p:nvSpPr>
          <p:cNvPr id="122" name="TextBox 9080"/>
          <p:cNvSpPr txBox="1"/>
          <p:nvPr/>
        </p:nvSpPr>
        <p:spPr>
          <a:xfrm>
            <a:off x="5079492" y="4251960"/>
            <a:ext cx="46863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OBJECTIVE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objective]</a:t>
            </a:r>
          </a:p>
        </p:txBody>
      </p:sp>
      <p:grpSp>
        <p:nvGrpSpPr>
          <p:cNvPr id="123" name="Court 04"/>
          <p:cNvGrpSpPr/>
          <p:nvPr/>
        </p:nvGrpSpPr>
        <p:grpSpPr>
          <a:xfrm>
            <a:off x="5061204" y="4576572"/>
            <a:ext cx="3108960" cy="1490472"/>
            <a:chOff x="5061204" y="4576572"/>
            <a:chExt cx="3108960" cy="1490472"/>
          </a:xfrm>
        </p:grpSpPr>
        <p:sp>
          <p:nvSpPr>
            <p:cNvPr id="124" name="Rectangle 9081"/>
            <p:cNvSpPr/>
            <p:nvPr/>
          </p:nvSpPr>
          <p:spPr>
            <a:xfrm>
              <a:off x="5125212" y="4576572"/>
              <a:ext cx="2980944" cy="149047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5" name="Connector 9082"/>
            <p:cNvCxnSpPr/>
            <p:nvPr/>
          </p:nvCxnSpPr>
          <p:spPr>
            <a:xfrm>
              <a:off x="6615684" y="4576572"/>
              <a:ext cx="0" cy="149047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Oval 9083"/>
            <p:cNvSpPr/>
            <p:nvPr/>
          </p:nvSpPr>
          <p:spPr>
            <a:xfrm>
              <a:off x="6392113" y="5098237"/>
              <a:ext cx="447142" cy="447142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9084"/>
            <p:cNvSpPr/>
            <p:nvPr/>
          </p:nvSpPr>
          <p:spPr>
            <a:xfrm>
              <a:off x="6599682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Arc 9085"/>
            <p:cNvSpPr/>
            <p:nvPr/>
          </p:nvSpPr>
          <p:spPr>
            <a:xfrm>
              <a:off x="4678070" y="4762881"/>
              <a:ext cx="894283" cy="894283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Arc 9086"/>
            <p:cNvSpPr/>
            <p:nvPr/>
          </p:nvSpPr>
          <p:spPr>
            <a:xfrm>
              <a:off x="4678070" y="4986452"/>
              <a:ext cx="894283" cy="894283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0" name="Connector 9087"/>
            <p:cNvCxnSpPr/>
            <p:nvPr/>
          </p:nvCxnSpPr>
          <p:spPr>
            <a:xfrm>
              <a:off x="5572354" y="5210023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Oval 9088"/>
            <p:cNvSpPr/>
            <p:nvPr/>
          </p:nvSpPr>
          <p:spPr>
            <a:xfrm>
              <a:off x="5556352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Oval 9089"/>
            <p:cNvSpPr/>
            <p:nvPr/>
          </p:nvSpPr>
          <p:spPr>
            <a:xfrm>
              <a:off x="5854446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9090"/>
            <p:cNvSpPr/>
            <p:nvPr/>
          </p:nvSpPr>
          <p:spPr>
            <a:xfrm>
              <a:off x="5061204" y="5210023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Arc 9091"/>
            <p:cNvSpPr/>
            <p:nvPr/>
          </p:nvSpPr>
          <p:spPr>
            <a:xfrm>
              <a:off x="7659014" y="4762881"/>
              <a:ext cx="894283" cy="894283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Arc 9092"/>
            <p:cNvSpPr/>
            <p:nvPr/>
          </p:nvSpPr>
          <p:spPr>
            <a:xfrm>
              <a:off x="7659014" y="4986452"/>
              <a:ext cx="894283" cy="894283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6" name="Connector 9093"/>
            <p:cNvCxnSpPr/>
            <p:nvPr/>
          </p:nvCxnSpPr>
          <p:spPr>
            <a:xfrm>
              <a:off x="7659014" y="5210023"/>
              <a:ext cx="0" cy="22357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9094"/>
            <p:cNvSpPr/>
            <p:nvPr/>
          </p:nvSpPr>
          <p:spPr>
            <a:xfrm>
              <a:off x="7643012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Oval 9095"/>
            <p:cNvSpPr/>
            <p:nvPr/>
          </p:nvSpPr>
          <p:spPr>
            <a:xfrm>
              <a:off x="7344918" y="5305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9096"/>
            <p:cNvSpPr/>
            <p:nvPr/>
          </p:nvSpPr>
          <p:spPr>
            <a:xfrm>
              <a:off x="8106156" y="5210023"/>
              <a:ext cx="64008" cy="223571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0" name="Connector 9097"/>
          <p:cNvCxnSpPr/>
          <p:nvPr/>
        </p:nvCxnSpPr>
        <p:spPr>
          <a:xfrm>
            <a:off x="8215884" y="4498848"/>
            <a:ext cx="0" cy="164592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9098"/>
          <p:cNvSpPr txBox="1"/>
          <p:nvPr/>
        </p:nvSpPr>
        <p:spPr>
          <a:xfrm>
            <a:off x="8270748" y="4471416"/>
            <a:ext cx="1495044" cy="17007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COACHING POINTS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coaching points]</a:t>
            </a:r>
          </a:p>
        </p:txBody>
      </p:sp>
      <p:cxnSp>
        <p:nvCxnSpPr>
          <p:cNvPr id="142" name="Connector 9099"/>
          <p:cNvCxnSpPr/>
          <p:nvPr/>
        </p:nvCxnSpPr>
        <p:spPr>
          <a:xfrm>
            <a:off x="5079492" y="6217920"/>
            <a:ext cx="46863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9100"/>
          <p:cNvSpPr txBox="1"/>
          <p:nvPr/>
        </p:nvSpPr>
        <p:spPr>
          <a:xfrm>
            <a:off x="5079492" y="6236208"/>
            <a:ext cx="2084832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SETUP / CONSTRAINTS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setup]</a:t>
            </a:r>
          </a:p>
        </p:txBody>
      </p:sp>
      <p:sp>
        <p:nvSpPr>
          <p:cNvPr id="144" name="TextBox 9101"/>
          <p:cNvSpPr txBox="1"/>
          <p:nvPr/>
        </p:nvSpPr>
        <p:spPr>
          <a:xfrm>
            <a:off x="7246620" y="6236208"/>
            <a:ext cx="1188720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PROGRESSION  ↑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[Harder]</a:t>
            </a:r>
          </a:p>
        </p:txBody>
      </p:sp>
      <p:sp>
        <p:nvSpPr>
          <p:cNvPr id="145" name="TextBox 9102"/>
          <p:cNvSpPr txBox="1"/>
          <p:nvPr/>
        </p:nvSpPr>
        <p:spPr>
          <a:xfrm>
            <a:off x="8545068" y="6236208"/>
            <a:ext cx="1207008" cy="4297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REGRESSION  ↓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[Easier]</a:t>
            </a:r>
          </a:p>
        </p:txBody>
      </p:sp>
      <p:cxnSp>
        <p:nvCxnSpPr>
          <p:cNvPr id="146" name="Connector 9103"/>
          <p:cNvCxnSpPr/>
          <p:nvPr/>
        </p:nvCxnSpPr>
        <p:spPr>
          <a:xfrm>
            <a:off x="7173468" y="6263640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9104"/>
          <p:cNvCxnSpPr/>
          <p:nvPr/>
        </p:nvCxnSpPr>
        <p:spPr>
          <a:xfrm>
            <a:off x="8471916" y="6263640"/>
            <a:ext cx="0" cy="402336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9105"/>
          <p:cNvSpPr/>
          <p:nvPr/>
        </p:nvSpPr>
        <p:spPr>
          <a:xfrm>
            <a:off x="9902952" y="1170432"/>
            <a:ext cx="2148840" cy="55504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9106"/>
          <p:cNvSpPr/>
          <p:nvPr/>
        </p:nvSpPr>
        <p:spPr>
          <a:xfrm>
            <a:off x="9902952" y="1170432"/>
            <a:ext cx="2148840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9107"/>
          <p:cNvSpPr txBox="1"/>
          <p:nvPr/>
        </p:nvSpPr>
        <p:spPr>
          <a:xfrm>
            <a:off x="9948672" y="1211580"/>
            <a:ext cx="2057400" cy="21945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rgbClr val="FFFFFF"/>
                </a:solidFill>
                <a:latin typeface="Calibri"/>
              </a:rPr>
              <a:t>AVAILABLE PLAYERS / POSITIONS</a:t>
            </a:r>
          </a:p>
        </p:txBody>
      </p:sp>
      <p:sp>
        <p:nvSpPr>
          <p:cNvPr id="151" name="TextBox 9108"/>
          <p:cNvSpPr txBox="1"/>
          <p:nvPr/>
        </p:nvSpPr>
        <p:spPr>
          <a:xfrm>
            <a:off x="9948672" y="1472184"/>
            <a:ext cx="2057400" cy="21945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TOTAL </a:t>
            </a:r>
            <a:r>
              <a:rPr sz="900" b="1" lang="en-GB">
                <a:solidFill>
                  <a:srgbClr val="1A1A1A"/>
                </a:solidFill>
                <a:latin typeface="Calibri"/>
              </a:rPr>
              <a:t>[#]   </a:t>
            </a:r>
            <a:r>
              <a:rPr sz="700" b="1" lang="en-GB">
                <a:solidFill>
                  <a:srgbClr val="6B6B6B"/>
                </a:solidFill>
                <a:latin typeface="Calibri"/>
              </a:rPr>
              <a:t>GK </a:t>
            </a:r>
            <a:r>
              <a:rPr sz="900" b="1" lang="en-GB">
                <a:solidFill>
                  <a:srgbClr val="1A1A1A"/>
                </a:solidFill>
                <a:latin typeface="Calibri"/>
              </a:rPr>
              <a:t>[#]   </a:t>
            </a:r>
            <a:r>
              <a:rPr sz="700" b="1" lang="en-GB">
                <a:solidFill>
                  <a:srgbClr val="6B6B6B"/>
                </a:solidFill>
                <a:latin typeface="Calibri"/>
              </a:rPr>
              <a:t>OUTFIELD </a:t>
            </a:r>
            <a:r>
              <a:rPr sz="900" b="1" lang="en-GB">
                <a:solidFill>
                  <a:srgbClr val="1A1A1A"/>
                </a:solidFill>
                <a:latin typeface="Calibri"/>
              </a:rPr>
              <a:t>[#]</a:t>
            </a:r>
          </a:p>
        </p:txBody>
      </p:sp>
      <p:graphicFrame>
        <p:nvGraphicFramePr>
          <p:cNvPr id="152" name="Table 9109"/>
          <p:cNvGraphicFramePr>
            <a:graphicFrameLocks noGrp="1"/>
          </p:cNvGraphicFramePr>
          <p:nvPr/>
        </p:nvGraphicFramePr>
        <p:xfrm>
          <a:off x="9948672" y="1719072"/>
          <a:ext cx="2057400" cy="3703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5488"/>
                <a:gridCol w="987552"/>
                <a:gridCol w="59436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GK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GK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FIXO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FIXO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FIXO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PIVOT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PIVOT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PIVOT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>[Player]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cxnSp>
        <p:nvCxnSpPr>
          <p:cNvPr id="153" name="Connector 9110"/>
          <p:cNvCxnSpPr/>
          <p:nvPr/>
        </p:nvCxnSpPr>
        <p:spPr>
          <a:xfrm>
            <a:off x="9948672" y="5971032"/>
            <a:ext cx="205740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9111"/>
          <p:cNvSpPr txBox="1"/>
          <p:nvPr/>
        </p:nvSpPr>
        <p:spPr>
          <a:xfrm>
            <a:off x="9948672" y="5998464"/>
            <a:ext cx="2057400" cy="67665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SQUAD NOTES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status notes]</a:t>
            </a:r>
          </a:p>
        </p:txBody>
      </p:sp>
      <p:sp>
        <p:nvSpPr>
          <p:cNvPr id="155" name="TextBox 9112"/>
          <p:cNvSpPr txBox="1"/>
          <p:nvPr/>
        </p:nvSpPr>
        <p:spPr>
          <a:xfrm>
            <a:off x="137160" y="6725412"/>
            <a:ext cx="11917375" cy="1234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0" lang="en-GB">
                <a:solidFill>
                  <a:srgbClr val="6B6B6B"/>
                </a:solidFill>
                <a:latin typeface="Calibri"/>
              </a:rPr>
              <a:t>GUIDE  —  annotated example  ·  delete the blue notes after reading</a:t>
            </a:r>
          </a:p>
        </p:txBody>
      </p:sp>
      <p:sp>
        <p:nvSpPr>
          <p:cNvPr id="156" name="Rectangle 9113"/>
          <p:cNvSpPr/>
          <p:nvPr/>
        </p:nvSpPr>
        <p:spPr>
          <a:xfrm>
            <a:off x="502920" y="1920240"/>
            <a:ext cx="2331720" cy="56692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750" b="0">
                <a:solidFill>
                  <a:schemeClr val="accent1"/>
                </a:solidFill>
                <a:latin typeface="Calibri"/>
              </a:rPr>
              <a:t>HOW TO — Set timing + lead coach in each block header. Keep the objective to one line.</a:t>
            </a:r>
          </a:p>
        </p:txBody>
      </p:sp>
      <p:sp>
        <p:nvSpPr>
          <p:cNvPr id="157" name="Rectangle 9114"/>
          <p:cNvSpPr/>
          <p:nvPr/>
        </p:nvSpPr>
        <p:spPr>
          <a:xfrm>
            <a:off x="5394960" y="1920240"/>
            <a:ext cx="2331720" cy="56692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750" b="0">
                <a:solidFill>
                  <a:schemeClr val="accent1"/>
                </a:solidFill>
                <a:latin typeface="Calibri"/>
              </a:rPr>
              <a:t>HOW TO — Copy players, arrows and zones from Slide 4 (Component Library) onto the court.</a:t>
            </a:r>
          </a:p>
        </p:txBody>
      </p:sp>
      <p:sp>
        <p:nvSpPr>
          <p:cNvPr id="158" name="Rectangle 9115"/>
          <p:cNvSpPr/>
          <p:nvPr/>
        </p:nvSpPr>
        <p:spPr>
          <a:xfrm>
            <a:off x="502920" y="4754880"/>
            <a:ext cx="2331720" cy="56692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750" b="0">
                <a:solidFill>
                  <a:schemeClr val="accent1"/>
                </a:solidFill>
                <a:latin typeface="Calibri"/>
              </a:rPr>
              <a:t>HOW TO — Use the notes strip for constraints, progressions and setup / equipment reminders.</a:t>
            </a:r>
          </a:p>
        </p:txBody>
      </p:sp>
      <p:sp>
        <p:nvSpPr>
          <p:cNvPr id="159" name="Rectangle 9116"/>
          <p:cNvSpPr/>
          <p:nvPr/>
        </p:nvSpPr>
        <p:spPr>
          <a:xfrm>
            <a:off x="5394960" y="4754880"/>
            <a:ext cx="2331720" cy="56692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750" b="0">
                <a:solidFill>
                  <a:schemeClr val="accent1"/>
                </a:solidFill>
                <a:latin typeface="Calibri"/>
              </a:rPr>
              <a:t>HOW TO — Duplicate Slide 2 each week. Delete these blue notes — they are single text boxes.</a:t>
            </a:r>
          </a:p>
        </p:txBody>
      </p:sp>
      <p:sp>
        <p:nvSpPr>
          <p:cNvPr id="160" name="Rectangle 9117"/>
          <p:cNvSpPr/>
          <p:nvPr/>
        </p:nvSpPr>
        <p:spPr>
          <a:xfrm>
            <a:off x="9994392" y="3017520"/>
            <a:ext cx="1965960" cy="731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750" b="0">
                <a:solidFill>
                  <a:schemeClr val="accent1"/>
                </a:solidFill>
                <a:latin typeface="Calibri"/>
              </a:rPr>
              <a:t>HOW TO — Update counts, names and status here for fast late changes. Tab moves between table cells.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9144000" cy="4572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600" b="1" lang="en-GB">
                <a:solidFill>
                  <a:srgbClr val="1A1A1A"/>
                </a:solidFill>
                <a:latin typeface="Calibri"/>
              </a:rPr>
              <a:t>COMPONENT LIBRARY</a:t>
            </a:r>
          </a:p>
          <a:p>
            <a:pPr algn="l"/>
            <a:r>
              <a:rPr sz="850" b="0" lang="en-GB">
                <a:solidFill>
                  <a:srgbClr val="6B6B6B"/>
                </a:solidFill>
                <a:latin typeface="Calibri"/>
              </a:rPr>
              <a:t>All markers are at true court scale (≈1.7 m on a 40 m court). Copy and paste directly onto any diagram — they will be proportionally correct.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182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658368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PLAYER MARKERS  (plain)</a:t>
            </a:r>
          </a:p>
        </p:txBody>
      </p:sp>
      <p:sp>
        <p:nvSpPr>
          <p:cNvPr id="6" name="Oval 5"/>
          <p:cNvSpPr/>
          <p:nvPr/>
        </p:nvSpPr>
        <p:spPr>
          <a:xfrm>
            <a:off x="420624" y="896112"/>
            <a:ext cx="128016" cy="12801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60704"/>
            <a:ext cx="402336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Attacker</a:t>
            </a:r>
          </a:p>
        </p:txBody>
      </p:sp>
      <p:sp>
        <p:nvSpPr>
          <p:cNvPr id="8" name="Oval 7"/>
          <p:cNvSpPr/>
          <p:nvPr/>
        </p:nvSpPr>
        <p:spPr>
          <a:xfrm>
            <a:off x="877824" y="8961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6B6B6B"/>
                </a:solidFill>
                <a:latin typeface="Calibri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060704"/>
            <a:ext cx="402336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Defender</a:t>
            </a:r>
          </a:p>
        </p:txBody>
      </p:sp>
      <p:sp>
        <p:nvSpPr>
          <p:cNvPr id="10" name="Oval 9"/>
          <p:cNvSpPr/>
          <p:nvPr/>
        </p:nvSpPr>
        <p:spPr>
          <a:xfrm>
            <a:off x="1335024" y="896112"/>
            <a:ext cx="128016" cy="1280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060704"/>
            <a:ext cx="402336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GK</a:t>
            </a:r>
          </a:p>
        </p:txBody>
      </p:sp>
      <p:sp>
        <p:nvSpPr>
          <p:cNvPr id="12" name="Oval 11"/>
          <p:cNvSpPr/>
          <p:nvPr/>
        </p:nvSpPr>
        <p:spPr>
          <a:xfrm>
            <a:off x="1792224" y="8961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6B6B6B"/>
                </a:solidFill>
                <a:latin typeface="Calibri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1060704"/>
            <a:ext cx="402336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Neutral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685800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658368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EQUIPMENT</a:t>
            </a:r>
          </a:p>
        </p:txBody>
      </p:sp>
      <p:sp>
        <p:nvSpPr>
          <p:cNvPr id="16" name="Isosceles Triangle 15"/>
          <p:cNvSpPr/>
          <p:nvPr/>
        </p:nvSpPr>
        <p:spPr>
          <a:xfrm>
            <a:off x="2404872" y="914400"/>
            <a:ext cx="82296" cy="73152"/>
          </a:xfrm>
          <a:prstGeom prst="triangl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40864" y="1060704"/>
            <a:ext cx="36576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Cone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877824"/>
            <a:ext cx="36576" cy="18288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8" y="1060704"/>
            <a:ext cx="36576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Pole</a:t>
            </a:r>
          </a:p>
        </p:txBody>
      </p:sp>
      <p:sp>
        <p:nvSpPr>
          <p:cNvPr id="20" name="Oval 19"/>
          <p:cNvSpPr/>
          <p:nvPr/>
        </p:nvSpPr>
        <p:spPr>
          <a:xfrm>
            <a:off x="3337560" y="932688"/>
            <a:ext cx="64008" cy="6400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1060704"/>
            <a:ext cx="36576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Ball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685800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02152" y="658368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LINES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74720" y="1005840"/>
            <a:ext cx="68580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29000" y="1060704"/>
            <a:ext cx="82296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Run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43400" y="1005840"/>
            <a:ext cx="685800" cy="0"/>
          </a:xfrm>
          <a:prstGeom prst="line">
            <a:avLst/>
          </a:prstGeom>
          <a:ln w="19050">
            <a:solidFill>
              <a:srgbClr val="1A1A1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97680" y="1060704"/>
            <a:ext cx="82296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Pass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12080" y="1005840"/>
            <a:ext cx="685800" cy="0"/>
          </a:xfrm>
          <a:prstGeom prst="line">
            <a:avLst/>
          </a:prstGeom>
          <a:ln w="19050">
            <a:solidFill>
              <a:srgbClr val="1A1A1A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66360" y="1060704"/>
            <a:ext cx="82296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Dribble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685800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658368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ZONES / SCREENS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896112"/>
            <a:ext cx="640080" cy="219456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1060704"/>
            <a:ext cx="694944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Zone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969264"/>
            <a:ext cx="329184" cy="54864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1060704"/>
            <a:ext cx="566928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Screen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7160" y="1508760"/>
            <a:ext cx="11917375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65760" y="1600200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1572768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BODY SHAPE  —  shoulder-line pucks</a:t>
            </a:r>
          </a:p>
        </p:txBody>
      </p:sp>
      <p:sp>
        <p:nvSpPr>
          <p:cNvPr id="39" name="Chord 38"/>
          <p:cNvSpPr/>
          <p:nvPr/>
        </p:nvSpPr>
        <p:spPr>
          <a:xfrm>
            <a:off x="429768" y="182880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" y="1993392"/>
            <a:ext cx="402336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Attacker</a:t>
            </a:r>
          </a:p>
        </p:txBody>
      </p:sp>
      <p:sp>
        <p:nvSpPr>
          <p:cNvPr id="41" name="Chord 40"/>
          <p:cNvSpPr/>
          <p:nvPr/>
        </p:nvSpPr>
        <p:spPr>
          <a:xfrm>
            <a:off x="886968" y="182880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6B6B6B"/>
                </a:solidFill>
                <a:latin typeface="Calibri"/>
              </a:rPr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" y="1993392"/>
            <a:ext cx="402336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Defender</a:t>
            </a:r>
          </a:p>
        </p:txBody>
      </p:sp>
      <p:sp>
        <p:nvSpPr>
          <p:cNvPr id="43" name="Chord 42"/>
          <p:cNvSpPr/>
          <p:nvPr/>
        </p:nvSpPr>
        <p:spPr>
          <a:xfrm>
            <a:off x="1344168" y="182880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9304" y="1993392"/>
            <a:ext cx="402336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GK</a:t>
            </a:r>
          </a:p>
        </p:txBody>
      </p:sp>
      <p:sp>
        <p:nvSpPr>
          <p:cNvPr id="45" name="Chord 44"/>
          <p:cNvSpPr/>
          <p:nvPr/>
        </p:nvSpPr>
        <p:spPr>
          <a:xfrm>
            <a:off x="1801368" y="182880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6B6B6B"/>
                </a:solidFill>
                <a:latin typeface="Calibri"/>
              </a:rPr>
              <a:t>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46504" y="1993392"/>
            <a:ext cx="402336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Neutral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2176272"/>
            <a:ext cx="2331720" cy="32918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50" b="0" lang="en-GB">
                <a:solidFill>
                  <a:srgbClr val="6B6B6B"/>
                </a:solidFill>
                <a:latin typeface="Calibri"/>
              </a:rPr>
              <a:t>Flat edge = shoulders, curve = chest. One shape — rotate it to show open / closed body shape.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1600200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90672" y="1572768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VISION CONE  —  facing + field of view</a:t>
            </a:r>
          </a:p>
        </p:txBody>
      </p:sp>
      <p:grpSp>
        <p:nvGrpSpPr>
          <p:cNvPr id="50" name="vm_A"/>
          <p:cNvGrpSpPr/>
          <p:nvPr/>
        </p:nvGrpSpPr>
        <p:grpSpPr>
          <a:xfrm>
            <a:off x="3086100" y="1796796"/>
            <a:ext cx="448056" cy="448056"/>
            <a:chOff x="3086100" y="1796796"/>
            <a:chExt cx="448056" cy="448056"/>
          </a:xfrm>
        </p:grpSpPr>
        <p:sp>
          <p:nvSpPr>
            <p:cNvPr id="51" name="Pie 49"/>
            <p:cNvSpPr/>
            <p:nvPr/>
          </p:nvSpPr>
          <p:spPr>
            <a:xfrm>
              <a:off x="3086100" y="1796796"/>
              <a:ext cx="448056" cy="448056"/>
            </a:xfrm>
            <a:prstGeom prst="pie">
              <a:avLst>
                <a:gd name="adj1" fmla="val 14100000"/>
                <a:gd name="adj2" fmla="val 1830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0"/>
            <p:cNvSpPr/>
            <p:nvPr/>
          </p:nvSpPr>
          <p:spPr>
            <a:xfrm>
              <a:off x="3246120" y="1956816"/>
              <a:ext cx="128016" cy="1280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rIns="0" tIns="0" bIns="0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Calibri"/>
                </a:rPr>
                <a:t>A</a:t>
              </a:r>
            </a:p>
          </p:txBody>
        </p:sp>
      </p:grpSp>
      <p:sp>
        <p:nvSpPr>
          <p:cNvPr id="53" name="TextBox 9005"/>
          <p:cNvSpPr txBox="1"/>
          <p:nvPr/>
        </p:nvSpPr>
        <p:spPr>
          <a:xfrm>
            <a:off x="3108960" y="2121408"/>
            <a:ext cx="402336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Attacker</a:t>
            </a:r>
          </a:p>
        </p:txBody>
      </p:sp>
      <p:grpSp>
        <p:nvGrpSpPr>
          <p:cNvPr id="54" name="vm_D"/>
          <p:cNvGrpSpPr/>
          <p:nvPr/>
        </p:nvGrpSpPr>
        <p:grpSpPr>
          <a:xfrm>
            <a:off x="3653028" y="1796796"/>
            <a:ext cx="448056" cy="448056"/>
            <a:chOff x="3653028" y="1796796"/>
            <a:chExt cx="448056" cy="448056"/>
          </a:xfrm>
        </p:grpSpPr>
        <p:sp>
          <p:nvSpPr>
            <p:cNvPr id="55" name="Pie 9006"/>
            <p:cNvSpPr/>
            <p:nvPr/>
          </p:nvSpPr>
          <p:spPr>
            <a:xfrm>
              <a:off x="3653028" y="1796796"/>
              <a:ext cx="448056" cy="448056"/>
            </a:xfrm>
            <a:prstGeom prst="pie">
              <a:avLst>
                <a:gd name="adj1" fmla="val 14100000"/>
                <a:gd name="adj2" fmla="val 18300000"/>
              </a:avLst>
            </a:prstGeom>
            <a:solidFill>
              <a:srgbClr val="6B6B6B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9007"/>
            <p:cNvSpPr/>
            <p:nvPr/>
          </p:nvSpPr>
          <p:spPr>
            <a:xfrm>
              <a:off x="3813048" y="1956816"/>
              <a:ext cx="128016" cy="1280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6B6B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rIns="0" tIns="0" bIns="0"/>
            <a:lstStyle/>
            <a:p>
              <a:pPr algn="ctr"/>
              <a:r>
                <a:rPr sz="700" b="1">
                  <a:solidFill>
                    <a:srgbClr val="6B6B6B"/>
                  </a:solidFill>
                  <a:latin typeface="Calibri"/>
                </a:rPr>
                <a:t>D</a:t>
              </a:r>
            </a:p>
          </p:txBody>
        </p:sp>
      </p:grpSp>
      <p:sp>
        <p:nvSpPr>
          <p:cNvPr id="57" name="TextBox 9008"/>
          <p:cNvSpPr txBox="1"/>
          <p:nvPr/>
        </p:nvSpPr>
        <p:spPr>
          <a:xfrm>
            <a:off x="3675888" y="2121408"/>
            <a:ext cx="402336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Defender</a:t>
            </a:r>
          </a:p>
        </p:txBody>
      </p:sp>
      <p:grpSp>
        <p:nvGrpSpPr>
          <p:cNvPr id="58" name="vm_G"/>
          <p:cNvGrpSpPr/>
          <p:nvPr/>
        </p:nvGrpSpPr>
        <p:grpSpPr>
          <a:xfrm>
            <a:off x="4219956" y="1796796"/>
            <a:ext cx="448056" cy="448056"/>
            <a:chOff x="4219956" y="1796796"/>
            <a:chExt cx="448056" cy="448056"/>
          </a:xfrm>
        </p:grpSpPr>
        <p:sp>
          <p:nvSpPr>
            <p:cNvPr id="59" name="Pie 9009"/>
            <p:cNvSpPr/>
            <p:nvPr/>
          </p:nvSpPr>
          <p:spPr>
            <a:xfrm>
              <a:off x="4219956" y="1796796"/>
              <a:ext cx="448056" cy="448056"/>
            </a:xfrm>
            <a:prstGeom prst="pie">
              <a:avLst>
                <a:gd name="adj1" fmla="val 14100000"/>
                <a:gd name="adj2" fmla="val 18300000"/>
              </a:avLst>
            </a:prstGeom>
            <a:solidFill>
              <a:srgbClr val="1A1A1A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9010"/>
            <p:cNvSpPr/>
            <p:nvPr/>
          </p:nvSpPr>
          <p:spPr>
            <a:xfrm>
              <a:off x="4379976" y="1956816"/>
              <a:ext cx="128016" cy="128016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rIns="0" tIns="0" bIns="0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Calibri"/>
                </a:rPr>
                <a:t>G</a:t>
              </a:r>
            </a:p>
          </p:txBody>
        </p:sp>
      </p:grpSp>
      <p:sp>
        <p:nvSpPr>
          <p:cNvPr id="61" name="TextBox 9011"/>
          <p:cNvSpPr txBox="1"/>
          <p:nvPr/>
        </p:nvSpPr>
        <p:spPr>
          <a:xfrm>
            <a:off x="4242816" y="2121408"/>
            <a:ext cx="402336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GK</a:t>
            </a:r>
          </a:p>
        </p:txBody>
      </p:sp>
      <p:sp>
        <p:nvSpPr>
          <p:cNvPr id="62" name="TextBox 9012"/>
          <p:cNvSpPr txBox="1"/>
          <p:nvPr/>
        </p:nvSpPr>
        <p:spPr>
          <a:xfrm>
            <a:off x="3017520" y="2304288"/>
            <a:ext cx="2606040" cy="2743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50" b="0" lang="en-GB">
                <a:solidFill>
                  <a:srgbClr val="6B6B6B"/>
                </a:solidFill>
                <a:latin typeface="Calibri"/>
              </a:rPr>
              <a:t>Rotate the group: cone shows where the player faces and what they see. On a defender it doubles as a cover shadow.</a:t>
            </a:r>
          </a:p>
        </p:txBody>
      </p:sp>
      <p:sp>
        <p:nvSpPr>
          <p:cNvPr id="63" name="Rectangle 9013"/>
          <p:cNvSpPr/>
          <p:nvPr/>
        </p:nvSpPr>
        <p:spPr>
          <a:xfrm>
            <a:off x="5989320" y="1792224"/>
            <a:ext cx="3017520" cy="566928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750">
                <a:solidFill>
                  <a:srgbClr val="6B6B6B"/>
                </a:solidFill>
                <a:latin typeface="Calibri"/>
              </a:rPr>
              <a:t>ROTATION  ·  All orientation markers face UP by default. Select → drag the rotation handle, or Format Shape → Rotation and type the angle (0 = up, 90 = right, 180 = down, 270 = left).</a:t>
            </a:r>
          </a:p>
        </p:txBody>
      </p:sp>
      <p:sp>
        <p:nvSpPr>
          <p:cNvPr id="64" name="TextBox 9014"/>
          <p:cNvSpPr txBox="1"/>
          <p:nvPr/>
        </p:nvSpPr>
        <p:spPr>
          <a:xfrm>
            <a:off x="5989320" y="2395728"/>
            <a:ext cx="3017520" cy="2743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50" b="0" lang="en-GB">
                <a:solidFill>
                  <a:srgbClr val="6B6B6B"/>
                </a:solidFill>
                <a:latin typeface="Calibri"/>
              </a:rPr>
              <a:t>LONG CONES (right) are separate — no player attached. Drop one under any marker, rotate to aim, drag a corner handle to lengthen.</a:t>
            </a:r>
          </a:p>
        </p:txBody>
      </p:sp>
      <p:sp>
        <p:nvSpPr>
          <p:cNvPr id="65" name="Long cone Attacker"/>
          <p:cNvSpPr/>
          <p:nvPr/>
        </p:nvSpPr>
        <p:spPr>
          <a:xfrm>
            <a:off x="9050365" y="1844893"/>
            <a:ext cx="1193109" cy="1193109"/>
          </a:xfrm>
          <a:prstGeom prst="pie">
            <a:avLst>
              <a:gd name="adj1" fmla="val 14100000"/>
              <a:gd name="adj2" fmla="val 18300000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9016"/>
          <p:cNvSpPr txBox="1"/>
          <p:nvPr/>
        </p:nvSpPr>
        <p:spPr>
          <a:xfrm>
            <a:off x="9372600" y="2478024"/>
            <a:ext cx="54864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Attacker</a:t>
            </a:r>
          </a:p>
        </p:txBody>
      </p:sp>
      <p:sp>
        <p:nvSpPr>
          <p:cNvPr id="67" name="Long cone Defender"/>
          <p:cNvSpPr/>
          <p:nvPr/>
        </p:nvSpPr>
        <p:spPr>
          <a:xfrm>
            <a:off x="10010485" y="1844893"/>
            <a:ext cx="1193109" cy="1193109"/>
          </a:xfrm>
          <a:prstGeom prst="pie">
            <a:avLst>
              <a:gd name="adj1" fmla="val 14100000"/>
              <a:gd name="adj2" fmla="val 18300000"/>
            </a:avLst>
          </a:prstGeom>
          <a:solidFill>
            <a:srgbClr val="6B6B6B">
              <a:alpha val="20000"/>
            </a:srgbClr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9018"/>
          <p:cNvSpPr txBox="1"/>
          <p:nvPr/>
        </p:nvSpPr>
        <p:spPr>
          <a:xfrm>
            <a:off x="10332720" y="2478024"/>
            <a:ext cx="54864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Defender</a:t>
            </a:r>
          </a:p>
        </p:txBody>
      </p:sp>
      <p:sp>
        <p:nvSpPr>
          <p:cNvPr id="69" name="Long cone GK"/>
          <p:cNvSpPr/>
          <p:nvPr/>
        </p:nvSpPr>
        <p:spPr>
          <a:xfrm>
            <a:off x="10970605" y="1844893"/>
            <a:ext cx="1193109" cy="1193109"/>
          </a:xfrm>
          <a:prstGeom prst="pie">
            <a:avLst>
              <a:gd name="adj1" fmla="val 14100000"/>
              <a:gd name="adj2" fmla="val 18300000"/>
            </a:avLst>
          </a:prstGeom>
          <a:solidFill>
            <a:srgbClr val="1A1A1A">
              <a:alpha val="20000"/>
            </a:srgbClr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9020"/>
          <p:cNvSpPr txBox="1"/>
          <p:nvPr/>
        </p:nvSpPr>
        <p:spPr>
          <a:xfrm>
            <a:off x="11292840" y="2478024"/>
            <a:ext cx="54864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GK</a:t>
            </a:r>
          </a:p>
        </p:txBody>
      </p:sp>
      <p:sp>
        <p:nvSpPr>
          <p:cNvPr id="71" name="Rectangle 9021"/>
          <p:cNvSpPr/>
          <p:nvPr/>
        </p:nvSpPr>
        <p:spPr>
          <a:xfrm>
            <a:off x="9144000" y="1600200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9022"/>
          <p:cNvSpPr txBox="1"/>
          <p:nvPr/>
        </p:nvSpPr>
        <p:spPr>
          <a:xfrm>
            <a:off x="9217152" y="1572768"/>
            <a:ext cx="2837383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LONG VISION CONES  (≈8 m, standalone)</a:t>
            </a:r>
          </a:p>
        </p:txBody>
      </p:sp>
      <p:cxnSp>
        <p:nvCxnSpPr>
          <p:cNvPr id="73" name="Connector 9023"/>
          <p:cNvCxnSpPr/>
          <p:nvPr/>
        </p:nvCxnSpPr>
        <p:spPr>
          <a:xfrm>
            <a:off x="137160" y="2670048"/>
            <a:ext cx="11917375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scan_A"/>
          <p:cNvGrpSpPr/>
          <p:nvPr/>
        </p:nvGrpSpPr>
        <p:grpSpPr>
          <a:xfrm>
            <a:off x="248717" y="2690165"/>
            <a:ext cx="819302" cy="819302"/>
            <a:chOff x="248717" y="2690165"/>
            <a:chExt cx="819302" cy="819302"/>
          </a:xfrm>
        </p:grpSpPr>
        <p:sp>
          <p:nvSpPr>
            <p:cNvPr id="75" name="Pie 9024"/>
            <p:cNvSpPr/>
            <p:nvPr/>
          </p:nvSpPr>
          <p:spPr>
            <a:xfrm>
              <a:off x="248717" y="2690165"/>
              <a:ext cx="819302" cy="819302"/>
            </a:xfrm>
            <a:prstGeom prst="pie">
              <a:avLst>
                <a:gd name="adj1" fmla="val 10800000"/>
                <a:gd name="adj2" fmla="val 2160000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9025"/>
            <p:cNvSpPr/>
            <p:nvPr/>
          </p:nvSpPr>
          <p:spPr>
            <a:xfrm>
              <a:off x="594360" y="3035808"/>
              <a:ext cx="128016" cy="1280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rIns="0" tIns="0" bIns="0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Calibri"/>
                </a:rPr>
                <a:t>A</a:t>
              </a:r>
            </a:p>
          </p:txBody>
        </p:sp>
      </p:grpSp>
      <p:sp>
        <p:nvSpPr>
          <p:cNvPr id="77" name="TextBox 9026"/>
          <p:cNvSpPr txBox="1"/>
          <p:nvPr/>
        </p:nvSpPr>
        <p:spPr>
          <a:xfrm>
            <a:off x="521208" y="3218688"/>
            <a:ext cx="45720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Attacker</a:t>
            </a:r>
          </a:p>
        </p:txBody>
      </p:sp>
      <p:grpSp>
        <p:nvGrpSpPr>
          <p:cNvPr id="78" name="scan_D"/>
          <p:cNvGrpSpPr/>
          <p:nvPr/>
        </p:nvGrpSpPr>
        <p:grpSpPr>
          <a:xfrm>
            <a:off x="1254557" y="2690165"/>
            <a:ext cx="819302" cy="819302"/>
            <a:chOff x="1254557" y="2690165"/>
            <a:chExt cx="819302" cy="819302"/>
          </a:xfrm>
        </p:grpSpPr>
        <p:sp>
          <p:nvSpPr>
            <p:cNvPr id="79" name="Pie 9027"/>
            <p:cNvSpPr/>
            <p:nvPr/>
          </p:nvSpPr>
          <p:spPr>
            <a:xfrm>
              <a:off x="1254557" y="2690165"/>
              <a:ext cx="819302" cy="819302"/>
            </a:xfrm>
            <a:prstGeom prst="pie">
              <a:avLst>
                <a:gd name="adj1" fmla="val 10800000"/>
                <a:gd name="adj2" fmla="val 21600000"/>
              </a:avLst>
            </a:prstGeom>
            <a:solidFill>
              <a:srgbClr val="6B6B6B">
                <a:alpha val="10000"/>
              </a:srgbClr>
            </a:solidFill>
            <a:ln w="12700">
              <a:solidFill>
                <a:srgbClr val="6B6B6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9028"/>
            <p:cNvSpPr/>
            <p:nvPr/>
          </p:nvSpPr>
          <p:spPr>
            <a:xfrm>
              <a:off x="1600200" y="3035808"/>
              <a:ext cx="128016" cy="1280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6B6B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rIns="0" tIns="0" bIns="0"/>
            <a:lstStyle/>
            <a:p>
              <a:pPr algn="ctr"/>
              <a:r>
                <a:rPr sz="700" b="1">
                  <a:solidFill>
                    <a:srgbClr val="6B6B6B"/>
                  </a:solidFill>
                  <a:latin typeface="Calibri"/>
                </a:rPr>
                <a:t>D</a:t>
              </a:r>
            </a:p>
          </p:txBody>
        </p:sp>
      </p:grpSp>
      <p:sp>
        <p:nvSpPr>
          <p:cNvPr id="81" name="TextBox 9029"/>
          <p:cNvSpPr txBox="1"/>
          <p:nvPr/>
        </p:nvSpPr>
        <p:spPr>
          <a:xfrm>
            <a:off x="1527048" y="3218688"/>
            <a:ext cx="45720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Defender</a:t>
            </a:r>
          </a:p>
        </p:txBody>
      </p:sp>
      <p:grpSp>
        <p:nvGrpSpPr>
          <p:cNvPr id="82" name="scan_G"/>
          <p:cNvGrpSpPr/>
          <p:nvPr/>
        </p:nvGrpSpPr>
        <p:grpSpPr>
          <a:xfrm>
            <a:off x="2260397" y="2690165"/>
            <a:ext cx="819302" cy="819302"/>
            <a:chOff x="2260397" y="2690165"/>
            <a:chExt cx="819302" cy="819302"/>
          </a:xfrm>
        </p:grpSpPr>
        <p:sp>
          <p:nvSpPr>
            <p:cNvPr id="83" name="Pie 9030"/>
            <p:cNvSpPr/>
            <p:nvPr/>
          </p:nvSpPr>
          <p:spPr>
            <a:xfrm>
              <a:off x="2260397" y="2690165"/>
              <a:ext cx="819302" cy="819302"/>
            </a:xfrm>
            <a:prstGeom prst="pie">
              <a:avLst>
                <a:gd name="adj1" fmla="val 10800000"/>
                <a:gd name="adj2" fmla="val 21600000"/>
              </a:avLst>
            </a:prstGeom>
            <a:solidFill>
              <a:srgbClr val="1A1A1A">
                <a:alpha val="10000"/>
              </a:srgbClr>
            </a:solidFill>
            <a:ln w="12700">
              <a:solidFill>
                <a:srgbClr val="1A1A1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9031"/>
            <p:cNvSpPr/>
            <p:nvPr/>
          </p:nvSpPr>
          <p:spPr>
            <a:xfrm>
              <a:off x="2606040" y="3035808"/>
              <a:ext cx="128016" cy="128016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rIns="0" tIns="0" bIns="0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Calibri"/>
                </a:rPr>
                <a:t>G</a:t>
              </a:r>
            </a:p>
          </p:txBody>
        </p:sp>
      </p:grpSp>
      <p:sp>
        <p:nvSpPr>
          <p:cNvPr id="85" name="TextBox 9032"/>
          <p:cNvSpPr txBox="1"/>
          <p:nvPr/>
        </p:nvSpPr>
        <p:spPr>
          <a:xfrm>
            <a:off x="2532888" y="3218688"/>
            <a:ext cx="45720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GK</a:t>
            </a:r>
          </a:p>
        </p:txBody>
      </p:sp>
      <p:grpSp>
        <p:nvGrpSpPr>
          <p:cNvPr id="86" name="combined_A"/>
          <p:cNvGrpSpPr/>
          <p:nvPr/>
        </p:nvGrpSpPr>
        <p:grpSpPr>
          <a:xfrm>
            <a:off x="3385109" y="2690165"/>
            <a:ext cx="819302" cy="819302"/>
            <a:chOff x="3385109" y="2690165"/>
            <a:chExt cx="819302" cy="819302"/>
          </a:xfrm>
        </p:grpSpPr>
        <p:sp>
          <p:nvSpPr>
            <p:cNvPr id="87" name="Pie 9033"/>
            <p:cNvSpPr/>
            <p:nvPr/>
          </p:nvSpPr>
          <p:spPr>
            <a:xfrm>
              <a:off x="3385109" y="2690165"/>
              <a:ext cx="819302" cy="819302"/>
            </a:xfrm>
            <a:prstGeom prst="pie">
              <a:avLst>
                <a:gd name="adj1" fmla="val 10800000"/>
                <a:gd name="adj2" fmla="val 2160000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Pie 9034"/>
            <p:cNvSpPr/>
            <p:nvPr/>
          </p:nvSpPr>
          <p:spPr>
            <a:xfrm>
              <a:off x="3570732" y="2875788"/>
              <a:ext cx="448056" cy="448056"/>
            </a:xfrm>
            <a:prstGeom prst="pie">
              <a:avLst>
                <a:gd name="adj1" fmla="val 14100000"/>
                <a:gd name="adj2" fmla="val 18300000"/>
              </a:avLst>
            </a:prstGeom>
            <a:solidFill>
              <a:schemeClr val="accent1">
                <a:alpha val="2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Chord 9035"/>
            <p:cNvSpPr/>
            <p:nvPr/>
          </p:nvSpPr>
          <p:spPr>
            <a:xfrm>
              <a:off x="3730752" y="3035808"/>
              <a:ext cx="128016" cy="128016"/>
            </a:xfrm>
            <a:prstGeom prst="chord">
              <a:avLst>
                <a:gd name="adj1" fmla="val 9000000"/>
                <a:gd name="adj2" fmla="val 18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rIns="0" tIns="0" bIns="27432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Calibri"/>
                </a:rPr>
                <a:t>A</a:t>
              </a:r>
            </a:p>
          </p:txBody>
        </p:sp>
      </p:grpSp>
      <p:sp>
        <p:nvSpPr>
          <p:cNvPr id="90" name="TextBox 9036"/>
          <p:cNvSpPr txBox="1"/>
          <p:nvPr/>
        </p:nvSpPr>
        <p:spPr>
          <a:xfrm>
            <a:off x="3602736" y="3218688"/>
            <a:ext cx="530352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0" lang="en-GB">
                <a:solidFill>
                  <a:srgbClr val="6B6B6B"/>
                </a:solidFill>
                <a:latin typeface="Calibri"/>
              </a:rPr>
              <a:t>Combined</a:t>
            </a:r>
          </a:p>
        </p:txBody>
      </p:sp>
      <p:sp>
        <p:nvSpPr>
          <p:cNvPr id="91" name="Rectangle 9037"/>
          <p:cNvSpPr/>
          <p:nvPr/>
        </p:nvSpPr>
        <p:spPr>
          <a:xfrm>
            <a:off x="365760" y="2743200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038"/>
          <p:cNvSpPr txBox="1"/>
          <p:nvPr/>
        </p:nvSpPr>
        <p:spPr>
          <a:xfrm>
            <a:off x="438912" y="2715768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SCANNING AWARENESS ZONE  (180°, ≈5.5 m at court scale)</a:t>
            </a:r>
          </a:p>
        </p:txBody>
      </p:sp>
      <p:sp>
        <p:nvSpPr>
          <p:cNvPr id="93" name="TextBox 9039"/>
          <p:cNvSpPr txBox="1"/>
          <p:nvPr/>
        </p:nvSpPr>
        <p:spPr>
          <a:xfrm>
            <a:off x="4617720" y="2761488"/>
            <a:ext cx="7223760" cy="9144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SCANNING AWARENESS  ·  VISION CONE  ·  BODY SHAPE</a:t>
            </a:r>
          </a:p>
          <a:p>
            <a:pPr algn="l"/>
            <a:r>
              <a:rPr sz="800" b="0" lang="en-GB">
                <a:solidFill>
                  <a:srgbClr val="6B6B6B"/>
                </a:solidFill>
                <a:latin typeface="Calibri"/>
              </a:rPr>
              <a:t>Scan zone (180°, dashed, very light) = the full area a player actively sweeps before receiving — peripheral awareness, not just facing direction.</a:t>
            </a:r>
          </a:p>
          <a:p>
            <a:pPr algn="l"/>
            <a:r>
              <a:rPr sz="300" b="0" lang="en-GB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800" b="0" lang="en-GB">
                <a:solidFill>
                  <a:srgbClr val="6B6B6B"/>
                </a:solidFill>
                <a:latin typeface="Calibri"/>
              </a:rPr>
              <a:t>Vision cone (70°, solid) = immediate focus and field of view. Scan zone + vision cone together show the difference between what a player checks and what they commit to.</a:t>
            </a:r>
          </a:p>
          <a:p>
            <a:pPr algn="l"/>
            <a:r>
              <a:rPr sz="300" b="0" lang="en-GB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COMBINED example (left): all three layers in one group. Rotate the whole group to orient the player. Use standalone or combined — each is a separate object.</a:t>
            </a:r>
          </a:p>
        </p:txBody>
      </p:sp>
      <p:cxnSp>
        <p:nvCxnSpPr>
          <p:cNvPr id="94" name="Connector 9040"/>
          <p:cNvCxnSpPr/>
          <p:nvPr/>
        </p:nvCxnSpPr>
        <p:spPr>
          <a:xfrm>
            <a:off x="137160" y="3794760"/>
            <a:ext cx="11917375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041"/>
          <p:cNvSpPr txBox="1"/>
          <p:nvPr/>
        </p:nvSpPr>
        <p:spPr>
          <a:xfrm>
            <a:off x="365760" y="3849624"/>
            <a:ext cx="219456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TEAM A  </a:t>
            </a:r>
            <a:r>
              <a:rPr sz="750" b="0" lang="en-GB">
                <a:solidFill>
                  <a:srgbClr val="6B6B6B"/>
                </a:solidFill>
                <a:latin typeface="Calibri"/>
              </a:rPr>
              <a:t>your team</a:t>
            </a:r>
          </a:p>
        </p:txBody>
      </p:sp>
      <p:sp>
        <p:nvSpPr>
          <p:cNvPr id="96" name="Chord 9042"/>
          <p:cNvSpPr/>
          <p:nvPr/>
        </p:nvSpPr>
        <p:spPr>
          <a:xfrm>
            <a:off x="411480" y="406908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7" name="Chord 9043"/>
          <p:cNvSpPr/>
          <p:nvPr/>
        </p:nvSpPr>
        <p:spPr>
          <a:xfrm>
            <a:off x="758952" y="406908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8" name="Chord 9044"/>
          <p:cNvSpPr/>
          <p:nvPr/>
        </p:nvSpPr>
        <p:spPr>
          <a:xfrm>
            <a:off x="1106424" y="406908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9" name="Chord 9045"/>
          <p:cNvSpPr/>
          <p:nvPr/>
        </p:nvSpPr>
        <p:spPr>
          <a:xfrm>
            <a:off x="1453896" y="406908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0" name="Chord 9046"/>
          <p:cNvSpPr/>
          <p:nvPr/>
        </p:nvSpPr>
        <p:spPr>
          <a:xfrm>
            <a:off x="1801368" y="406908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1" name="TextBox 9047"/>
          <p:cNvSpPr txBox="1"/>
          <p:nvPr/>
        </p:nvSpPr>
        <p:spPr>
          <a:xfrm>
            <a:off x="2514600" y="3849624"/>
            <a:ext cx="2743200" cy="18288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2"/>
                </a:solidFill>
                <a:latin typeface="Calibri"/>
              </a:rPr>
              <a:t>TEAM B  </a:t>
            </a:r>
            <a:r>
              <a:rPr sz="750" b="0" lang="en-GB">
                <a:solidFill>
                  <a:srgbClr val="6B6B6B"/>
                </a:solidFill>
                <a:latin typeface="Calibri"/>
              </a:rPr>
              <a:t>opposition</a:t>
            </a:r>
          </a:p>
        </p:txBody>
      </p:sp>
      <p:sp>
        <p:nvSpPr>
          <p:cNvPr id="102" name="Chord 9048"/>
          <p:cNvSpPr/>
          <p:nvPr/>
        </p:nvSpPr>
        <p:spPr>
          <a:xfrm>
            <a:off x="2560320" y="406908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3" name="Chord 9049"/>
          <p:cNvSpPr/>
          <p:nvPr/>
        </p:nvSpPr>
        <p:spPr>
          <a:xfrm>
            <a:off x="2907792" y="406908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4" name="Chord 9050"/>
          <p:cNvSpPr/>
          <p:nvPr/>
        </p:nvSpPr>
        <p:spPr>
          <a:xfrm>
            <a:off x="3255264" y="406908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5" name="Chord 9051"/>
          <p:cNvSpPr/>
          <p:nvPr/>
        </p:nvSpPr>
        <p:spPr>
          <a:xfrm>
            <a:off x="3602736" y="406908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6" name="Chord 9052"/>
          <p:cNvSpPr/>
          <p:nvPr/>
        </p:nvSpPr>
        <p:spPr>
          <a:xfrm>
            <a:off x="3950208" y="4069080"/>
            <a:ext cx="128016" cy="128016"/>
          </a:xfrm>
          <a:prstGeom prst="chord">
            <a:avLst>
              <a:gd name="adj1" fmla="val 9000000"/>
              <a:gd name="adj2" fmla="val 18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7" name="TextBox 9053"/>
          <p:cNvSpPr txBox="1"/>
          <p:nvPr/>
        </p:nvSpPr>
        <p:spPr>
          <a:xfrm>
            <a:off x="5029200" y="3849624"/>
            <a:ext cx="6858000" cy="54864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chemeClr val="accent1"/>
                </a:solidFill>
                <a:latin typeface="Calibri"/>
              </a:rPr>
              <a:t>ONE-CLICK RECOLOUR  —  the whole system is theme-driven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Design → Variants → Colours → Customise. Accent 1 = your team, Accent 2 = opposition, Accent 3 = court lines. Changing one value restyles every slide at once — no selecting shapes. Body text stays black on purpose.</a:t>
            </a:r>
          </a:p>
        </p:txBody>
      </p:sp>
      <p:cxnSp>
        <p:nvCxnSpPr>
          <p:cNvPr id="108" name="Connector 9054"/>
          <p:cNvCxnSpPr/>
          <p:nvPr/>
        </p:nvCxnSpPr>
        <p:spPr>
          <a:xfrm>
            <a:off x="137160" y="4434840"/>
            <a:ext cx="11917375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9055"/>
          <p:cNvSpPr/>
          <p:nvPr/>
        </p:nvSpPr>
        <p:spPr>
          <a:xfrm>
            <a:off x="365760" y="4526280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9056"/>
          <p:cNvSpPr txBox="1"/>
          <p:nvPr/>
        </p:nvSpPr>
        <p:spPr>
          <a:xfrm>
            <a:off x="438912" y="4498848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FULL COURT  (40m × 20m)</a:t>
            </a:r>
          </a:p>
        </p:txBody>
      </p:sp>
      <p:grpSp>
        <p:nvGrpSpPr>
          <p:cNvPr id="111" name="Library full court"/>
          <p:cNvGrpSpPr/>
          <p:nvPr/>
        </p:nvGrpSpPr>
        <p:grpSpPr>
          <a:xfrm>
            <a:off x="438912" y="4754880"/>
            <a:ext cx="3602736" cy="1737360"/>
            <a:chOff x="438912" y="4754880"/>
            <a:chExt cx="3602736" cy="1737360"/>
          </a:xfrm>
        </p:grpSpPr>
        <p:sp>
          <p:nvSpPr>
            <p:cNvPr id="112" name="Rectangle 9057"/>
            <p:cNvSpPr/>
            <p:nvPr/>
          </p:nvSpPr>
          <p:spPr>
            <a:xfrm>
              <a:off x="502920" y="4754880"/>
              <a:ext cx="3474720" cy="1737360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3" name="Connector 9058"/>
            <p:cNvCxnSpPr/>
            <p:nvPr/>
          </p:nvCxnSpPr>
          <p:spPr>
            <a:xfrm>
              <a:off x="2240280" y="4754880"/>
              <a:ext cx="0" cy="173736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Oval 9059"/>
            <p:cNvSpPr/>
            <p:nvPr/>
          </p:nvSpPr>
          <p:spPr>
            <a:xfrm>
              <a:off x="1979676" y="5362956"/>
              <a:ext cx="521208" cy="521208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9060"/>
            <p:cNvSpPr/>
            <p:nvPr/>
          </p:nvSpPr>
          <p:spPr>
            <a:xfrm>
              <a:off x="2224278" y="56075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Arc 9061"/>
            <p:cNvSpPr/>
            <p:nvPr/>
          </p:nvSpPr>
          <p:spPr>
            <a:xfrm>
              <a:off x="-18288" y="4972050"/>
              <a:ext cx="1042416" cy="1042416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Arc 9062"/>
            <p:cNvSpPr/>
            <p:nvPr/>
          </p:nvSpPr>
          <p:spPr>
            <a:xfrm>
              <a:off x="-18288" y="5232654"/>
              <a:ext cx="1042416" cy="1042416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8" name="Connector 9063"/>
            <p:cNvCxnSpPr/>
            <p:nvPr/>
          </p:nvCxnSpPr>
          <p:spPr>
            <a:xfrm>
              <a:off x="1024128" y="5493258"/>
              <a:ext cx="0" cy="260604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Oval 9064"/>
            <p:cNvSpPr/>
            <p:nvPr/>
          </p:nvSpPr>
          <p:spPr>
            <a:xfrm>
              <a:off x="1008126" y="56075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9065"/>
            <p:cNvSpPr/>
            <p:nvPr/>
          </p:nvSpPr>
          <p:spPr>
            <a:xfrm>
              <a:off x="1355598" y="56075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Rectangle 9066"/>
            <p:cNvSpPr/>
            <p:nvPr/>
          </p:nvSpPr>
          <p:spPr>
            <a:xfrm>
              <a:off x="438912" y="5493258"/>
              <a:ext cx="64008" cy="260604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Arc 9067"/>
            <p:cNvSpPr/>
            <p:nvPr/>
          </p:nvSpPr>
          <p:spPr>
            <a:xfrm>
              <a:off x="3456432" y="4972050"/>
              <a:ext cx="1042416" cy="1042416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Arc 9068"/>
            <p:cNvSpPr/>
            <p:nvPr/>
          </p:nvSpPr>
          <p:spPr>
            <a:xfrm>
              <a:off x="3456432" y="5232654"/>
              <a:ext cx="1042416" cy="1042416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4" name="Connector 9069"/>
            <p:cNvCxnSpPr/>
            <p:nvPr/>
          </p:nvCxnSpPr>
          <p:spPr>
            <a:xfrm>
              <a:off x="3456432" y="5493258"/>
              <a:ext cx="0" cy="260604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Oval 9070"/>
            <p:cNvSpPr/>
            <p:nvPr/>
          </p:nvSpPr>
          <p:spPr>
            <a:xfrm>
              <a:off x="3440430" y="56075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val 9071"/>
            <p:cNvSpPr/>
            <p:nvPr/>
          </p:nvSpPr>
          <p:spPr>
            <a:xfrm>
              <a:off x="3092958" y="56075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Rectangle 9072"/>
            <p:cNvSpPr/>
            <p:nvPr/>
          </p:nvSpPr>
          <p:spPr>
            <a:xfrm>
              <a:off x="3977640" y="5493258"/>
              <a:ext cx="64008" cy="260604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8" name="Rectangle 9073"/>
          <p:cNvSpPr/>
          <p:nvPr/>
        </p:nvSpPr>
        <p:spPr>
          <a:xfrm>
            <a:off x="5120640" y="4526280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9074"/>
          <p:cNvSpPr txBox="1"/>
          <p:nvPr/>
        </p:nvSpPr>
        <p:spPr>
          <a:xfrm>
            <a:off x="5193792" y="4498848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HALF COURT  (20m × 20m)</a:t>
            </a:r>
          </a:p>
        </p:txBody>
      </p:sp>
      <p:grpSp>
        <p:nvGrpSpPr>
          <p:cNvPr id="130" name="Library half court"/>
          <p:cNvGrpSpPr/>
          <p:nvPr/>
        </p:nvGrpSpPr>
        <p:grpSpPr>
          <a:xfrm>
            <a:off x="5193792" y="4754880"/>
            <a:ext cx="1801368" cy="1737360"/>
            <a:chOff x="5193792" y="4754880"/>
            <a:chExt cx="1801368" cy="1737360"/>
          </a:xfrm>
        </p:grpSpPr>
        <p:sp>
          <p:nvSpPr>
            <p:cNvPr id="131" name="Rectangle 9075"/>
            <p:cNvSpPr/>
            <p:nvPr/>
          </p:nvSpPr>
          <p:spPr>
            <a:xfrm>
              <a:off x="5257800" y="4754880"/>
              <a:ext cx="1737360" cy="1737360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Arc 9076"/>
            <p:cNvSpPr/>
            <p:nvPr/>
          </p:nvSpPr>
          <p:spPr>
            <a:xfrm>
              <a:off x="6734556" y="5362956"/>
              <a:ext cx="521208" cy="521208"/>
            </a:xfrm>
            <a:prstGeom prst="arc">
              <a:avLst>
                <a:gd name="adj1" fmla="val 54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Oval 9077"/>
            <p:cNvSpPr/>
            <p:nvPr/>
          </p:nvSpPr>
          <p:spPr>
            <a:xfrm>
              <a:off x="6979158" y="56075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Arc 9078"/>
            <p:cNvSpPr/>
            <p:nvPr/>
          </p:nvSpPr>
          <p:spPr>
            <a:xfrm>
              <a:off x="4736592" y="4972050"/>
              <a:ext cx="1042416" cy="1042416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Arc 9079"/>
            <p:cNvSpPr/>
            <p:nvPr/>
          </p:nvSpPr>
          <p:spPr>
            <a:xfrm>
              <a:off x="4736592" y="5232654"/>
              <a:ext cx="1042416" cy="1042416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6" name="Connector 9080"/>
            <p:cNvCxnSpPr/>
            <p:nvPr/>
          </p:nvCxnSpPr>
          <p:spPr>
            <a:xfrm>
              <a:off x="5779008" y="5493258"/>
              <a:ext cx="0" cy="260604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9081"/>
            <p:cNvSpPr/>
            <p:nvPr/>
          </p:nvSpPr>
          <p:spPr>
            <a:xfrm>
              <a:off x="5763006" y="56075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Oval 9082"/>
            <p:cNvSpPr/>
            <p:nvPr/>
          </p:nvSpPr>
          <p:spPr>
            <a:xfrm>
              <a:off x="6110478" y="56075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9083"/>
            <p:cNvSpPr/>
            <p:nvPr/>
          </p:nvSpPr>
          <p:spPr>
            <a:xfrm>
              <a:off x="5193792" y="5493258"/>
              <a:ext cx="64008" cy="260604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0" name="TextBox 9084"/>
          <p:cNvSpPr txBox="1"/>
          <p:nvPr/>
        </p:nvSpPr>
        <p:spPr>
          <a:xfrm>
            <a:off x="7406640" y="4754880"/>
            <a:ext cx="4434840" cy="18288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USAGE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Courts are grouped — one click selects the whole court. Copy and paste into any diagram zone, resize to fit. Ungroup (Ctrl+Shift+G) to edit individual markings.</a:t>
            </a:r>
          </a:p>
          <a:p>
            <a:pPr algn="l"/>
            <a:r>
              <a:rPr sz="300" b="0" lang="en-GB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All shapes are unlocked. Numbers inside markers are editable — double-click to change. To recolour: select shapes → Format Shape → Fill.</a:t>
            </a:r>
          </a:p>
        </p:txBody>
      </p:sp>
      <p:sp>
        <p:nvSpPr>
          <p:cNvPr id="141" name="TextBox 9085"/>
          <p:cNvSpPr txBox="1"/>
          <p:nvPr/>
        </p:nvSpPr>
        <p:spPr>
          <a:xfrm>
            <a:off x="137160" y="6725412"/>
            <a:ext cx="11917375" cy="1234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0" lang="en-GB">
                <a:solidFill>
                  <a:srgbClr val="6B6B6B"/>
                </a:solidFill>
                <a:latin typeface="Calibri"/>
              </a:rPr>
              <a:t>COMPONENT LIBRARY  —  court-scale tactical symbols  ·  scan zone (180°, 5.5 m) · vision cone (70°, 3 m) · long cone (8 m, standalone) · body puck · rotate to orient · combined group available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7955280" cy="4572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600" b="1" lang="en-GB">
                <a:solidFill>
                  <a:srgbClr val="1A1A1A"/>
                </a:solidFill>
                <a:latin typeface="Calibri"/>
              </a:rPr>
              <a:t>SESSION CONTROL BOARD</a:t>
            </a:r>
          </a:p>
          <a:p>
            <a:pPr algn="l"/>
            <a:r>
              <a:rPr sz="850" b="0" lang="en-GB">
                <a:solidFill>
                  <a:srgbClr val="6B6B6B"/>
                </a:solidFill>
                <a:latin typeface="Calibri"/>
              </a:rPr>
              <a:t>Time, load, tactical balance, rotations and the review loop on one surface. Plan it here, audit it here, seed next week here.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182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0" y="91440"/>
            <a:ext cx="2103120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MICROCYCLE  —  where this session sits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256032"/>
            <a:ext cx="548640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6B6B6B"/>
                </a:solidFill>
                <a:latin typeface="Calibri"/>
              </a:rPr>
              <a:t>MD-4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256032"/>
            <a:ext cx="548640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6B6B6B"/>
                </a:solidFill>
                <a:latin typeface="Calibri"/>
              </a:rPr>
              <a:t>MD-3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91472" y="256032"/>
            <a:ext cx="548640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6B6B6B"/>
                </a:solidFill>
                <a:latin typeface="Calibri"/>
              </a:rPr>
              <a:t>MD-2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6688" y="256032"/>
            <a:ext cx="548640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6B6B6B"/>
                </a:solidFill>
                <a:latin typeface="Calibri"/>
              </a:rPr>
              <a:t>MD-1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1904" y="256032"/>
            <a:ext cx="548640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6B6B6B"/>
                </a:solidFill>
                <a:latin typeface="Calibri"/>
              </a:rPr>
              <a:t>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247120" y="256032"/>
            <a:ext cx="548640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rgbClr val="6B6B6B"/>
                </a:solidFill>
                <a:latin typeface="Calibri"/>
              </a:rPr>
              <a:t>MD+1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9224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621792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TEMPO + LOAD TIMELINE  (width = 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603504"/>
            <a:ext cx="8183880" cy="36576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50" b="0" lang="en-GB">
                <a:solidFill>
                  <a:srgbClr val="6B6B6B"/>
                </a:solidFill>
                <a:latin typeface="Calibri"/>
              </a:rPr>
              <a:t>Bars are minutes — drag a bar edge to your real timings. Diamonds = planned intensity: drag one and the curve stays attached. After the session, copy the diamonds, recolour grey, set actual — instant planned vs actual.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40" y="1938528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1865376"/>
            <a:ext cx="457200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600" b="0" lang="en-GB">
                <a:solidFill>
                  <a:srgbClr val="6B6B6B"/>
                </a:solidFill>
                <a:latin typeface="Calibri"/>
              </a:rPr>
              <a:t>RPE 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40" y="1709928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1636776"/>
            <a:ext cx="457200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600" b="0" lang="en-GB">
                <a:solidFill>
                  <a:srgbClr val="6B6B6B"/>
                </a:solidFill>
                <a:latin typeface="Calibri"/>
              </a:rPr>
              <a:t>RPE 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5840" y="1481328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1408176"/>
            <a:ext cx="457200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600" b="0" lang="en-GB">
                <a:solidFill>
                  <a:srgbClr val="6B6B6B"/>
                </a:solidFill>
                <a:latin typeface="Calibri"/>
              </a:rPr>
              <a:t>RPE 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40" y="1252728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1179576"/>
            <a:ext cx="457200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600" b="0" lang="en-GB">
                <a:solidFill>
                  <a:srgbClr val="6B6B6B"/>
                </a:solidFill>
                <a:latin typeface="Calibri"/>
              </a:rPr>
              <a:t>RPE 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5840" y="1024128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950976"/>
            <a:ext cx="457200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600" b="0" lang="en-GB">
                <a:solidFill>
                  <a:srgbClr val="6B6B6B"/>
                </a:solidFill>
                <a:latin typeface="Calibri"/>
              </a:rPr>
              <a:t>RPE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2103120"/>
            <a:ext cx="1805940" cy="256032"/>
          </a:xfrm>
          <a:prstGeom prst="rect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2153412"/>
            <a:ext cx="1769364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1A1A1A"/>
                </a:solidFill>
                <a:latin typeface="Calibri"/>
              </a:rPr>
              <a:t>01  WARM UP · 15'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3760" y="2103120"/>
            <a:ext cx="2407920" cy="256032"/>
          </a:xfrm>
          <a:prstGeom prst="rect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32048" y="2153412"/>
            <a:ext cx="2371344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1A1A1A"/>
                </a:solidFill>
                <a:latin typeface="Calibri"/>
              </a:rPr>
              <a:t>02  TECHNICAL · 20'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23660" y="2103120"/>
            <a:ext cx="2407920" cy="256032"/>
          </a:xfrm>
          <a:prstGeom prst="rect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1948" y="2153412"/>
            <a:ext cx="2371344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1A1A1A"/>
                </a:solidFill>
                <a:latin typeface="Calibri"/>
              </a:rPr>
              <a:t>03  TACTICAL · 20'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33560" y="2103120"/>
            <a:ext cx="2407920" cy="256032"/>
          </a:xfrm>
          <a:prstGeom prst="rect">
            <a:avLst/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51848" y="2153412"/>
            <a:ext cx="2371344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1A1A1A"/>
                </a:solidFill>
                <a:latin typeface="Calibri"/>
              </a:rPr>
              <a:t>04  GAME · 20'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11780" y="2103120"/>
            <a:ext cx="601980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11780" y="2153412"/>
            <a:ext cx="60198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1" lang="en-GB">
                <a:solidFill>
                  <a:srgbClr val="6B6B6B"/>
                </a:solidFill>
                <a:latin typeface="Calibri"/>
              </a:rPr>
              <a:t>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21680" y="2103120"/>
            <a:ext cx="601980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21680" y="2153412"/>
            <a:ext cx="60198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1" lang="en-GB">
                <a:solidFill>
                  <a:srgbClr val="6B6B6B"/>
                </a:solidFill>
                <a:latin typeface="Calibri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31580" y="2103120"/>
            <a:ext cx="601980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31580" y="2153412"/>
            <a:ext cx="60198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50" b="1" lang="en-GB">
                <a:solidFill>
                  <a:srgbClr val="6B6B6B"/>
                </a:solidFill>
                <a:latin typeface="Calibri"/>
              </a:rPr>
              <a:t>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05840" y="2359152"/>
            <a:ext cx="0" cy="45720"/>
          </a:xfrm>
          <a:prstGeom prst="line">
            <a:avLst/>
          </a:prstGeom>
          <a:ln w="63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2960" y="2404872"/>
            <a:ext cx="365760" cy="12801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0" lang="en-GB">
                <a:solidFill>
                  <a:srgbClr val="6B6B6B"/>
                </a:solidFill>
                <a:latin typeface="Calibri"/>
              </a:rPr>
              <a:t>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607820" y="2359152"/>
            <a:ext cx="0" cy="27432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09800" y="2359152"/>
            <a:ext cx="0" cy="27432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11780" y="2359152"/>
            <a:ext cx="0" cy="45720"/>
          </a:xfrm>
          <a:prstGeom prst="line">
            <a:avLst/>
          </a:prstGeom>
          <a:ln w="63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628900" y="2404872"/>
            <a:ext cx="365760" cy="12801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0" lang="en-GB">
                <a:solidFill>
                  <a:srgbClr val="6B6B6B"/>
                </a:solidFill>
                <a:latin typeface="Calibri"/>
              </a:rPr>
              <a:t>15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413760" y="2359152"/>
            <a:ext cx="0" cy="27432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015740" y="2359152"/>
            <a:ext cx="0" cy="27432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617720" y="2359152"/>
            <a:ext cx="0" cy="45720"/>
          </a:xfrm>
          <a:prstGeom prst="line">
            <a:avLst/>
          </a:prstGeom>
          <a:ln w="63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434840" y="2404872"/>
            <a:ext cx="365760" cy="12801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0" lang="en-GB">
                <a:solidFill>
                  <a:srgbClr val="6B6B6B"/>
                </a:solidFill>
                <a:latin typeface="Calibri"/>
              </a:rPr>
              <a:t>30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219700" y="2359152"/>
            <a:ext cx="0" cy="27432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821680" y="2359152"/>
            <a:ext cx="0" cy="27432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423660" y="2359152"/>
            <a:ext cx="0" cy="45720"/>
          </a:xfrm>
          <a:prstGeom prst="line">
            <a:avLst/>
          </a:prstGeom>
          <a:ln w="63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40780" y="2404872"/>
            <a:ext cx="365760" cy="12801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0" lang="en-GB">
                <a:solidFill>
                  <a:srgbClr val="6B6B6B"/>
                </a:solidFill>
                <a:latin typeface="Calibri"/>
              </a:rPr>
              <a:t>45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025640" y="2359152"/>
            <a:ext cx="0" cy="27432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627620" y="2359152"/>
            <a:ext cx="0" cy="27432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229600" y="2359152"/>
            <a:ext cx="0" cy="45720"/>
          </a:xfrm>
          <a:prstGeom prst="line">
            <a:avLst/>
          </a:prstGeom>
          <a:ln w="63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046720" y="2404872"/>
            <a:ext cx="365760" cy="12801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0" lang="en-GB">
                <a:solidFill>
                  <a:srgbClr val="6B6B6B"/>
                </a:solidFill>
                <a:latin typeface="Calibri"/>
              </a:rPr>
              <a:t>60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831580" y="2359152"/>
            <a:ext cx="0" cy="27432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433560" y="2359152"/>
            <a:ext cx="0" cy="27432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035540" y="2359152"/>
            <a:ext cx="0" cy="45720"/>
          </a:xfrm>
          <a:prstGeom prst="line">
            <a:avLst/>
          </a:prstGeom>
          <a:ln w="63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852660" y="2404872"/>
            <a:ext cx="365760" cy="12801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0" lang="en-GB">
                <a:solidFill>
                  <a:srgbClr val="6B6B6B"/>
                </a:solidFill>
                <a:latin typeface="Calibri"/>
              </a:rPr>
              <a:t>75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637520" y="2359152"/>
            <a:ext cx="0" cy="27432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239500" y="2359152"/>
            <a:ext cx="0" cy="27432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841480" y="2359152"/>
            <a:ext cx="0" cy="45720"/>
          </a:xfrm>
          <a:prstGeom prst="line">
            <a:avLst/>
          </a:prstGeom>
          <a:ln w="63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1658600" y="2404872"/>
            <a:ext cx="365760" cy="12801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0" lang="en-GB">
                <a:solidFill>
                  <a:srgbClr val="6B6B6B"/>
                </a:solidFill>
                <a:latin typeface="Calibri"/>
              </a:rPr>
              <a:t>90</a:t>
            </a:r>
          </a:p>
        </p:txBody>
      </p:sp>
      <p:sp>
        <p:nvSpPr>
          <p:cNvPr id="64" name="Diamond 63"/>
          <p:cNvSpPr/>
          <p:nvPr/>
        </p:nvSpPr>
        <p:spPr>
          <a:xfrm>
            <a:off x="950976" y="1655064"/>
            <a:ext cx="109728" cy="10972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iamond 64"/>
          <p:cNvSpPr/>
          <p:nvPr/>
        </p:nvSpPr>
        <p:spPr>
          <a:xfrm>
            <a:off x="2756916" y="1426464"/>
            <a:ext cx="109728" cy="10972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iamond 65"/>
          <p:cNvSpPr/>
          <p:nvPr/>
        </p:nvSpPr>
        <p:spPr>
          <a:xfrm>
            <a:off x="3358896" y="1540764"/>
            <a:ext cx="109728" cy="10972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iamond 66"/>
          <p:cNvSpPr/>
          <p:nvPr/>
        </p:nvSpPr>
        <p:spPr>
          <a:xfrm>
            <a:off x="5766816" y="1197864"/>
            <a:ext cx="109728" cy="10972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6368796" y="1312164"/>
            <a:ext cx="109728" cy="10972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iamond 68"/>
          <p:cNvSpPr/>
          <p:nvPr/>
        </p:nvSpPr>
        <p:spPr>
          <a:xfrm>
            <a:off x="8776716" y="1083564"/>
            <a:ext cx="109728" cy="10972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iamond 69"/>
          <p:cNvSpPr/>
          <p:nvPr/>
        </p:nvSpPr>
        <p:spPr>
          <a:xfrm>
            <a:off x="9378696" y="1197864"/>
            <a:ext cx="109728" cy="10972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iamond 70"/>
          <p:cNvSpPr/>
          <p:nvPr/>
        </p:nvSpPr>
        <p:spPr>
          <a:xfrm>
            <a:off x="11786616" y="969264"/>
            <a:ext cx="109728" cy="10972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>
            <a:stCxn id="64" idx="3"/>
            <a:endCxn id="65" idx="1"/>
          </p:cNvCxnSpPr>
          <p:nvPr/>
        </p:nvCxnSpPr>
        <p:spPr>
          <a:xfrm flipV="1">
            <a:off x="1060704" y="1481328"/>
            <a:ext cx="1696212" cy="22860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65" idx="3"/>
            <a:endCxn id="66" idx="1"/>
          </p:cNvCxnSpPr>
          <p:nvPr/>
        </p:nvCxnSpPr>
        <p:spPr>
          <a:xfrm>
            <a:off x="2866644" y="1481328"/>
            <a:ext cx="492252" cy="11430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66" idx="3"/>
            <a:endCxn id="67" idx="1"/>
          </p:cNvCxnSpPr>
          <p:nvPr/>
        </p:nvCxnSpPr>
        <p:spPr>
          <a:xfrm flipV="1">
            <a:off x="3468624" y="1252728"/>
            <a:ext cx="2298192" cy="34290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stCxn id="67" idx="3"/>
            <a:endCxn id="68" idx="1"/>
          </p:cNvCxnSpPr>
          <p:nvPr/>
        </p:nvCxnSpPr>
        <p:spPr>
          <a:xfrm>
            <a:off x="5876544" y="1252728"/>
            <a:ext cx="492252" cy="11430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>
            <a:stCxn id="68" idx="3"/>
            <a:endCxn id="69" idx="1"/>
          </p:cNvCxnSpPr>
          <p:nvPr/>
        </p:nvCxnSpPr>
        <p:spPr>
          <a:xfrm flipV="1">
            <a:off x="6478524" y="1138428"/>
            <a:ext cx="2298192" cy="22860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>
            <a:stCxn id="69" idx="3"/>
            <a:endCxn id="70" idx="1"/>
          </p:cNvCxnSpPr>
          <p:nvPr/>
        </p:nvCxnSpPr>
        <p:spPr>
          <a:xfrm>
            <a:off x="8886444" y="1138428"/>
            <a:ext cx="492252" cy="11430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>
            <a:stCxn id="70" idx="3"/>
            <a:endCxn id="71" idx="1"/>
          </p:cNvCxnSpPr>
          <p:nvPr/>
        </p:nvCxnSpPr>
        <p:spPr>
          <a:xfrm flipV="1">
            <a:off x="9488424" y="1024128"/>
            <a:ext cx="2298192" cy="22860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37160" y="2633472"/>
            <a:ext cx="11917375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65760" y="2752344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8912" y="2724912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GAME-MOMENT FINGERPRINT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048" y="2907792"/>
            <a:ext cx="4023360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00" b="0" lang="en-GB">
                <a:solidFill>
                  <a:srgbClr val="6B6B6B"/>
                </a:solidFill>
                <a:latin typeface="Calibri"/>
              </a:rPr>
              <a:t>Where does this session actually live? Fill before you coach.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81328" y="3108960"/>
            <a:ext cx="585216" cy="12801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1" lang="en-GB">
                <a:solidFill>
                  <a:srgbClr val="6B6B6B"/>
                </a:solidFill>
                <a:latin typeface="Calibri"/>
              </a:rPr>
              <a:t>ATT ORG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66544" y="3108960"/>
            <a:ext cx="585216" cy="12801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1" lang="en-GB">
                <a:solidFill>
                  <a:srgbClr val="6B6B6B"/>
                </a:solidFill>
                <a:latin typeface="Calibri"/>
              </a:rPr>
              <a:t>DEF ORG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51760" y="3108960"/>
            <a:ext cx="585216" cy="12801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1" lang="en-GB">
                <a:solidFill>
                  <a:srgbClr val="6B6B6B"/>
                </a:solidFill>
                <a:latin typeface="Calibri"/>
              </a:rPr>
              <a:t>ATT→DEF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36976" y="3108960"/>
            <a:ext cx="585216" cy="12801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1" lang="en-GB">
                <a:solidFill>
                  <a:srgbClr val="6B6B6B"/>
                </a:solidFill>
                <a:latin typeface="Calibri"/>
              </a:rPr>
              <a:t>DEF→ATT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22192" y="3108960"/>
            <a:ext cx="585216" cy="12801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1" lang="en-GB">
                <a:solidFill>
                  <a:srgbClr val="6B6B6B"/>
                </a:solidFill>
                <a:latin typeface="Calibri"/>
              </a:rPr>
              <a:t>SET PLAY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4048" y="3328416"/>
            <a:ext cx="1078992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50" b="1" lang="en-GB">
                <a:solidFill>
                  <a:srgbClr val="1A1A1A"/>
                </a:solidFill>
                <a:latin typeface="Calibri"/>
              </a:rPr>
              <a:t>01  WARM UP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45920" y="3291840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231136" y="3291840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816352" y="3291840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401568" y="3291840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986784" y="3291840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4048" y="3675888"/>
            <a:ext cx="1078992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50" b="1" lang="en-GB">
                <a:solidFill>
                  <a:srgbClr val="1A1A1A"/>
                </a:solidFill>
                <a:latin typeface="Calibri"/>
              </a:rPr>
              <a:t>02  TECHNICAL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645920" y="3639312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231136" y="3639312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816352" y="3639312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401568" y="3639312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986784" y="3639312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84048" y="4023360"/>
            <a:ext cx="1078992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50" b="1" lang="en-GB">
                <a:solidFill>
                  <a:srgbClr val="1A1A1A"/>
                </a:solidFill>
                <a:latin typeface="Calibri"/>
              </a:rPr>
              <a:t>03  TACTICAL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45920" y="3986784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231136" y="3986784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816352" y="3986784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401568" y="3986784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986784" y="3986784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84048" y="4370832"/>
            <a:ext cx="1078992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50" b="1" lang="en-GB">
                <a:solidFill>
                  <a:srgbClr val="1A1A1A"/>
                </a:solidFill>
                <a:latin typeface="Calibri"/>
              </a:rPr>
              <a:t>04  GAME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645920" y="4334256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231136" y="4334256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816352" y="4334256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401568" y="4334256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986784" y="4334256"/>
            <a:ext cx="2560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84048" y="4736592"/>
            <a:ext cx="1078992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MINUTES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81328" y="4718304"/>
            <a:ext cx="585216" cy="18288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800" b="1" lang="en-GB">
                <a:solidFill>
                  <a:srgbClr val="1A1A1A"/>
                </a:solidFill>
                <a:latin typeface="Calibri"/>
              </a:rPr>
              <a:t>[  ]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66544" y="4718304"/>
            <a:ext cx="585216" cy="18288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800" b="1" lang="en-GB">
                <a:solidFill>
                  <a:srgbClr val="1A1A1A"/>
                </a:solidFill>
                <a:latin typeface="Calibri"/>
              </a:rPr>
              <a:t>[  ]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651760" y="4718304"/>
            <a:ext cx="585216" cy="18288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800" b="1" lang="en-GB">
                <a:solidFill>
                  <a:srgbClr val="1A1A1A"/>
                </a:solidFill>
                <a:latin typeface="Calibri"/>
              </a:rPr>
              <a:t>[  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236976" y="4718304"/>
            <a:ext cx="585216" cy="18288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800" b="1" lang="en-GB">
                <a:solidFill>
                  <a:srgbClr val="1A1A1A"/>
                </a:solidFill>
                <a:latin typeface="Calibri"/>
              </a:rPr>
              <a:t>[  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22192" y="4718304"/>
            <a:ext cx="585216" cy="18288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800" b="1" lang="en-GB">
                <a:solidFill>
                  <a:srgbClr val="1A1A1A"/>
                </a:solidFill>
                <a:latin typeface="Calibri"/>
              </a:rPr>
              <a:t>[  ]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" y="4992624"/>
            <a:ext cx="128016" cy="1280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48640" y="4974336"/>
            <a:ext cx="100584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650" b="0" lang="en-GB">
                <a:solidFill>
                  <a:srgbClr val="6B6B6B"/>
                </a:solidFill>
                <a:latin typeface="Calibri"/>
              </a:rPr>
              <a:t>PRIMARY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280160" y="4992624"/>
            <a:ext cx="128016" cy="1280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444752" y="4974336"/>
            <a:ext cx="301752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650" b="0" lang="en-GB">
                <a:solidFill>
                  <a:srgbClr val="6B6B6B"/>
                </a:solidFill>
                <a:latin typeface="Calibri"/>
              </a:rPr>
              <a:t>SECONDARY  ·  click a square → Fill to mark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709160" y="2752344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782312" y="2724912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ROTATION BOARD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27448" y="2898648"/>
            <a:ext cx="3017520" cy="2743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0" lang="en-GB">
                <a:solidFill>
                  <a:srgbClr val="6B6B6B"/>
                </a:solidFill>
                <a:latin typeface="Calibri"/>
              </a:rPr>
              <a:t>A / B = team   N = neutral   G = GK   R = rest</a:t>
            </a:r>
          </a:p>
          <a:p>
            <a:pPr algn="l"/>
            <a:r>
              <a:rPr sz="650" b="0" lang="en-GB">
                <a:solidFill>
                  <a:srgbClr val="6B6B6B"/>
                </a:solidFill>
                <a:latin typeface="Calibri"/>
              </a:rPr>
              <a:t>Empty cells show up before the session — nobody hides.</a:t>
            </a:r>
          </a:p>
        </p:txBody>
      </p:sp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4709160" y="3218688"/>
          <a:ext cx="1481328" cy="22677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5760"/>
                <a:gridCol w="237744"/>
                <a:gridCol w="219456"/>
                <a:gridCol w="219456"/>
                <a:gridCol w="219456"/>
                <a:gridCol w="219456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GK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GK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FIXO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FIXO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FIXO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6245352" y="3218688"/>
          <a:ext cx="1481328" cy="22677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5760"/>
                <a:gridCol w="237744"/>
                <a:gridCol w="219456"/>
                <a:gridCol w="219456"/>
                <a:gridCol w="219456"/>
                <a:gridCol w="219456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marL="36576" marR="18288" marT="4572" marB="4572" anchor="ctr"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ALA</a:t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PIVOT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PIVOT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PIVOT</a:t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18288" marT="4572" marB="4572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27" name="Rectangle 126"/>
          <p:cNvSpPr/>
          <p:nvPr/>
        </p:nvSpPr>
        <p:spPr>
          <a:xfrm>
            <a:off x="4709160" y="5641848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782312" y="5614416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UNAVAILABLE / MODIFIED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727448" y="5852160"/>
            <a:ext cx="299923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782312" y="5888736"/>
            <a:ext cx="2889504" cy="60350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INJURED / LOAD-MANAGED / RETURNING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player + what they can and cannot do]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001000" y="2752344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74152" y="2724912"/>
            <a:ext cx="3980383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REVIEW LOOP  —  close it in the hall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001000" y="2999232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055864" y="3035808"/>
            <a:ext cx="3730752" cy="4572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WHAT WORKED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— be specific]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9921240" y="3547872"/>
            <a:ext cx="0" cy="109728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8001000" y="36576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055864" y="3694176"/>
            <a:ext cx="3730752" cy="4572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rgbClr val="6B6B6B"/>
                </a:solidFill>
                <a:latin typeface="Calibri"/>
              </a:rPr>
              <a:t>WHAT TO CHANGE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— one constraint to adjust]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9921240" y="4206240"/>
            <a:ext cx="0" cy="109728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8001000" y="4315968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055864" y="4352544"/>
            <a:ext cx="3730752" cy="4572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00" b="1" lang="en-GB">
                <a:solidFill>
                  <a:schemeClr val="accent1"/>
                </a:solidFill>
                <a:latin typeface="Calibri"/>
              </a:rPr>
              <a:t>CARRY FORWARD → NEXT SESSION</a:t>
            </a:r>
          </a:p>
          <a:p>
            <a:pPr algn="l"/>
            <a:r>
              <a:rPr sz="800" b="0" lang="en-GB">
                <a:solidFill>
                  <a:srgbClr val="1A1A1A"/>
                </a:solidFill>
                <a:latin typeface="Calibri"/>
              </a:rPr>
              <a:t>[Insert — paste into next week's SESSION THEME]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166360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38912" y="5138928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SESSION AUDIT  —  the numbers nobody tracks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84048" y="5413248"/>
            <a:ext cx="95097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20624" y="5431536"/>
            <a:ext cx="877824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BALL-ROLLING 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20624" y="5614416"/>
            <a:ext cx="877824" cy="2377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rgbClr val="1A1A1A"/>
                </a:solidFill>
                <a:latin typeface="Calibri"/>
              </a:rPr>
              <a:t>[   ]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389888" y="5413248"/>
            <a:ext cx="95097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426464" y="5431536"/>
            <a:ext cx="877824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TALK TIME (min)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426464" y="5614416"/>
            <a:ext cx="877824" cy="2377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rgbClr val="1A1A1A"/>
                </a:solidFill>
                <a:latin typeface="Calibri"/>
              </a:rPr>
              <a:t>[   ]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395728" y="5413248"/>
            <a:ext cx="95097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432304" y="5431536"/>
            <a:ext cx="877824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PLANNED RPE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432304" y="5614416"/>
            <a:ext cx="877824" cy="2377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rgbClr val="1A1A1A"/>
                </a:solidFill>
                <a:latin typeface="Calibri"/>
              </a:rPr>
              <a:t>[   ]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401568" y="5413248"/>
            <a:ext cx="95097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438144" y="5431536"/>
            <a:ext cx="877824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ACTUAL RPE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438144" y="5614416"/>
            <a:ext cx="877824" cy="2377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rgbClr val="1A1A1A"/>
                </a:solidFill>
                <a:latin typeface="Calibri"/>
              </a:rPr>
              <a:t>[   ]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65760" y="6007608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38912" y="5980176"/>
            <a:ext cx="4389120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KIT + SETUP  —  check before you leave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84048" y="6236208"/>
            <a:ext cx="39684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38912" y="6291072"/>
            <a:ext cx="3858768" cy="31089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BALLS </a:t>
            </a:r>
            <a:r>
              <a:rPr sz="850" b="1" lang="en-GB">
                <a:solidFill>
                  <a:srgbClr val="1A1A1A"/>
                </a:solidFill>
                <a:latin typeface="Calibri"/>
              </a:rPr>
              <a:t>[  ]   </a:t>
            </a:r>
            <a:r>
              <a:rPr sz="650" b="1" lang="en-GB">
                <a:solidFill>
                  <a:srgbClr val="6B6B6B"/>
                </a:solidFill>
                <a:latin typeface="Calibri"/>
              </a:rPr>
              <a:t>BIBS </a:t>
            </a:r>
            <a:r>
              <a:rPr sz="850" b="1" lang="en-GB">
                <a:solidFill>
                  <a:srgbClr val="1A1A1A"/>
                </a:solidFill>
                <a:latin typeface="Calibri"/>
              </a:rPr>
              <a:t>[  ]   </a:t>
            </a:r>
            <a:r>
              <a:rPr sz="650" b="1" lang="en-GB">
                <a:solidFill>
                  <a:srgbClr val="6B6B6B"/>
                </a:solidFill>
                <a:latin typeface="Calibri"/>
              </a:rPr>
              <a:t>CONES </a:t>
            </a:r>
            <a:r>
              <a:rPr sz="850" b="1" lang="en-GB">
                <a:solidFill>
                  <a:srgbClr val="1A1A1A"/>
                </a:solidFill>
                <a:latin typeface="Calibri"/>
              </a:rPr>
              <a:t>[  ]   </a:t>
            </a:r>
            <a:r>
              <a:rPr sz="650" b="1" lang="en-GB">
                <a:solidFill>
                  <a:srgbClr val="6B6B6B"/>
                </a:solidFill>
                <a:latin typeface="Calibri"/>
              </a:rPr>
              <a:t>GOALS </a:t>
            </a:r>
            <a:r>
              <a:rPr sz="850" b="1" lang="en-GB">
                <a:solidFill>
                  <a:srgbClr val="1A1A1A"/>
                </a:solidFill>
                <a:latin typeface="Calibri"/>
              </a:rPr>
              <a:t>[  ]   </a:t>
            </a:r>
            <a:r>
              <a:rPr sz="650" b="1" lang="en-GB">
                <a:solidFill>
                  <a:srgbClr val="6B6B6B"/>
                </a:solidFill>
                <a:latin typeface="Calibri"/>
              </a:rPr>
              <a:t>GK KIT </a:t>
            </a:r>
            <a:r>
              <a:rPr sz="850" b="1" lang="en-GB">
                <a:solidFill>
                  <a:srgbClr val="1A1A1A"/>
                </a:solidFill>
                <a:latin typeface="Calibri"/>
              </a:rPr>
              <a:t>[  ]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001000" y="5166360"/>
            <a:ext cx="36576" cy="1463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074152" y="5138928"/>
            <a:ext cx="3980383" cy="201168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900" b="1" lang="en-GB">
                <a:solidFill>
                  <a:srgbClr val="1A1A1A"/>
                </a:solidFill>
                <a:latin typeface="Calibri"/>
              </a:rPr>
              <a:t>NEXT SESSION SEED  —  first three decisions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028432" y="5413248"/>
            <a:ext cx="3813048" cy="2743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000" b="1" lang="en-GB">
                <a:solidFill>
                  <a:schemeClr val="accent1"/>
                </a:solidFill>
                <a:latin typeface="Calibri"/>
              </a:rPr>
              <a:t>1 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decision]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8028432" y="5705856"/>
            <a:ext cx="3813048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8028432" y="5797296"/>
            <a:ext cx="3813048" cy="2743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000" b="1" lang="en-GB">
                <a:solidFill>
                  <a:schemeClr val="accent1"/>
                </a:solidFill>
                <a:latin typeface="Calibri"/>
              </a:rPr>
              <a:t>2 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decision]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8028432" y="6089904"/>
            <a:ext cx="3813048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8028432" y="6181344"/>
            <a:ext cx="3813048" cy="2743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000" b="1" lang="en-GB">
                <a:solidFill>
                  <a:schemeClr val="accent1"/>
                </a:solidFill>
                <a:latin typeface="Calibri"/>
              </a:rPr>
              <a:t>3   </a:t>
            </a:r>
            <a:r>
              <a:rPr sz="850" b="0" lang="en-GB">
                <a:solidFill>
                  <a:srgbClr val="1A1A1A"/>
                </a:solidFill>
                <a:latin typeface="Calibri"/>
              </a:rPr>
              <a:t>[Insert decision]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8028432" y="6473952"/>
            <a:ext cx="3813048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137160" y="6725412"/>
            <a:ext cx="11917375" cy="1234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0" lang="en-GB">
                <a:solidFill>
                  <a:srgbClr val="6B6B6B"/>
                </a:solidFill>
                <a:latin typeface="Calibri"/>
              </a:rPr>
              <a:t>SESSION CONTROL BOARD  —  width = time · drag intensity diamonds, the curve follows · fingerprint shows tactical balance · review loop seeds next week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795760" cy="4572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600" b="1" lang="en-GB">
                <a:solidFill>
                  <a:srgbClr val="1A1A1A"/>
                </a:solidFill>
                <a:latin typeface="Calibri"/>
              </a:rPr>
              <a:t>SET PIECES + SPECIAL SITUATIONS</a:t>
            </a:r>
          </a:p>
          <a:p>
            <a:pPr algn="l"/>
            <a:r>
              <a:rPr sz="850" b="0" lang="en-GB">
                <a:solidFill>
                  <a:srgbClr val="6B6B6B"/>
                </a:solidFill>
                <a:latin typeface="Calibri"/>
              </a:rPr>
              <a:t>Futsal's own restarts and phases — a court each, with the trigger, the five roles and the call. Rehearse these every camp; they decide tight games.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182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621792"/>
            <a:ext cx="3922776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621792"/>
            <a:ext cx="3922776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621792"/>
            <a:ext cx="45720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" y="653796"/>
            <a:ext cx="310896" cy="21945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72084"/>
            <a:ext cx="3447288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KICK-IN  —  ATTACKING</a:t>
            </a:r>
          </a:p>
        </p:txBody>
      </p:sp>
      <p:grpSp>
        <p:nvGrpSpPr>
          <p:cNvPr id="9" name="Set piece court 01"/>
          <p:cNvGrpSpPr/>
          <p:nvPr/>
        </p:nvGrpSpPr>
        <p:grpSpPr>
          <a:xfrm>
            <a:off x="210312" y="987552"/>
            <a:ext cx="1874520" cy="1810512"/>
            <a:chOff x="210312" y="987552"/>
            <a:chExt cx="1874520" cy="1810512"/>
          </a:xfrm>
        </p:grpSpPr>
        <p:sp>
          <p:nvSpPr>
            <p:cNvPr id="10" name="Rectangle 8"/>
            <p:cNvSpPr/>
            <p:nvPr/>
          </p:nvSpPr>
          <p:spPr>
            <a:xfrm>
              <a:off x="274320" y="987552"/>
              <a:ext cx="1810512" cy="181051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Arc 9"/>
            <p:cNvSpPr/>
            <p:nvPr/>
          </p:nvSpPr>
          <p:spPr>
            <a:xfrm>
              <a:off x="1813255" y="1621231"/>
              <a:ext cx="543154" cy="543154"/>
            </a:xfrm>
            <a:prstGeom prst="arc">
              <a:avLst>
                <a:gd name="adj1" fmla="val 54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0"/>
            <p:cNvSpPr/>
            <p:nvPr/>
          </p:nvSpPr>
          <p:spPr>
            <a:xfrm>
              <a:off x="2068830" y="1876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Arc 11"/>
            <p:cNvSpPr/>
            <p:nvPr/>
          </p:nvSpPr>
          <p:spPr>
            <a:xfrm>
              <a:off x="-268834" y="1213866"/>
              <a:ext cx="1086307" cy="1086307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Arc 12"/>
            <p:cNvSpPr/>
            <p:nvPr/>
          </p:nvSpPr>
          <p:spPr>
            <a:xfrm>
              <a:off x="-268834" y="1485443"/>
              <a:ext cx="1086307" cy="1086307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3"/>
            <p:cNvCxnSpPr/>
            <p:nvPr/>
          </p:nvCxnSpPr>
          <p:spPr>
            <a:xfrm>
              <a:off x="817474" y="1757020"/>
              <a:ext cx="0" cy="271576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4"/>
            <p:cNvSpPr/>
            <p:nvPr/>
          </p:nvSpPr>
          <p:spPr>
            <a:xfrm>
              <a:off x="801472" y="1876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5"/>
            <p:cNvSpPr/>
            <p:nvPr/>
          </p:nvSpPr>
          <p:spPr>
            <a:xfrm>
              <a:off x="1163574" y="1876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6"/>
            <p:cNvSpPr/>
            <p:nvPr/>
          </p:nvSpPr>
          <p:spPr>
            <a:xfrm>
              <a:off x="210312" y="1757020"/>
              <a:ext cx="64008" cy="271577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" name="Rounded Rectangle 9014"/>
          <p:cNvSpPr/>
          <p:nvPr/>
        </p:nvSpPr>
        <p:spPr>
          <a:xfrm>
            <a:off x="2203704" y="987552"/>
            <a:ext cx="1764792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chemeClr val="accent1"/>
                </a:solidFill>
                <a:latin typeface="Calibri"/>
              </a:rPr>
              <a:t>4s to restart</a:t>
            </a:r>
          </a:p>
        </p:txBody>
      </p:sp>
      <p:sp>
        <p:nvSpPr>
          <p:cNvPr id="20" name="TextBox 9015"/>
          <p:cNvSpPr txBox="1"/>
          <p:nvPr/>
        </p:nvSpPr>
        <p:spPr>
          <a:xfrm>
            <a:off x="2203704" y="1225296"/>
            <a:ext cx="1764792" cy="31089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TRIGGER</a:t>
            </a:r>
          </a:p>
          <a:p>
            <a:pPr algn="l"/>
            <a:r>
              <a:rPr sz="750" b="0" lang="en-GB">
                <a:solidFill>
                  <a:srgbClr val="1A1A1A"/>
                </a:solidFill>
                <a:latin typeface="Calibri"/>
              </a:rPr>
              <a:t>Ball out of play at the touchline</a:t>
            </a:r>
          </a:p>
        </p:txBody>
      </p:sp>
      <p:sp>
        <p:nvSpPr>
          <p:cNvPr id="21" name="TextBox 9016"/>
          <p:cNvSpPr txBox="1"/>
          <p:nvPr/>
        </p:nvSpPr>
        <p:spPr>
          <a:xfrm>
            <a:off x="2203704" y="1572768"/>
            <a:ext cx="1764792" cy="14630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ROLES</a:t>
            </a:r>
          </a:p>
        </p:txBody>
      </p:sp>
      <p:sp>
        <p:nvSpPr>
          <p:cNvPr id="22" name="TextBox 9017"/>
          <p:cNvSpPr txBox="1"/>
          <p:nvPr/>
        </p:nvSpPr>
        <p:spPr>
          <a:xfrm>
            <a:off x="2203704" y="1737360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1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23" name="TextBox 9018"/>
          <p:cNvSpPr txBox="1"/>
          <p:nvPr/>
        </p:nvSpPr>
        <p:spPr>
          <a:xfrm>
            <a:off x="2203704" y="1911096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2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24" name="TextBox 9019"/>
          <p:cNvSpPr txBox="1"/>
          <p:nvPr/>
        </p:nvSpPr>
        <p:spPr>
          <a:xfrm>
            <a:off x="2203704" y="2084832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3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25" name="TextBox 9020"/>
          <p:cNvSpPr txBox="1"/>
          <p:nvPr/>
        </p:nvSpPr>
        <p:spPr>
          <a:xfrm>
            <a:off x="2203704" y="2258568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4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26" name="TextBox 9021"/>
          <p:cNvSpPr txBox="1"/>
          <p:nvPr/>
        </p:nvSpPr>
        <p:spPr>
          <a:xfrm>
            <a:off x="2203704" y="2432304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5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cxnSp>
        <p:nvCxnSpPr>
          <p:cNvPr id="27" name="Connector 9022"/>
          <p:cNvCxnSpPr/>
          <p:nvPr/>
        </p:nvCxnSpPr>
        <p:spPr>
          <a:xfrm>
            <a:off x="265176" y="2871216"/>
            <a:ext cx="3666744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023"/>
          <p:cNvSpPr txBox="1"/>
          <p:nvPr/>
        </p:nvSpPr>
        <p:spPr>
          <a:xfrm>
            <a:off x="283464" y="2907792"/>
            <a:ext cx="1737360" cy="347472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CALL / SIGNAL</a:t>
            </a:r>
          </a:p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[Insert call]</a:t>
            </a:r>
          </a:p>
        </p:txBody>
      </p:sp>
      <p:cxnSp>
        <p:nvCxnSpPr>
          <p:cNvPr id="29" name="Connector 9024"/>
          <p:cNvCxnSpPr/>
          <p:nvPr/>
        </p:nvCxnSpPr>
        <p:spPr>
          <a:xfrm>
            <a:off x="2112264" y="2926080"/>
            <a:ext cx="0" cy="50292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9025"/>
          <p:cNvSpPr txBox="1"/>
          <p:nvPr/>
        </p:nvSpPr>
        <p:spPr>
          <a:xfrm>
            <a:off x="2185416" y="2907792"/>
            <a:ext cx="1728216" cy="54864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NON-NEGOTIABLE</a:t>
            </a:r>
          </a:p>
          <a:p>
            <a:pPr algn="l"/>
            <a:r>
              <a:rPr sz="750" b="0" lang="en-GB">
                <a:solidFill>
                  <a:srgbClr val="1A1A1A"/>
                </a:solidFill>
                <a:latin typeface="Calibri"/>
              </a:rPr>
              <a:t>[Insert the one detail that must be right]</a:t>
            </a:r>
          </a:p>
        </p:txBody>
      </p:sp>
      <p:sp>
        <p:nvSpPr>
          <p:cNvPr id="31" name="Rectangle 9026"/>
          <p:cNvSpPr/>
          <p:nvPr/>
        </p:nvSpPr>
        <p:spPr>
          <a:xfrm>
            <a:off x="4133088" y="621792"/>
            <a:ext cx="3922776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9027"/>
          <p:cNvSpPr/>
          <p:nvPr/>
        </p:nvSpPr>
        <p:spPr>
          <a:xfrm>
            <a:off x="4133088" y="621792"/>
            <a:ext cx="3922776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9028"/>
          <p:cNvSpPr/>
          <p:nvPr/>
        </p:nvSpPr>
        <p:spPr>
          <a:xfrm>
            <a:off x="4133088" y="621792"/>
            <a:ext cx="45720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9029"/>
          <p:cNvSpPr txBox="1"/>
          <p:nvPr/>
        </p:nvSpPr>
        <p:spPr>
          <a:xfrm>
            <a:off x="4215384" y="653796"/>
            <a:ext cx="310896" cy="21945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02</a:t>
            </a:r>
          </a:p>
        </p:txBody>
      </p:sp>
      <p:sp>
        <p:nvSpPr>
          <p:cNvPr id="35" name="TextBox 9030"/>
          <p:cNvSpPr txBox="1"/>
          <p:nvPr/>
        </p:nvSpPr>
        <p:spPr>
          <a:xfrm>
            <a:off x="4544568" y="672084"/>
            <a:ext cx="3447288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CORNER  —  ATTACKING</a:t>
            </a:r>
          </a:p>
        </p:txBody>
      </p:sp>
      <p:grpSp>
        <p:nvGrpSpPr>
          <p:cNvPr id="36" name="Set piece court 02"/>
          <p:cNvGrpSpPr/>
          <p:nvPr/>
        </p:nvGrpSpPr>
        <p:grpSpPr>
          <a:xfrm>
            <a:off x="4206240" y="987552"/>
            <a:ext cx="1874520" cy="1810512"/>
            <a:chOff x="4206240" y="987552"/>
            <a:chExt cx="1874520" cy="1810512"/>
          </a:xfrm>
        </p:grpSpPr>
        <p:sp>
          <p:nvSpPr>
            <p:cNvPr id="37" name="Rectangle 9031"/>
            <p:cNvSpPr/>
            <p:nvPr/>
          </p:nvSpPr>
          <p:spPr>
            <a:xfrm>
              <a:off x="4270248" y="987552"/>
              <a:ext cx="1810512" cy="181051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Arc 9032"/>
            <p:cNvSpPr/>
            <p:nvPr/>
          </p:nvSpPr>
          <p:spPr>
            <a:xfrm>
              <a:off x="5809183" y="1621231"/>
              <a:ext cx="543154" cy="543154"/>
            </a:xfrm>
            <a:prstGeom prst="arc">
              <a:avLst>
                <a:gd name="adj1" fmla="val 54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9033"/>
            <p:cNvSpPr/>
            <p:nvPr/>
          </p:nvSpPr>
          <p:spPr>
            <a:xfrm>
              <a:off x="6064758" y="1876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Arc 9034"/>
            <p:cNvSpPr/>
            <p:nvPr/>
          </p:nvSpPr>
          <p:spPr>
            <a:xfrm>
              <a:off x="3727094" y="1213866"/>
              <a:ext cx="1086307" cy="1086307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Arc 9035"/>
            <p:cNvSpPr/>
            <p:nvPr/>
          </p:nvSpPr>
          <p:spPr>
            <a:xfrm>
              <a:off x="3727094" y="1485443"/>
              <a:ext cx="1086307" cy="1086307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2" name="Connector 9036"/>
            <p:cNvCxnSpPr/>
            <p:nvPr/>
          </p:nvCxnSpPr>
          <p:spPr>
            <a:xfrm>
              <a:off x="4813402" y="1757020"/>
              <a:ext cx="0" cy="271576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9037"/>
            <p:cNvSpPr/>
            <p:nvPr/>
          </p:nvSpPr>
          <p:spPr>
            <a:xfrm>
              <a:off x="4797400" y="1876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9038"/>
            <p:cNvSpPr/>
            <p:nvPr/>
          </p:nvSpPr>
          <p:spPr>
            <a:xfrm>
              <a:off x="5159502" y="1876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9039"/>
            <p:cNvSpPr/>
            <p:nvPr/>
          </p:nvSpPr>
          <p:spPr>
            <a:xfrm>
              <a:off x="4206240" y="1757020"/>
              <a:ext cx="64008" cy="271577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6" name="Rounded Rectangle 9040"/>
          <p:cNvSpPr/>
          <p:nvPr/>
        </p:nvSpPr>
        <p:spPr>
          <a:xfrm>
            <a:off x="6199632" y="987552"/>
            <a:ext cx="1764792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chemeClr val="accent1"/>
                </a:solidFill>
                <a:latin typeface="Calibri"/>
              </a:rPr>
              <a:t>4s to restart</a:t>
            </a:r>
          </a:p>
        </p:txBody>
      </p:sp>
      <p:sp>
        <p:nvSpPr>
          <p:cNvPr id="47" name="TextBox 9041"/>
          <p:cNvSpPr txBox="1"/>
          <p:nvPr/>
        </p:nvSpPr>
        <p:spPr>
          <a:xfrm>
            <a:off x="6199632" y="1225296"/>
            <a:ext cx="1764792" cy="31089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TRIGGER</a:t>
            </a:r>
          </a:p>
          <a:p>
            <a:pPr algn="l"/>
            <a:r>
              <a:rPr sz="750" b="0" lang="en-GB">
                <a:solidFill>
                  <a:srgbClr val="1A1A1A"/>
                </a:solidFill>
                <a:latin typeface="Calibri"/>
              </a:rPr>
              <a:t>Corner awarded</a:t>
            </a:r>
          </a:p>
        </p:txBody>
      </p:sp>
      <p:sp>
        <p:nvSpPr>
          <p:cNvPr id="48" name="TextBox 9042"/>
          <p:cNvSpPr txBox="1"/>
          <p:nvPr/>
        </p:nvSpPr>
        <p:spPr>
          <a:xfrm>
            <a:off x="6199632" y="1572768"/>
            <a:ext cx="1764792" cy="14630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ROLES</a:t>
            </a:r>
          </a:p>
        </p:txBody>
      </p:sp>
      <p:sp>
        <p:nvSpPr>
          <p:cNvPr id="49" name="TextBox 9043"/>
          <p:cNvSpPr txBox="1"/>
          <p:nvPr/>
        </p:nvSpPr>
        <p:spPr>
          <a:xfrm>
            <a:off x="6199632" y="1737360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1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50" name="TextBox 9044"/>
          <p:cNvSpPr txBox="1"/>
          <p:nvPr/>
        </p:nvSpPr>
        <p:spPr>
          <a:xfrm>
            <a:off x="6199632" y="1911096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2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51" name="TextBox 9045"/>
          <p:cNvSpPr txBox="1"/>
          <p:nvPr/>
        </p:nvSpPr>
        <p:spPr>
          <a:xfrm>
            <a:off x="6199632" y="2084832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3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52" name="TextBox 9046"/>
          <p:cNvSpPr txBox="1"/>
          <p:nvPr/>
        </p:nvSpPr>
        <p:spPr>
          <a:xfrm>
            <a:off x="6199632" y="2258568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4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53" name="TextBox 9047"/>
          <p:cNvSpPr txBox="1"/>
          <p:nvPr/>
        </p:nvSpPr>
        <p:spPr>
          <a:xfrm>
            <a:off x="6199632" y="2432304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5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cxnSp>
        <p:nvCxnSpPr>
          <p:cNvPr id="54" name="Connector 9048"/>
          <p:cNvCxnSpPr/>
          <p:nvPr/>
        </p:nvCxnSpPr>
        <p:spPr>
          <a:xfrm>
            <a:off x="4261104" y="2871216"/>
            <a:ext cx="3666744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9049"/>
          <p:cNvSpPr txBox="1"/>
          <p:nvPr/>
        </p:nvSpPr>
        <p:spPr>
          <a:xfrm>
            <a:off x="4279392" y="2907792"/>
            <a:ext cx="1737360" cy="347472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CALL / SIGNAL</a:t>
            </a:r>
          </a:p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[Insert call]</a:t>
            </a:r>
          </a:p>
        </p:txBody>
      </p:sp>
      <p:cxnSp>
        <p:nvCxnSpPr>
          <p:cNvPr id="56" name="Connector 9050"/>
          <p:cNvCxnSpPr/>
          <p:nvPr/>
        </p:nvCxnSpPr>
        <p:spPr>
          <a:xfrm>
            <a:off x="6108192" y="2926080"/>
            <a:ext cx="0" cy="50292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9051"/>
          <p:cNvSpPr txBox="1"/>
          <p:nvPr/>
        </p:nvSpPr>
        <p:spPr>
          <a:xfrm>
            <a:off x="6181344" y="2907792"/>
            <a:ext cx="1728216" cy="54864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NON-NEGOTIABLE</a:t>
            </a:r>
          </a:p>
          <a:p>
            <a:pPr algn="l"/>
            <a:r>
              <a:rPr sz="750" b="0" lang="en-GB">
                <a:solidFill>
                  <a:srgbClr val="1A1A1A"/>
                </a:solidFill>
                <a:latin typeface="Calibri"/>
              </a:rPr>
              <a:t>[Insert the one detail that must be right]</a:t>
            </a:r>
          </a:p>
        </p:txBody>
      </p:sp>
      <p:sp>
        <p:nvSpPr>
          <p:cNvPr id="58" name="Rectangle 9052"/>
          <p:cNvSpPr/>
          <p:nvPr/>
        </p:nvSpPr>
        <p:spPr>
          <a:xfrm>
            <a:off x="8129016" y="621792"/>
            <a:ext cx="3922776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9053"/>
          <p:cNvSpPr/>
          <p:nvPr/>
        </p:nvSpPr>
        <p:spPr>
          <a:xfrm>
            <a:off x="8129016" y="621792"/>
            <a:ext cx="3922776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9054"/>
          <p:cNvSpPr/>
          <p:nvPr/>
        </p:nvSpPr>
        <p:spPr>
          <a:xfrm>
            <a:off x="8129016" y="621792"/>
            <a:ext cx="45720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9055"/>
          <p:cNvSpPr txBox="1"/>
          <p:nvPr/>
        </p:nvSpPr>
        <p:spPr>
          <a:xfrm>
            <a:off x="8211312" y="653796"/>
            <a:ext cx="310896" cy="21945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03</a:t>
            </a:r>
          </a:p>
        </p:txBody>
      </p:sp>
      <p:sp>
        <p:nvSpPr>
          <p:cNvPr id="62" name="TextBox 9056"/>
          <p:cNvSpPr txBox="1"/>
          <p:nvPr/>
        </p:nvSpPr>
        <p:spPr>
          <a:xfrm>
            <a:off x="8540496" y="672084"/>
            <a:ext cx="3447288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GOAL CLEARANCE  —  BUILD OUT</a:t>
            </a:r>
          </a:p>
        </p:txBody>
      </p:sp>
      <p:grpSp>
        <p:nvGrpSpPr>
          <p:cNvPr id="63" name="Set piece court 03"/>
          <p:cNvGrpSpPr/>
          <p:nvPr/>
        </p:nvGrpSpPr>
        <p:grpSpPr>
          <a:xfrm>
            <a:off x="8202168" y="987552"/>
            <a:ext cx="1874520" cy="1810512"/>
            <a:chOff x="8202168" y="987552"/>
            <a:chExt cx="1874520" cy="1810512"/>
          </a:xfrm>
        </p:grpSpPr>
        <p:sp>
          <p:nvSpPr>
            <p:cNvPr id="64" name="Rectangle 9057"/>
            <p:cNvSpPr/>
            <p:nvPr/>
          </p:nvSpPr>
          <p:spPr>
            <a:xfrm>
              <a:off x="8266176" y="987552"/>
              <a:ext cx="1810512" cy="181051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Arc 9058"/>
            <p:cNvSpPr/>
            <p:nvPr/>
          </p:nvSpPr>
          <p:spPr>
            <a:xfrm>
              <a:off x="9805111" y="1621231"/>
              <a:ext cx="543154" cy="543154"/>
            </a:xfrm>
            <a:prstGeom prst="arc">
              <a:avLst>
                <a:gd name="adj1" fmla="val 54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9059"/>
            <p:cNvSpPr/>
            <p:nvPr/>
          </p:nvSpPr>
          <p:spPr>
            <a:xfrm>
              <a:off x="10060686" y="1876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Arc 9060"/>
            <p:cNvSpPr/>
            <p:nvPr/>
          </p:nvSpPr>
          <p:spPr>
            <a:xfrm>
              <a:off x="7723022" y="1213866"/>
              <a:ext cx="1086307" cy="1086307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Arc 9061"/>
            <p:cNvSpPr/>
            <p:nvPr/>
          </p:nvSpPr>
          <p:spPr>
            <a:xfrm>
              <a:off x="7723022" y="1485443"/>
              <a:ext cx="1086307" cy="1086307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9" name="Connector 9062"/>
            <p:cNvCxnSpPr/>
            <p:nvPr/>
          </p:nvCxnSpPr>
          <p:spPr>
            <a:xfrm>
              <a:off x="8809330" y="1757020"/>
              <a:ext cx="0" cy="271576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9063"/>
            <p:cNvSpPr/>
            <p:nvPr/>
          </p:nvSpPr>
          <p:spPr>
            <a:xfrm>
              <a:off x="8793328" y="1876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9064"/>
            <p:cNvSpPr/>
            <p:nvPr/>
          </p:nvSpPr>
          <p:spPr>
            <a:xfrm>
              <a:off x="9155430" y="18768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9065"/>
            <p:cNvSpPr/>
            <p:nvPr/>
          </p:nvSpPr>
          <p:spPr>
            <a:xfrm>
              <a:off x="8202168" y="1757020"/>
              <a:ext cx="64008" cy="271577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3" name="Rounded Rectangle 9066"/>
          <p:cNvSpPr/>
          <p:nvPr/>
        </p:nvSpPr>
        <p:spPr>
          <a:xfrm>
            <a:off x="10195560" y="987552"/>
            <a:ext cx="1764792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chemeClr val="accent1"/>
                </a:solidFill>
                <a:latin typeface="Calibri"/>
              </a:rPr>
              <a:t>Must leave the area</a:t>
            </a:r>
          </a:p>
        </p:txBody>
      </p:sp>
      <p:sp>
        <p:nvSpPr>
          <p:cNvPr id="74" name="TextBox 9067"/>
          <p:cNvSpPr txBox="1"/>
          <p:nvPr/>
        </p:nvSpPr>
        <p:spPr>
          <a:xfrm>
            <a:off x="10195560" y="1225296"/>
            <a:ext cx="1764792" cy="31089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TRIGGER</a:t>
            </a:r>
          </a:p>
          <a:p>
            <a:pPr algn="l"/>
            <a:r>
              <a:rPr sz="750" b="0" lang="en-GB">
                <a:solidFill>
                  <a:srgbClr val="1A1A1A"/>
                </a:solidFill>
                <a:latin typeface="Calibri"/>
              </a:rPr>
              <a:t>GK has the ball in hand</a:t>
            </a:r>
          </a:p>
        </p:txBody>
      </p:sp>
      <p:sp>
        <p:nvSpPr>
          <p:cNvPr id="75" name="TextBox 9068"/>
          <p:cNvSpPr txBox="1"/>
          <p:nvPr/>
        </p:nvSpPr>
        <p:spPr>
          <a:xfrm>
            <a:off x="10195560" y="1572768"/>
            <a:ext cx="1764792" cy="14630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ROLES</a:t>
            </a:r>
          </a:p>
        </p:txBody>
      </p:sp>
      <p:sp>
        <p:nvSpPr>
          <p:cNvPr id="76" name="TextBox 9069"/>
          <p:cNvSpPr txBox="1"/>
          <p:nvPr/>
        </p:nvSpPr>
        <p:spPr>
          <a:xfrm>
            <a:off x="10195560" y="1737360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1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77" name="TextBox 9070"/>
          <p:cNvSpPr txBox="1"/>
          <p:nvPr/>
        </p:nvSpPr>
        <p:spPr>
          <a:xfrm>
            <a:off x="10195560" y="1911096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2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78" name="TextBox 9071"/>
          <p:cNvSpPr txBox="1"/>
          <p:nvPr/>
        </p:nvSpPr>
        <p:spPr>
          <a:xfrm>
            <a:off x="10195560" y="2084832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3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79" name="TextBox 9072"/>
          <p:cNvSpPr txBox="1"/>
          <p:nvPr/>
        </p:nvSpPr>
        <p:spPr>
          <a:xfrm>
            <a:off x="10195560" y="2258568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4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80" name="TextBox 9073"/>
          <p:cNvSpPr txBox="1"/>
          <p:nvPr/>
        </p:nvSpPr>
        <p:spPr>
          <a:xfrm>
            <a:off x="10195560" y="2432304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5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cxnSp>
        <p:nvCxnSpPr>
          <p:cNvPr id="81" name="Connector 9074"/>
          <p:cNvCxnSpPr/>
          <p:nvPr/>
        </p:nvCxnSpPr>
        <p:spPr>
          <a:xfrm>
            <a:off x="8257032" y="2871216"/>
            <a:ext cx="3666744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9075"/>
          <p:cNvSpPr txBox="1"/>
          <p:nvPr/>
        </p:nvSpPr>
        <p:spPr>
          <a:xfrm>
            <a:off x="8275320" y="2907792"/>
            <a:ext cx="1737360" cy="347472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CALL / SIGNAL</a:t>
            </a:r>
          </a:p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[Insert call]</a:t>
            </a:r>
          </a:p>
        </p:txBody>
      </p:sp>
      <p:cxnSp>
        <p:nvCxnSpPr>
          <p:cNvPr id="83" name="Connector 9076"/>
          <p:cNvCxnSpPr/>
          <p:nvPr/>
        </p:nvCxnSpPr>
        <p:spPr>
          <a:xfrm>
            <a:off x="10104120" y="2926080"/>
            <a:ext cx="0" cy="50292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9077"/>
          <p:cNvSpPr txBox="1"/>
          <p:nvPr/>
        </p:nvSpPr>
        <p:spPr>
          <a:xfrm>
            <a:off x="10177272" y="2907792"/>
            <a:ext cx="1728216" cy="54864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NON-NEGOTIABLE</a:t>
            </a:r>
          </a:p>
          <a:p>
            <a:pPr algn="l"/>
            <a:r>
              <a:rPr sz="750" b="0" lang="en-GB">
                <a:solidFill>
                  <a:srgbClr val="1A1A1A"/>
                </a:solidFill>
                <a:latin typeface="Calibri"/>
              </a:rPr>
              <a:t>[Insert the one detail that must be right]</a:t>
            </a:r>
          </a:p>
        </p:txBody>
      </p:sp>
      <p:sp>
        <p:nvSpPr>
          <p:cNvPr id="85" name="Rectangle 9078"/>
          <p:cNvSpPr/>
          <p:nvPr/>
        </p:nvSpPr>
        <p:spPr>
          <a:xfrm>
            <a:off x="137160" y="3593592"/>
            <a:ext cx="3922776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9079"/>
          <p:cNvSpPr/>
          <p:nvPr/>
        </p:nvSpPr>
        <p:spPr>
          <a:xfrm>
            <a:off x="137160" y="3593592"/>
            <a:ext cx="3922776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9080"/>
          <p:cNvSpPr/>
          <p:nvPr/>
        </p:nvSpPr>
        <p:spPr>
          <a:xfrm>
            <a:off x="137160" y="3593592"/>
            <a:ext cx="45720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9081"/>
          <p:cNvSpPr txBox="1"/>
          <p:nvPr/>
        </p:nvSpPr>
        <p:spPr>
          <a:xfrm>
            <a:off x="219456" y="3625596"/>
            <a:ext cx="310896" cy="21945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04</a:t>
            </a:r>
          </a:p>
        </p:txBody>
      </p:sp>
      <p:sp>
        <p:nvSpPr>
          <p:cNvPr id="89" name="TextBox 9082"/>
          <p:cNvSpPr txBox="1"/>
          <p:nvPr/>
        </p:nvSpPr>
        <p:spPr>
          <a:xfrm>
            <a:off x="548640" y="3643884"/>
            <a:ext cx="3447288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POWERPLAY  4v3  —  FLYING GK</a:t>
            </a:r>
          </a:p>
        </p:txBody>
      </p:sp>
      <p:grpSp>
        <p:nvGrpSpPr>
          <p:cNvPr id="90" name="Set piece court 04"/>
          <p:cNvGrpSpPr/>
          <p:nvPr/>
        </p:nvGrpSpPr>
        <p:grpSpPr>
          <a:xfrm>
            <a:off x="210312" y="3959352"/>
            <a:ext cx="1874520" cy="1810512"/>
            <a:chOff x="210312" y="3959352"/>
            <a:chExt cx="1874520" cy="1810512"/>
          </a:xfrm>
        </p:grpSpPr>
        <p:sp>
          <p:nvSpPr>
            <p:cNvPr id="91" name="Rectangle 9083"/>
            <p:cNvSpPr/>
            <p:nvPr/>
          </p:nvSpPr>
          <p:spPr>
            <a:xfrm>
              <a:off x="274320" y="3959352"/>
              <a:ext cx="1810512" cy="181051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Arc 9084"/>
            <p:cNvSpPr/>
            <p:nvPr/>
          </p:nvSpPr>
          <p:spPr>
            <a:xfrm>
              <a:off x="1813255" y="4593031"/>
              <a:ext cx="543154" cy="543154"/>
            </a:xfrm>
            <a:prstGeom prst="arc">
              <a:avLst>
                <a:gd name="adj1" fmla="val 54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085"/>
            <p:cNvSpPr/>
            <p:nvPr/>
          </p:nvSpPr>
          <p:spPr>
            <a:xfrm>
              <a:off x="2068830" y="48486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Arc 9086"/>
            <p:cNvSpPr/>
            <p:nvPr/>
          </p:nvSpPr>
          <p:spPr>
            <a:xfrm>
              <a:off x="-268834" y="4185666"/>
              <a:ext cx="1086307" cy="1086307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Arc 9087"/>
            <p:cNvSpPr/>
            <p:nvPr/>
          </p:nvSpPr>
          <p:spPr>
            <a:xfrm>
              <a:off x="-268834" y="4457243"/>
              <a:ext cx="1086307" cy="1086307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6" name="Connector 9088"/>
            <p:cNvCxnSpPr/>
            <p:nvPr/>
          </p:nvCxnSpPr>
          <p:spPr>
            <a:xfrm>
              <a:off x="817474" y="4728820"/>
              <a:ext cx="0" cy="271576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Oval 9089"/>
            <p:cNvSpPr/>
            <p:nvPr/>
          </p:nvSpPr>
          <p:spPr>
            <a:xfrm>
              <a:off x="801472" y="48486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090"/>
            <p:cNvSpPr/>
            <p:nvPr/>
          </p:nvSpPr>
          <p:spPr>
            <a:xfrm>
              <a:off x="1163574" y="48486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091"/>
            <p:cNvSpPr/>
            <p:nvPr/>
          </p:nvSpPr>
          <p:spPr>
            <a:xfrm>
              <a:off x="210312" y="4728820"/>
              <a:ext cx="64008" cy="271577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0" name="Rounded Rectangle 9092"/>
          <p:cNvSpPr/>
          <p:nvPr/>
        </p:nvSpPr>
        <p:spPr>
          <a:xfrm>
            <a:off x="2203704" y="3959352"/>
            <a:ext cx="1764792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chemeClr val="accent1"/>
                </a:solidFill>
                <a:latin typeface="Calibri"/>
              </a:rPr>
              <a:t>Keep the ball moving</a:t>
            </a:r>
          </a:p>
        </p:txBody>
      </p:sp>
      <p:sp>
        <p:nvSpPr>
          <p:cNvPr id="101" name="TextBox 9093"/>
          <p:cNvSpPr txBox="1"/>
          <p:nvPr/>
        </p:nvSpPr>
        <p:spPr>
          <a:xfrm>
            <a:off x="2203704" y="4197096"/>
            <a:ext cx="1764792" cy="31089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TRIGGER</a:t>
            </a:r>
          </a:p>
          <a:p>
            <a:pPr algn="l"/>
            <a:r>
              <a:rPr sz="750" b="0" lang="en-GB">
                <a:solidFill>
                  <a:srgbClr val="1A1A1A"/>
                </a:solidFill>
                <a:latin typeface="Calibri"/>
              </a:rPr>
              <a:t>Chasing the game / GK pushes on</a:t>
            </a:r>
          </a:p>
        </p:txBody>
      </p:sp>
      <p:sp>
        <p:nvSpPr>
          <p:cNvPr id="102" name="TextBox 9094"/>
          <p:cNvSpPr txBox="1"/>
          <p:nvPr/>
        </p:nvSpPr>
        <p:spPr>
          <a:xfrm>
            <a:off x="2203704" y="4544568"/>
            <a:ext cx="1764792" cy="14630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ROLES</a:t>
            </a:r>
          </a:p>
        </p:txBody>
      </p:sp>
      <p:sp>
        <p:nvSpPr>
          <p:cNvPr id="103" name="TextBox 9095"/>
          <p:cNvSpPr txBox="1"/>
          <p:nvPr/>
        </p:nvSpPr>
        <p:spPr>
          <a:xfrm>
            <a:off x="2203704" y="4709160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1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104" name="TextBox 9096"/>
          <p:cNvSpPr txBox="1"/>
          <p:nvPr/>
        </p:nvSpPr>
        <p:spPr>
          <a:xfrm>
            <a:off x="2203704" y="4882896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2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105" name="TextBox 9097"/>
          <p:cNvSpPr txBox="1"/>
          <p:nvPr/>
        </p:nvSpPr>
        <p:spPr>
          <a:xfrm>
            <a:off x="2203704" y="5056632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3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106" name="TextBox 9098"/>
          <p:cNvSpPr txBox="1"/>
          <p:nvPr/>
        </p:nvSpPr>
        <p:spPr>
          <a:xfrm>
            <a:off x="2203704" y="5230368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4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107" name="TextBox 9099"/>
          <p:cNvSpPr txBox="1"/>
          <p:nvPr/>
        </p:nvSpPr>
        <p:spPr>
          <a:xfrm>
            <a:off x="2203704" y="5404104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5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cxnSp>
        <p:nvCxnSpPr>
          <p:cNvPr id="108" name="Connector 9100"/>
          <p:cNvCxnSpPr/>
          <p:nvPr/>
        </p:nvCxnSpPr>
        <p:spPr>
          <a:xfrm>
            <a:off x="265176" y="5843016"/>
            <a:ext cx="3666744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9101"/>
          <p:cNvSpPr txBox="1"/>
          <p:nvPr/>
        </p:nvSpPr>
        <p:spPr>
          <a:xfrm>
            <a:off x="283464" y="5879592"/>
            <a:ext cx="1737360" cy="347472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CALL / SIGNAL</a:t>
            </a:r>
          </a:p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[Insert call]</a:t>
            </a:r>
          </a:p>
        </p:txBody>
      </p:sp>
      <p:cxnSp>
        <p:nvCxnSpPr>
          <p:cNvPr id="110" name="Connector 9102"/>
          <p:cNvCxnSpPr/>
          <p:nvPr/>
        </p:nvCxnSpPr>
        <p:spPr>
          <a:xfrm>
            <a:off x="2112264" y="5897880"/>
            <a:ext cx="0" cy="50292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9103"/>
          <p:cNvSpPr txBox="1"/>
          <p:nvPr/>
        </p:nvSpPr>
        <p:spPr>
          <a:xfrm>
            <a:off x="2185416" y="5879592"/>
            <a:ext cx="1728216" cy="54864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NON-NEGOTIABLE</a:t>
            </a:r>
          </a:p>
          <a:p>
            <a:pPr algn="l"/>
            <a:r>
              <a:rPr sz="750" b="0" lang="en-GB">
                <a:solidFill>
                  <a:srgbClr val="1A1A1A"/>
                </a:solidFill>
                <a:latin typeface="Calibri"/>
              </a:rPr>
              <a:t>[Insert the one detail that must be right]</a:t>
            </a:r>
          </a:p>
        </p:txBody>
      </p:sp>
      <p:sp>
        <p:nvSpPr>
          <p:cNvPr id="112" name="Rectangle 9104"/>
          <p:cNvSpPr/>
          <p:nvPr/>
        </p:nvSpPr>
        <p:spPr>
          <a:xfrm>
            <a:off x="4133088" y="3593592"/>
            <a:ext cx="3922776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9105"/>
          <p:cNvSpPr/>
          <p:nvPr/>
        </p:nvSpPr>
        <p:spPr>
          <a:xfrm>
            <a:off x="4133088" y="3593592"/>
            <a:ext cx="3922776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9106"/>
          <p:cNvSpPr/>
          <p:nvPr/>
        </p:nvSpPr>
        <p:spPr>
          <a:xfrm>
            <a:off x="4133088" y="3593592"/>
            <a:ext cx="45720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9107"/>
          <p:cNvSpPr txBox="1"/>
          <p:nvPr/>
        </p:nvSpPr>
        <p:spPr>
          <a:xfrm>
            <a:off x="4215384" y="3625596"/>
            <a:ext cx="310896" cy="21945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05</a:t>
            </a:r>
          </a:p>
        </p:txBody>
      </p:sp>
      <p:sp>
        <p:nvSpPr>
          <p:cNvPr id="116" name="TextBox 9108"/>
          <p:cNvSpPr txBox="1"/>
          <p:nvPr/>
        </p:nvSpPr>
        <p:spPr>
          <a:xfrm>
            <a:off x="4544568" y="3643884"/>
            <a:ext cx="3447288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DEFENDING POWERPLAY  —  4v3 DOWN</a:t>
            </a:r>
          </a:p>
        </p:txBody>
      </p:sp>
      <p:grpSp>
        <p:nvGrpSpPr>
          <p:cNvPr id="117" name="Set piece court 05"/>
          <p:cNvGrpSpPr/>
          <p:nvPr/>
        </p:nvGrpSpPr>
        <p:grpSpPr>
          <a:xfrm>
            <a:off x="4206240" y="3959352"/>
            <a:ext cx="1874520" cy="1810512"/>
            <a:chOff x="4206240" y="3959352"/>
            <a:chExt cx="1874520" cy="1810512"/>
          </a:xfrm>
        </p:grpSpPr>
        <p:sp>
          <p:nvSpPr>
            <p:cNvPr id="118" name="Rectangle 9109"/>
            <p:cNvSpPr/>
            <p:nvPr/>
          </p:nvSpPr>
          <p:spPr>
            <a:xfrm>
              <a:off x="4270248" y="3959352"/>
              <a:ext cx="1810512" cy="181051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Arc 9110"/>
            <p:cNvSpPr/>
            <p:nvPr/>
          </p:nvSpPr>
          <p:spPr>
            <a:xfrm>
              <a:off x="5809183" y="4593031"/>
              <a:ext cx="543154" cy="543154"/>
            </a:xfrm>
            <a:prstGeom prst="arc">
              <a:avLst>
                <a:gd name="adj1" fmla="val 54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9111"/>
            <p:cNvSpPr/>
            <p:nvPr/>
          </p:nvSpPr>
          <p:spPr>
            <a:xfrm>
              <a:off x="6064758" y="48486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Arc 9112"/>
            <p:cNvSpPr/>
            <p:nvPr/>
          </p:nvSpPr>
          <p:spPr>
            <a:xfrm>
              <a:off x="3727094" y="4185666"/>
              <a:ext cx="1086307" cy="1086307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Arc 9113"/>
            <p:cNvSpPr/>
            <p:nvPr/>
          </p:nvSpPr>
          <p:spPr>
            <a:xfrm>
              <a:off x="3727094" y="4457243"/>
              <a:ext cx="1086307" cy="1086307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3" name="Connector 9114"/>
            <p:cNvCxnSpPr/>
            <p:nvPr/>
          </p:nvCxnSpPr>
          <p:spPr>
            <a:xfrm>
              <a:off x="4813402" y="4728820"/>
              <a:ext cx="0" cy="271576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9115"/>
            <p:cNvSpPr/>
            <p:nvPr/>
          </p:nvSpPr>
          <p:spPr>
            <a:xfrm>
              <a:off x="4797400" y="48486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9116"/>
            <p:cNvSpPr/>
            <p:nvPr/>
          </p:nvSpPr>
          <p:spPr>
            <a:xfrm>
              <a:off x="5159502" y="48486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Rectangle 9117"/>
            <p:cNvSpPr/>
            <p:nvPr/>
          </p:nvSpPr>
          <p:spPr>
            <a:xfrm>
              <a:off x="4206240" y="4728820"/>
              <a:ext cx="64008" cy="271577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7" name="Rounded Rectangle 9118"/>
          <p:cNvSpPr/>
          <p:nvPr/>
        </p:nvSpPr>
        <p:spPr>
          <a:xfrm>
            <a:off x="6199632" y="3959352"/>
            <a:ext cx="1764792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chemeClr val="accent1"/>
                </a:solidFill>
                <a:latin typeface="Calibri"/>
              </a:rPr>
              <a:t>Protect an empty net</a:t>
            </a:r>
          </a:p>
        </p:txBody>
      </p:sp>
      <p:sp>
        <p:nvSpPr>
          <p:cNvPr id="128" name="TextBox 9119"/>
          <p:cNvSpPr txBox="1"/>
          <p:nvPr/>
        </p:nvSpPr>
        <p:spPr>
          <a:xfrm>
            <a:off x="6199632" y="4197096"/>
            <a:ext cx="1764792" cy="31089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TRIGGER</a:t>
            </a:r>
          </a:p>
          <a:p>
            <a:pPr algn="l"/>
            <a:r>
              <a:rPr sz="750" b="0" lang="en-GB">
                <a:solidFill>
                  <a:srgbClr val="1A1A1A"/>
                </a:solidFill>
                <a:latin typeface="Calibri"/>
              </a:rPr>
              <a:t>Opponent commits their GK</a:t>
            </a:r>
          </a:p>
        </p:txBody>
      </p:sp>
      <p:sp>
        <p:nvSpPr>
          <p:cNvPr id="129" name="TextBox 9120"/>
          <p:cNvSpPr txBox="1"/>
          <p:nvPr/>
        </p:nvSpPr>
        <p:spPr>
          <a:xfrm>
            <a:off x="6199632" y="4544568"/>
            <a:ext cx="1764792" cy="14630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ROLES</a:t>
            </a:r>
          </a:p>
        </p:txBody>
      </p:sp>
      <p:sp>
        <p:nvSpPr>
          <p:cNvPr id="130" name="TextBox 9121"/>
          <p:cNvSpPr txBox="1"/>
          <p:nvPr/>
        </p:nvSpPr>
        <p:spPr>
          <a:xfrm>
            <a:off x="6199632" y="4709160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1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131" name="TextBox 9122"/>
          <p:cNvSpPr txBox="1"/>
          <p:nvPr/>
        </p:nvSpPr>
        <p:spPr>
          <a:xfrm>
            <a:off x="6199632" y="4882896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2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132" name="TextBox 9123"/>
          <p:cNvSpPr txBox="1"/>
          <p:nvPr/>
        </p:nvSpPr>
        <p:spPr>
          <a:xfrm>
            <a:off x="6199632" y="5056632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3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133" name="TextBox 9124"/>
          <p:cNvSpPr txBox="1"/>
          <p:nvPr/>
        </p:nvSpPr>
        <p:spPr>
          <a:xfrm>
            <a:off x="6199632" y="5230368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4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134" name="TextBox 9125"/>
          <p:cNvSpPr txBox="1"/>
          <p:nvPr/>
        </p:nvSpPr>
        <p:spPr>
          <a:xfrm>
            <a:off x="6199632" y="5404104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5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cxnSp>
        <p:nvCxnSpPr>
          <p:cNvPr id="135" name="Connector 9126"/>
          <p:cNvCxnSpPr/>
          <p:nvPr/>
        </p:nvCxnSpPr>
        <p:spPr>
          <a:xfrm>
            <a:off x="4261104" y="5843016"/>
            <a:ext cx="3666744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9127"/>
          <p:cNvSpPr txBox="1"/>
          <p:nvPr/>
        </p:nvSpPr>
        <p:spPr>
          <a:xfrm>
            <a:off x="4279392" y="5879592"/>
            <a:ext cx="1737360" cy="347472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CALL / SIGNAL</a:t>
            </a:r>
          </a:p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[Insert call]</a:t>
            </a:r>
          </a:p>
        </p:txBody>
      </p:sp>
      <p:cxnSp>
        <p:nvCxnSpPr>
          <p:cNvPr id="137" name="Connector 9128"/>
          <p:cNvCxnSpPr/>
          <p:nvPr/>
        </p:nvCxnSpPr>
        <p:spPr>
          <a:xfrm>
            <a:off x="6108192" y="5897880"/>
            <a:ext cx="0" cy="50292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9129"/>
          <p:cNvSpPr txBox="1"/>
          <p:nvPr/>
        </p:nvSpPr>
        <p:spPr>
          <a:xfrm>
            <a:off x="6181344" y="5879592"/>
            <a:ext cx="1728216" cy="54864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NON-NEGOTIABLE</a:t>
            </a:r>
          </a:p>
          <a:p>
            <a:pPr algn="l"/>
            <a:r>
              <a:rPr sz="750" b="0" lang="en-GB">
                <a:solidFill>
                  <a:srgbClr val="1A1A1A"/>
                </a:solidFill>
                <a:latin typeface="Calibri"/>
              </a:rPr>
              <a:t>[Insert the one detail that must be right]</a:t>
            </a:r>
          </a:p>
        </p:txBody>
      </p:sp>
      <p:sp>
        <p:nvSpPr>
          <p:cNvPr id="139" name="Rectangle 9130"/>
          <p:cNvSpPr/>
          <p:nvPr/>
        </p:nvSpPr>
        <p:spPr>
          <a:xfrm>
            <a:off x="8129016" y="3593592"/>
            <a:ext cx="3922776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9131"/>
          <p:cNvSpPr/>
          <p:nvPr/>
        </p:nvSpPr>
        <p:spPr>
          <a:xfrm>
            <a:off x="8129016" y="3593592"/>
            <a:ext cx="3922776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9132"/>
          <p:cNvSpPr/>
          <p:nvPr/>
        </p:nvSpPr>
        <p:spPr>
          <a:xfrm>
            <a:off x="8129016" y="3593592"/>
            <a:ext cx="45720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9133"/>
          <p:cNvSpPr txBox="1"/>
          <p:nvPr/>
        </p:nvSpPr>
        <p:spPr>
          <a:xfrm>
            <a:off x="8211312" y="3625596"/>
            <a:ext cx="310896" cy="21945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100" b="1" lang="en-GB">
                <a:solidFill>
                  <a:schemeClr val="accent1"/>
                </a:solidFill>
                <a:latin typeface="Calibri"/>
              </a:rPr>
              <a:t>06</a:t>
            </a:r>
          </a:p>
        </p:txBody>
      </p:sp>
      <p:sp>
        <p:nvSpPr>
          <p:cNvPr id="143" name="TextBox 9134"/>
          <p:cNvSpPr txBox="1"/>
          <p:nvPr/>
        </p:nvSpPr>
        <p:spPr>
          <a:xfrm>
            <a:off x="8540496" y="3643884"/>
            <a:ext cx="3447288" cy="20116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ACCUMULATED FOUL  —  10 m</a:t>
            </a:r>
          </a:p>
        </p:txBody>
      </p:sp>
      <p:grpSp>
        <p:nvGrpSpPr>
          <p:cNvPr id="144" name="Set piece court 06"/>
          <p:cNvGrpSpPr/>
          <p:nvPr/>
        </p:nvGrpSpPr>
        <p:grpSpPr>
          <a:xfrm>
            <a:off x="8202168" y="3959352"/>
            <a:ext cx="1874520" cy="1810512"/>
            <a:chOff x="8202168" y="3959352"/>
            <a:chExt cx="1874520" cy="1810512"/>
          </a:xfrm>
        </p:grpSpPr>
        <p:sp>
          <p:nvSpPr>
            <p:cNvPr id="145" name="Rectangle 9135"/>
            <p:cNvSpPr/>
            <p:nvPr/>
          </p:nvSpPr>
          <p:spPr>
            <a:xfrm>
              <a:off x="8266176" y="3959352"/>
              <a:ext cx="1810512" cy="181051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Arc 9136"/>
            <p:cNvSpPr/>
            <p:nvPr/>
          </p:nvSpPr>
          <p:spPr>
            <a:xfrm>
              <a:off x="9805111" y="4593031"/>
              <a:ext cx="543154" cy="543154"/>
            </a:xfrm>
            <a:prstGeom prst="arc">
              <a:avLst>
                <a:gd name="adj1" fmla="val 54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Oval 9137"/>
            <p:cNvSpPr/>
            <p:nvPr/>
          </p:nvSpPr>
          <p:spPr>
            <a:xfrm>
              <a:off x="10060686" y="48486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Arc 9138"/>
            <p:cNvSpPr/>
            <p:nvPr/>
          </p:nvSpPr>
          <p:spPr>
            <a:xfrm>
              <a:off x="7723022" y="4185666"/>
              <a:ext cx="1086307" cy="1086307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Arc 9139"/>
            <p:cNvSpPr/>
            <p:nvPr/>
          </p:nvSpPr>
          <p:spPr>
            <a:xfrm>
              <a:off x="7723022" y="4457243"/>
              <a:ext cx="1086307" cy="1086307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0" name="Connector 9140"/>
            <p:cNvCxnSpPr/>
            <p:nvPr/>
          </p:nvCxnSpPr>
          <p:spPr>
            <a:xfrm>
              <a:off x="8809330" y="4728820"/>
              <a:ext cx="0" cy="271576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Oval 9141"/>
            <p:cNvSpPr/>
            <p:nvPr/>
          </p:nvSpPr>
          <p:spPr>
            <a:xfrm>
              <a:off x="8793328" y="48486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9142"/>
            <p:cNvSpPr/>
            <p:nvPr/>
          </p:nvSpPr>
          <p:spPr>
            <a:xfrm>
              <a:off x="9155430" y="4848606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Rectangle 9143"/>
            <p:cNvSpPr/>
            <p:nvPr/>
          </p:nvSpPr>
          <p:spPr>
            <a:xfrm>
              <a:off x="8202168" y="4728820"/>
              <a:ext cx="64008" cy="271577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4" name="Rounded Rectangle 9144"/>
          <p:cNvSpPr/>
          <p:nvPr/>
        </p:nvSpPr>
        <p:spPr>
          <a:xfrm>
            <a:off x="10195560" y="3959352"/>
            <a:ext cx="1764792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>
                <a:solidFill>
                  <a:schemeClr val="accent1"/>
                </a:solidFill>
                <a:latin typeface="Calibri"/>
              </a:rPr>
              <a:t>Free shot, no wall</a:t>
            </a:r>
          </a:p>
        </p:txBody>
      </p:sp>
      <p:sp>
        <p:nvSpPr>
          <p:cNvPr id="155" name="TextBox 9145"/>
          <p:cNvSpPr txBox="1"/>
          <p:nvPr/>
        </p:nvSpPr>
        <p:spPr>
          <a:xfrm>
            <a:off x="10195560" y="4197096"/>
            <a:ext cx="1764792" cy="31089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TRIGGER</a:t>
            </a:r>
          </a:p>
          <a:p>
            <a:pPr algn="l"/>
            <a:r>
              <a:rPr sz="750" b="0" lang="en-GB">
                <a:solidFill>
                  <a:srgbClr val="1A1A1A"/>
                </a:solidFill>
                <a:latin typeface="Calibri"/>
              </a:rPr>
              <a:t>6th team foul onward</a:t>
            </a:r>
          </a:p>
        </p:txBody>
      </p:sp>
      <p:sp>
        <p:nvSpPr>
          <p:cNvPr id="156" name="TextBox 9146"/>
          <p:cNvSpPr txBox="1"/>
          <p:nvPr/>
        </p:nvSpPr>
        <p:spPr>
          <a:xfrm>
            <a:off x="10195560" y="4544568"/>
            <a:ext cx="1764792" cy="14630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ROLES</a:t>
            </a:r>
          </a:p>
        </p:txBody>
      </p:sp>
      <p:sp>
        <p:nvSpPr>
          <p:cNvPr id="157" name="TextBox 9147"/>
          <p:cNvSpPr txBox="1"/>
          <p:nvPr/>
        </p:nvSpPr>
        <p:spPr>
          <a:xfrm>
            <a:off x="10195560" y="4709160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1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158" name="TextBox 9148"/>
          <p:cNvSpPr txBox="1"/>
          <p:nvPr/>
        </p:nvSpPr>
        <p:spPr>
          <a:xfrm>
            <a:off x="10195560" y="4882896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2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159" name="TextBox 9149"/>
          <p:cNvSpPr txBox="1"/>
          <p:nvPr/>
        </p:nvSpPr>
        <p:spPr>
          <a:xfrm>
            <a:off x="10195560" y="5056632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3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160" name="TextBox 9150"/>
          <p:cNvSpPr txBox="1"/>
          <p:nvPr/>
        </p:nvSpPr>
        <p:spPr>
          <a:xfrm>
            <a:off x="10195560" y="5230368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4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sp>
        <p:nvSpPr>
          <p:cNvPr id="161" name="TextBox 9151"/>
          <p:cNvSpPr txBox="1"/>
          <p:nvPr/>
        </p:nvSpPr>
        <p:spPr>
          <a:xfrm>
            <a:off x="10195560" y="5404104"/>
            <a:ext cx="1764792" cy="173736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00" b="1" lang="en-GB">
                <a:solidFill>
                  <a:schemeClr val="accent1"/>
                </a:solidFill>
                <a:latin typeface="Calibri"/>
              </a:rPr>
              <a:t>5  </a:t>
            </a:r>
            <a:r>
              <a:rPr sz="750" b="0" lang="en-GB">
                <a:solidFill>
                  <a:srgbClr val="1A1A1A"/>
                </a:solidFill>
                <a:latin typeface="Calibri"/>
              </a:rPr>
              <a:t>[Insert role]</a:t>
            </a:r>
          </a:p>
        </p:txBody>
      </p:sp>
      <p:cxnSp>
        <p:nvCxnSpPr>
          <p:cNvPr id="162" name="Connector 9152"/>
          <p:cNvCxnSpPr/>
          <p:nvPr/>
        </p:nvCxnSpPr>
        <p:spPr>
          <a:xfrm>
            <a:off x="8257032" y="5843016"/>
            <a:ext cx="3666744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9153"/>
          <p:cNvSpPr txBox="1"/>
          <p:nvPr/>
        </p:nvSpPr>
        <p:spPr>
          <a:xfrm>
            <a:off x="8275320" y="5879592"/>
            <a:ext cx="1737360" cy="347472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rgbClr val="6B6B6B"/>
                </a:solidFill>
                <a:latin typeface="Calibri"/>
              </a:rPr>
              <a:t>CALL / SIGNAL</a:t>
            </a:r>
          </a:p>
          <a:p>
            <a:pPr algn="l"/>
            <a:r>
              <a:rPr sz="850" b="1" lang="en-GB">
                <a:solidFill>
                  <a:srgbClr val="1A1A1A"/>
                </a:solidFill>
                <a:latin typeface="Calibri"/>
              </a:rPr>
              <a:t>[Insert call]</a:t>
            </a:r>
          </a:p>
        </p:txBody>
      </p:sp>
      <p:cxnSp>
        <p:nvCxnSpPr>
          <p:cNvPr id="164" name="Connector 9154"/>
          <p:cNvCxnSpPr/>
          <p:nvPr/>
        </p:nvCxnSpPr>
        <p:spPr>
          <a:xfrm>
            <a:off x="10104120" y="5897880"/>
            <a:ext cx="0" cy="50292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9155"/>
          <p:cNvSpPr txBox="1"/>
          <p:nvPr/>
        </p:nvSpPr>
        <p:spPr>
          <a:xfrm>
            <a:off x="10177272" y="5879592"/>
            <a:ext cx="1728216" cy="54864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1" lang="en-GB">
                <a:solidFill>
                  <a:schemeClr val="accent1"/>
                </a:solidFill>
                <a:latin typeface="Calibri"/>
              </a:rPr>
              <a:t>NON-NEGOTIABLE</a:t>
            </a:r>
          </a:p>
          <a:p>
            <a:pPr algn="l"/>
            <a:r>
              <a:rPr sz="750" b="0" lang="en-GB">
                <a:solidFill>
                  <a:srgbClr val="1A1A1A"/>
                </a:solidFill>
                <a:latin typeface="Calibri"/>
              </a:rPr>
              <a:t>[Insert the one detail that must be right]</a:t>
            </a:r>
          </a:p>
        </p:txBody>
      </p:sp>
      <p:sp>
        <p:nvSpPr>
          <p:cNvPr id="166" name="TextBox 9156"/>
          <p:cNvSpPr txBox="1"/>
          <p:nvPr/>
        </p:nvSpPr>
        <p:spPr>
          <a:xfrm>
            <a:off x="137160" y="6725412"/>
            <a:ext cx="11917375" cy="1234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0" lang="en-GB">
                <a:solidFill>
                  <a:srgbClr val="6B6B6B"/>
                </a:solidFill>
                <a:latin typeface="Calibri"/>
              </a:rPr>
              <a:t>SET PIECES + SPECIAL SITUATIONS  —  futsal-specific restarts and phases  ·  4-second restarts · flying GK powerplay · 10 m accumulated-foul shot  ·  build diagrams from the Component Library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1795760" cy="45720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600" b="1" lang="en-GB">
                <a:solidFill>
                  <a:srgbClr val="1A1A1A"/>
                </a:solidFill>
                <a:latin typeface="Calibri"/>
              </a:rPr>
              <a:t>ON-COURT CARDS</a:t>
            </a:r>
          </a:p>
          <a:p>
            <a:pPr algn="l"/>
            <a:r>
              <a:rPr sz="850" b="0" lang="en-GB">
                <a:solidFill>
                  <a:srgbClr val="6B6B6B"/>
                </a:solidFill>
                <a:latin typeface="Calibri"/>
              </a:rPr>
              <a:t>Print this slide, cut along the dashed lines: four pocket cards, one per block, in session order. Three cues maximum per card — if it needs more words, it belongs on the plan, not on court.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182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55778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64008" cy="27889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32104"/>
            <a:ext cx="685800" cy="45720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2600" b="1" lang="en-GB">
                <a:solidFill>
                  <a:schemeClr val="accent1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3246120" cy="29260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400" b="1" lang="en-GB">
                <a:solidFill>
                  <a:srgbClr val="1A1A1A"/>
                </a:solidFill>
                <a:latin typeface="Calibri"/>
              </a:rPr>
              <a:t>WARM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923544"/>
            <a:ext cx="1207008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accent1"/>
                </a:solidFill>
                <a:latin typeface="Calibri"/>
              </a:rPr>
              <a:t>[Insert mins]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0744"/>
            <a:ext cx="109728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50" b="1" lang="en-GB">
                <a:solidFill>
                  <a:srgbClr val="6B6B6B"/>
                </a:solidFill>
                <a:latin typeface="Calibri"/>
              </a:rPr>
              <a:t>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81912"/>
            <a:ext cx="3291840" cy="31089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300" b="1" lang="en-GB">
                <a:solidFill>
                  <a:schemeClr val="accent1"/>
                </a:solidFill>
                <a:latin typeface="Calibri"/>
              </a:rPr>
              <a:t>1  </a:t>
            </a:r>
            <a:r>
              <a:rPr sz="1200" b="1" lang="en-GB">
                <a:solidFill>
                  <a:srgbClr val="1A1A1A"/>
                </a:solidFill>
                <a:latin typeface="Calibri"/>
              </a:rPr>
              <a:t>[Insert cue — five words max]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47672"/>
            <a:ext cx="3291840" cy="31089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300" b="1" lang="en-GB">
                <a:solidFill>
                  <a:schemeClr val="accent1"/>
                </a:solidFill>
                <a:latin typeface="Calibri"/>
              </a:rPr>
              <a:t>2  </a:t>
            </a:r>
            <a:r>
              <a:rPr sz="1200" b="1" lang="en-GB">
                <a:solidFill>
                  <a:srgbClr val="1A1A1A"/>
                </a:solidFill>
                <a:latin typeface="Calibri"/>
              </a:rPr>
              <a:t>[Insert cue — five words max]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13432"/>
            <a:ext cx="3291840" cy="31089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300" b="1" lang="en-GB">
                <a:solidFill>
                  <a:schemeClr val="accent1"/>
                </a:solidFill>
                <a:latin typeface="Calibri"/>
              </a:rPr>
              <a:t>3  </a:t>
            </a:r>
            <a:r>
              <a:rPr sz="1200" b="1" lang="en-GB">
                <a:solidFill>
                  <a:srgbClr val="1A1A1A"/>
                </a:solidFill>
                <a:latin typeface="Calibri"/>
              </a:rPr>
              <a:t>[Insert cue — five words max]</a:t>
            </a:r>
          </a:p>
        </p:txBody>
      </p:sp>
      <p:grpSp>
        <p:nvGrpSpPr>
          <p:cNvPr id="13" name="Card court 01"/>
          <p:cNvGrpSpPr/>
          <p:nvPr/>
        </p:nvGrpSpPr>
        <p:grpSpPr>
          <a:xfrm>
            <a:off x="3822192" y="1645920"/>
            <a:ext cx="1865376" cy="868680"/>
            <a:chOff x="3822192" y="1645920"/>
            <a:chExt cx="1865376" cy="868680"/>
          </a:xfrm>
        </p:grpSpPr>
        <p:sp>
          <p:nvSpPr>
            <p:cNvPr id="14" name="Rectangle 12"/>
            <p:cNvSpPr/>
            <p:nvPr/>
          </p:nvSpPr>
          <p:spPr>
            <a:xfrm>
              <a:off x="3886200" y="1645920"/>
              <a:ext cx="1737360" cy="868680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3"/>
            <p:cNvCxnSpPr/>
            <p:nvPr/>
          </p:nvCxnSpPr>
          <p:spPr>
            <a:xfrm>
              <a:off x="4754880" y="1645920"/>
              <a:ext cx="0" cy="86868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4"/>
            <p:cNvSpPr/>
            <p:nvPr/>
          </p:nvSpPr>
          <p:spPr>
            <a:xfrm>
              <a:off x="4624578" y="1949958"/>
              <a:ext cx="260604" cy="260604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5"/>
            <p:cNvSpPr/>
            <p:nvPr/>
          </p:nvSpPr>
          <p:spPr>
            <a:xfrm>
              <a:off x="4738878" y="20642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Arc 16"/>
            <p:cNvSpPr/>
            <p:nvPr/>
          </p:nvSpPr>
          <p:spPr>
            <a:xfrm>
              <a:off x="3625596" y="1754505"/>
              <a:ext cx="521208" cy="521208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Arc 17"/>
            <p:cNvSpPr/>
            <p:nvPr/>
          </p:nvSpPr>
          <p:spPr>
            <a:xfrm>
              <a:off x="3625596" y="1884807"/>
              <a:ext cx="521208" cy="521208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8"/>
            <p:cNvCxnSpPr/>
            <p:nvPr/>
          </p:nvCxnSpPr>
          <p:spPr>
            <a:xfrm>
              <a:off x="4146804" y="2015109"/>
              <a:ext cx="0" cy="13030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19"/>
            <p:cNvSpPr/>
            <p:nvPr/>
          </p:nvSpPr>
          <p:spPr>
            <a:xfrm>
              <a:off x="4130802" y="20642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0"/>
            <p:cNvSpPr/>
            <p:nvPr/>
          </p:nvSpPr>
          <p:spPr>
            <a:xfrm>
              <a:off x="4304538" y="20642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1"/>
            <p:cNvSpPr/>
            <p:nvPr/>
          </p:nvSpPr>
          <p:spPr>
            <a:xfrm>
              <a:off x="3822192" y="2015109"/>
              <a:ext cx="64008" cy="13030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Arc 22"/>
            <p:cNvSpPr/>
            <p:nvPr/>
          </p:nvSpPr>
          <p:spPr>
            <a:xfrm>
              <a:off x="5362956" y="1754505"/>
              <a:ext cx="521208" cy="521208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Arc 23"/>
            <p:cNvSpPr/>
            <p:nvPr/>
          </p:nvSpPr>
          <p:spPr>
            <a:xfrm>
              <a:off x="5362956" y="1884807"/>
              <a:ext cx="521208" cy="521208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4"/>
            <p:cNvCxnSpPr/>
            <p:nvPr/>
          </p:nvCxnSpPr>
          <p:spPr>
            <a:xfrm>
              <a:off x="5362956" y="2015109"/>
              <a:ext cx="0" cy="13030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5"/>
            <p:cNvSpPr/>
            <p:nvPr/>
          </p:nvSpPr>
          <p:spPr>
            <a:xfrm>
              <a:off x="5346954" y="20642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6"/>
            <p:cNvSpPr/>
            <p:nvPr/>
          </p:nvSpPr>
          <p:spPr>
            <a:xfrm>
              <a:off x="5173218" y="20642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7"/>
            <p:cNvSpPr/>
            <p:nvPr/>
          </p:nvSpPr>
          <p:spPr>
            <a:xfrm>
              <a:off x="5623560" y="2015109"/>
              <a:ext cx="64008" cy="13030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30" name="Connector 9020"/>
          <p:cNvCxnSpPr/>
          <p:nvPr/>
        </p:nvCxnSpPr>
        <p:spPr>
          <a:xfrm>
            <a:off x="457200" y="2898648"/>
            <a:ext cx="5257800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9021"/>
          <p:cNvSpPr txBox="1"/>
          <p:nvPr/>
        </p:nvSpPr>
        <p:spPr>
          <a:xfrm>
            <a:off x="457200" y="2971800"/>
            <a:ext cx="356616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50" b="1" lang="en-GB">
                <a:solidFill>
                  <a:srgbClr val="6B6B6B"/>
                </a:solidFill>
                <a:latin typeface="Calibri"/>
              </a:rPr>
              <a:t>WATCH FOR   </a:t>
            </a:r>
            <a:r>
              <a:rPr sz="950" b="0" lang="en-GB">
                <a:solidFill>
                  <a:srgbClr val="1A1A1A"/>
                </a:solidFill>
                <a:latin typeface="Calibri"/>
              </a:rPr>
              <a:t>[Insert the trigger that makes you stop play]</a:t>
            </a:r>
          </a:p>
        </p:txBody>
      </p:sp>
      <p:sp>
        <p:nvSpPr>
          <p:cNvPr id="32" name="TextBox 9022"/>
          <p:cNvSpPr txBox="1"/>
          <p:nvPr/>
        </p:nvSpPr>
        <p:spPr>
          <a:xfrm>
            <a:off x="4206240" y="2971800"/>
            <a:ext cx="1508760" cy="27432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50" b="1" lang="en-GB">
                <a:solidFill>
                  <a:srgbClr val="6B6B6B"/>
                </a:solidFill>
                <a:latin typeface="Calibri"/>
              </a:rPr>
              <a:t>WORK : REST   </a:t>
            </a:r>
            <a:r>
              <a:rPr sz="950" b="1" lang="en-GB">
                <a:solidFill>
                  <a:srgbClr val="1A1A1A"/>
                </a:solidFill>
                <a:latin typeface="Calibri"/>
              </a:rPr>
              <a:t>[   ]</a:t>
            </a:r>
          </a:p>
        </p:txBody>
      </p:sp>
      <p:sp>
        <p:nvSpPr>
          <p:cNvPr id="33" name="Rectangle 9023"/>
          <p:cNvSpPr/>
          <p:nvPr/>
        </p:nvSpPr>
        <p:spPr>
          <a:xfrm>
            <a:off x="6400800" y="777240"/>
            <a:ext cx="55778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9024"/>
          <p:cNvSpPr/>
          <p:nvPr/>
        </p:nvSpPr>
        <p:spPr>
          <a:xfrm>
            <a:off x="6400800" y="777240"/>
            <a:ext cx="64008" cy="27889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9025"/>
          <p:cNvSpPr txBox="1"/>
          <p:nvPr/>
        </p:nvSpPr>
        <p:spPr>
          <a:xfrm>
            <a:off x="6537960" y="832104"/>
            <a:ext cx="685800" cy="45720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2600" b="1" lang="en-GB">
                <a:solidFill>
                  <a:schemeClr val="accent1"/>
                </a:solidFill>
                <a:latin typeface="Calibri"/>
              </a:rPr>
              <a:t>02</a:t>
            </a:r>
          </a:p>
        </p:txBody>
      </p:sp>
      <p:sp>
        <p:nvSpPr>
          <p:cNvPr id="36" name="TextBox 9026"/>
          <p:cNvSpPr txBox="1"/>
          <p:nvPr/>
        </p:nvSpPr>
        <p:spPr>
          <a:xfrm>
            <a:off x="7223760" y="960120"/>
            <a:ext cx="3246120" cy="29260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400" b="1" lang="en-GB">
                <a:solidFill>
                  <a:srgbClr val="1A1A1A"/>
                </a:solidFill>
                <a:latin typeface="Calibri"/>
              </a:rPr>
              <a:t>TECHNICAL / POSSESSION</a:t>
            </a:r>
          </a:p>
        </p:txBody>
      </p:sp>
      <p:sp>
        <p:nvSpPr>
          <p:cNvPr id="37" name="Rounded Rectangle 9027"/>
          <p:cNvSpPr/>
          <p:nvPr/>
        </p:nvSpPr>
        <p:spPr>
          <a:xfrm>
            <a:off x="10607040" y="923544"/>
            <a:ext cx="1207008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accent1"/>
                </a:solidFill>
                <a:latin typeface="Calibri"/>
              </a:rPr>
              <a:t>[Insert mins]</a:t>
            </a:r>
          </a:p>
        </p:txBody>
      </p:sp>
      <p:sp>
        <p:nvSpPr>
          <p:cNvPr id="38" name="TextBox 9028"/>
          <p:cNvSpPr txBox="1"/>
          <p:nvPr/>
        </p:nvSpPr>
        <p:spPr>
          <a:xfrm>
            <a:off x="6583680" y="1380744"/>
            <a:ext cx="109728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50" b="1" lang="en-GB">
                <a:solidFill>
                  <a:srgbClr val="6B6B6B"/>
                </a:solidFill>
                <a:latin typeface="Calibri"/>
              </a:rPr>
              <a:t>CUES</a:t>
            </a:r>
          </a:p>
        </p:txBody>
      </p:sp>
      <p:sp>
        <p:nvSpPr>
          <p:cNvPr id="39" name="TextBox 9029"/>
          <p:cNvSpPr txBox="1"/>
          <p:nvPr/>
        </p:nvSpPr>
        <p:spPr>
          <a:xfrm>
            <a:off x="6583680" y="1581912"/>
            <a:ext cx="3291840" cy="31089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300" b="1" lang="en-GB">
                <a:solidFill>
                  <a:schemeClr val="accent1"/>
                </a:solidFill>
                <a:latin typeface="Calibri"/>
              </a:rPr>
              <a:t>1  </a:t>
            </a:r>
            <a:r>
              <a:rPr sz="1200" b="1" lang="en-GB">
                <a:solidFill>
                  <a:srgbClr val="1A1A1A"/>
                </a:solidFill>
                <a:latin typeface="Calibri"/>
              </a:rPr>
              <a:t>[Insert cue — five words max]</a:t>
            </a:r>
          </a:p>
        </p:txBody>
      </p:sp>
      <p:sp>
        <p:nvSpPr>
          <p:cNvPr id="40" name="TextBox 9030"/>
          <p:cNvSpPr txBox="1"/>
          <p:nvPr/>
        </p:nvSpPr>
        <p:spPr>
          <a:xfrm>
            <a:off x="6583680" y="1947672"/>
            <a:ext cx="3291840" cy="31089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300" b="1" lang="en-GB">
                <a:solidFill>
                  <a:schemeClr val="accent1"/>
                </a:solidFill>
                <a:latin typeface="Calibri"/>
              </a:rPr>
              <a:t>2  </a:t>
            </a:r>
            <a:r>
              <a:rPr sz="1200" b="1" lang="en-GB">
                <a:solidFill>
                  <a:srgbClr val="1A1A1A"/>
                </a:solidFill>
                <a:latin typeface="Calibri"/>
              </a:rPr>
              <a:t>[Insert cue — five words max]</a:t>
            </a:r>
          </a:p>
        </p:txBody>
      </p:sp>
      <p:sp>
        <p:nvSpPr>
          <p:cNvPr id="41" name="TextBox 9031"/>
          <p:cNvSpPr txBox="1"/>
          <p:nvPr/>
        </p:nvSpPr>
        <p:spPr>
          <a:xfrm>
            <a:off x="6583680" y="2313432"/>
            <a:ext cx="3291840" cy="31089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300" b="1" lang="en-GB">
                <a:solidFill>
                  <a:schemeClr val="accent1"/>
                </a:solidFill>
                <a:latin typeface="Calibri"/>
              </a:rPr>
              <a:t>3  </a:t>
            </a:r>
            <a:r>
              <a:rPr sz="1200" b="1" lang="en-GB">
                <a:solidFill>
                  <a:srgbClr val="1A1A1A"/>
                </a:solidFill>
                <a:latin typeface="Calibri"/>
              </a:rPr>
              <a:t>[Insert cue — five words max]</a:t>
            </a:r>
          </a:p>
        </p:txBody>
      </p:sp>
      <p:grpSp>
        <p:nvGrpSpPr>
          <p:cNvPr id="42" name="Card court 02"/>
          <p:cNvGrpSpPr/>
          <p:nvPr/>
        </p:nvGrpSpPr>
        <p:grpSpPr>
          <a:xfrm>
            <a:off x="9948672" y="1645920"/>
            <a:ext cx="1865376" cy="868680"/>
            <a:chOff x="9948672" y="1645920"/>
            <a:chExt cx="1865376" cy="868680"/>
          </a:xfrm>
        </p:grpSpPr>
        <p:sp>
          <p:nvSpPr>
            <p:cNvPr id="43" name="Rectangle 9032"/>
            <p:cNvSpPr/>
            <p:nvPr/>
          </p:nvSpPr>
          <p:spPr>
            <a:xfrm>
              <a:off x="10012680" y="1645920"/>
              <a:ext cx="1737360" cy="868680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9033"/>
            <p:cNvCxnSpPr/>
            <p:nvPr/>
          </p:nvCxnSpPr>
          <p:spPr>
            <a:xfrm>
              <a:off x="10881360" y="1645920"/>
              <a:ext cx="0" cy="86868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9034"/>
            <p:cNvSpPr/>
            <p:nvPr/>
          </p:nvSpPr>
          <p:spPr>
            <a:xfrm>
              <a:off x="10751058" y="1949958"/>
              <a:ext cx="260604" cy="260604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9035"/>
            <p:cNvSpPr/>
            <p:nvPr/>
          </p:nvSpPr>
          <p:spPr>
            <a:xfrm>
              <a:off x="10865358" y="20642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Arc 9036"/>
            <p:cNvSpPr/>
            <p:nvPr/>
          </p:nvSpPr>
          <p:spPr>
            <a:xfrm>
              <a:off x="9752076" y="1754505"/>
              <a:ext cx="521208" cy="521208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Arc 9037"/>
            <p:cNvSpPr/>
            <p:nvPr/>
          </p:nvSpPr>
          <p:spPr>
            <a:xfrm>
              <a:off x="9752076" y="1884807"/>
              <a:ext cx="521208" cy="521208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Connector 9038"/>
            <p:cNvCxnSpPr/>
            <p:nvPr/>
          </p:nvCxnSpPr>
          <p:spPr>
            <a:xfrm>
              <a:off x="10273284" y="2015109"/>
              <a:ext cx="0" cy="13030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9039"/>
            <p:cNvSpPr/>
            <p:nvPr/>
          </p:nvSpPr>
          <p:spPr>
            <a:xfrm>
              <a:off x="10257282" y="20642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9040"/>
            <p:cNvSpPr/>
            <p:nvPr/>
          </p:nvSpPr>
          <p:spPr>
            <a:xfrm>
              <a:off x="10431018" y="20642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9041"/>
            <p:cNvSpPr/>
            <p:nvPr/>
          </p:nvSpPr>
          <p:spPr>
            <a:xfrm>
              <a:off x="9948672" y="2015109"/>
              <a:ext cx="64008" cy="13030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Arc 9042"/>
            <p:cNvSpPr/>
            <p:nvPr/>
          </p:nvSpPr>
          <p:spPr>
            <a:xfrm>
              <a:off x="11489436" y="1754505"/>
              <a:ext cx="521208" cy="521208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Arc 9043"/>
            <p:cNvSpPr/>
            <p:nvPr/>
          </p:nvSpPr>
          <p:spPr>
            <a:xfrm>
              <a:off x="11489436" y="1884807"/>
              <a:ext cx="521208" cy="521208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Connector 9044"/>
            <p:cNvCxnSpPr/>
            <p:nvPr/>
          </p:nvCxnSpPr>
          <p:spPr>
            <a:xfrm>
              <a:off x="11489436" y="2015109"/>
              <a:ext cx="0" cy="13030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9045"/>
            <p:cNvSpPr/>
            <p:nvPr/>
          </p:nvSpPr>
          <p:spPr>
            <a:xfrm>
              <a:off x="11473434" y="20642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9046"/>
            <p:cNvSpPr/>
            <p:nvPr/>
          </p:nvSpPr>
          <p:spPr>
            <a:xfrm>
              <a:off x="11299698" y="206425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9047"/>
            <p:cNvSpPr/>
            <p:nvPr/>
          </p:nvSpPr>
          <p:spPr>
            <a:xfrm>
              <a:off x="11750040" y="2015109"/>
              <a:ext cx="64008" cy="13030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59" name="Connector 9048"/>
          <p:cNvCxnSpPr/>
          <p:nvPr/>
        </p:nvCxnSpPr>
        <p:spPr>
          <a:xfrm>
            <a:off x="6583680" y="2898648"/>
            <a:ext cx="5257800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9049"/>
          <p:cNvSpPr txBox="1"/>
          <p:nvPr/>
        </p:nvSpPr>
        <p:spPr>
          <a:xfrm>
            <a:off x="6583680" y="2971800"/>
            <a:ext cx="356616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50" b="1" lang="en-GB">
                <a:solidFill>
                  <a:srgbClr val="6B6B6B"/>
                </a:solidFill>
                <a:latin typeface="Calibri"/>
              </a:rPr>
              <a:t>WATCH FOR   </a:t>
            </a:r>
            <a:r>
              <a:rPr sz="950" b="0" lang="en-GB">
                <a:solidFill>
                  <a:srgbClr val="1A1A1A"/>
                </a:solidFill>
                <a:latin typeface="Calibri"/>
              </a:rPr>
              <a:t>[Insert the trigger that makes you stop play]</a:t>
            </a:r>
          </a:p>
        </p:txBody>
      </p:sp>
      <p:sp>
        <p:nvSpPr>
          <p:cNvPr id="61" name="TextBox 9050"/>
          <p:cNvSpPr txBox="1"/>
          <p:nvPr/>
        </p:nvSpPr>
        <p:spPr>
          <a:xfrm>
            <a:off x="10332720" y="2971800"/>
            <a:ext cx="1508760" cy="27432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50" b="1" lang="en-GB">
                <a:solidFill>
                  <a:srgbClr val="6B6B6B"/>
                </a:solidFill>
                <a:latin typeface="Calibri"/>
              </a:rPr>
              <a:t>WORK : REST   </a:t>
            </a:r>
            <a:r>
              <a:rPr sz="950" b="1" lang="en-GB">
                <a:solidFill>
                  <a:srgbClr val="1A1A1A"/>
                </a:solidFill>
                <a:latin typeface="Calibri"/>
              </a:rPr>
              <a:t>[   ]</a:t>
            </a:r>
          </a:p>
        </p:txBody>
      </p:sp>
      <p:sp>
        <p:nvSpPr>
          <p:cNvPr id="62" name="Rectangle 9051"/>
          <p:cNvSpPr/>
          <p:nvPr/>
        </p:nvSpPr>
        <p:spPr>
          <a:xfrm>
            <a:off x="274320" y="3794760"/>
            <a:ext cx="55778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9052"/>
          <p:cNvSpPr/>
          <p:nvPr/>
        </p:nvSpPr>
        <p:spPr>
          <a:xfrm>
            <a:off x="274320" y="3794760"/>
            <a:ext cx="64008" cy="27889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9053"/>
          <p:cNvSpPr txBox="1"/>
          <p:nvPr/>
        </p:nvSpPr>
        <p:spPr>
          <a:xfrm>
            <a:off x="411480" y="3849624"/>
            <a:ext cx="685800" cy="45720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2600" b="1" lang="en-GB">
                <a:solidFill>
                  <a:schemeClr val="accent1"/>
                </a:solidFill>
                <a:latin typeface="Calibri"/>
              </a:rPr>
              <a:t>03</a:t>
            </a:r>
          </a:p>
        </p:txBody>
      </p:sp>
      <p:sp>
        <p:nvSpPr>
          <p:cNvPr id="65" name="TextBox 9054"/>
          <p:cNvSpPr txBox="1"/>
          <p:nvPr/>
        </p:nvSpPr>
        <p:spPr>
          <a:xfrm>
            <a:off x="1097280" y="3977640"/>
            <a:ext cx="3246120" cy="29260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400" b="1" lang="en-GB">
                <a:solidFill>
                  <a:srgbClr val="1A1A1A"/>
                </a:solidFill>
                <a:latin typeface="Calibri"/>
              </a:rPr>
              <a:t>TACTICAL ACTIVITY</a:t>
            </a:r>
          </a:p>
        </p:txBody>
      </p:sp>
      <p:sp>
        <p:nvSpPr>
          <p:cNvPr id="66" name="Rounded Rectangle 9055"/>
          <p:cNvSpPr/>
          <p:nvPr/>
        </p:nvSpPr>
        <p:spPr>
          <a:xfrm>
            <a:off x="4480560" y="3941064"/>
            <a:ext cx="1207008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accent1"/>
                </a:solidFill>
                <a:latin typeface="Calibri"/>
              </a:rPr>
              <a:t>[Insert mins]</a:t>
            </a:r>
          </a:p>
        </p:txBody>
      </p:sp>
      <p:sp>
        <p:nvSpPr>
          <p:cNvPr id="67" name="TextBox 9056"/>
          <p:cNvSpPr txBox="1"/>
          <p:nvPr/>
        </p:nvSpPr>
        <p:spPr>
          <a:xfrm>
            <a:off x="457200" y="4398264"/>
            <a:ext cx="109728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50" b="1" lang="en-GB">
                <a:solidFill>
                  <a:srgbClr val="6B6B6B"/>
                </a:solidFill>
                <a:latin typeface="Calibri"/>
              </a:rPr>
              <a:t>CUES</a:t>
            </a:r>
          </a:p>
        </p:txBody>
      </p:sp>
      <p:sp>
        <p:nvSpPr>
          <p:cNvPr id="68" name="TextBox 9057"/>
          <p:cNvSpPr txBox="1"/>
          <p:nvPr/>
        </p:nvSpPr>
        <p:spPr>
          <a:xfrm>
            <a:off x="457200" y="4599432"/>
            <a:ext cx="3291840" cy="31089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300" b="1" lang="en-GB">
                <a:solidFill>
                  <a:schemeClr val="accent1"/>
                </a:solidFill>
                <a:latin typeface="Calibri"/>
              </a:rPr>
              <a:t>1  </a:t>
            </a:r>
            <a:r>
              <a:rPr sz="1200" b="1" lang="en-GB">
                <a:solidFill>
                  <a:srgbClr val="1A1A1A"/>
                </a:solidFill>
                <a:latin typeface="Calibri"/>
              </a:rPr>
              <a:t>[Insert cue — five words max]</a:t>
            </a:r>
          </a:p>
        </p:txBody>
      </p:sp>
      <p:sp>
        <p:nvSpPr>
          <p:cNvPr id="69" name="TextBox 9058"/>
          <p:cNvSpPr txBox="1"/>
          <p:nvPr/>
        </p:nvSpPr>
        <p:spPr>
          <a:xfrm>
            <a:off x="457200" y="4965192"/>
            <a:ext cx="3291840" cy="31089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300" b="1" lang="en-GB">
                <a:solidFill>
                  <a:schemeClr val="accent1"/>
                </a:solidFill>
                <a:latin typeface="Calibri"/>
              </a:rPr>
              <a:t>2  </a:t>
            </a:r>
            <a:r>
              <a:rPr sz="1200" b="1" lang="en-GB">
                <a:solidFill>
                  <a:srgbClr val="1A1A1A"/>
                </a:solidFill>
                <a:latin typeface="Calibri"/>
              </a:rPr>
              <a:t>[Insert cue — five words max]</a:t>
            </a:r>
          </a:p>
        </p:txBody>
      </p:sp>
      <p:sp>
        <p:nvSpPr>
          <p:cNvPr id="70" name="TextBox 9059"/>
          <p:cNvSpPr txBox="1"/>
          <p:nvPr/>
        </p:nvSpPr>
        <p:spPr>
          <a:xfrm>
            <a:off x="457200" y="5330952"/>
            <a:ext cx="3291840" cy="31089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300" b="1" lang="en-GB">
                <a:solidFill>
                  <a:schemeClr val="accent1"/>
                </a:solidFill>
                <a:latin typeface="Calibri"/>
              </a:rPr>
              <a:t>3  </a:t>
            </a:r>
            <a:r>
              <a:rPr sz="1200" b="1" lang="en-GB">
                <a:solidFill>
                  <a:srgbClr val="1A1A1A"/>
                </a:solidFill>
                <a:latin typeface="Calibri"/>
              </a:rPr>
              <a:t>[Insert cue — five words max]</a:t>
            </a:r>
          </a:p>
        </p:txBody>
      </p:sp>
      <p:grpSp>
        <p:nvGrpSpPr>
          <p:cNvPr id="71" name="Card court 03"/>
          <p:cNvGrpSpPr/>
          <p:nvPr/>
        </p:nvGrpSpPr>
        <p:grpSpPr>
          <a:xfrm>
            <a:off x="3822192" y="4663440"/>
            <a:ext cx="1865376" cy="868680"/>
            <a:chOff x="3822192" y="4663440"/>
            <a:chExt cx="1865376" cy="868680"/>
          </a:xfrm>
        </p:grpSpPr>
        <p:sp>
          <p:nvSpPr>
            <p:cNvPr id="72" name="Rectangle 9060"/>
            <p:cNvSpPr/>
            <p:nvPr/>
          </p:nvSpPr>
          <p:spPr>
            <a:xfrm>
              <a:off x="3886200" y="4663440"/>
              <a:ext cx="1737360" cy="868680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3" name="Connector 9061"/>
            <p:cNvCxnSpPr/>
            <p:nvPr/>
          </p:nvCxnSpPr>
          <p:spPr>
            <a:xfrm>
              <a:off x="4754880" y="4663440"/>
              <a:ext cx="0" cy="86868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9062"/>
            <p:cNvSpPr/>
            <p:nvPr/>
          </p:nvSpPr>
          <p:spPr>
            <a:xfrm>
              <a:off x="4624578" y="4967478"/>
              <a:ext cx="260604" cy="260604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9063"/>
            <p:cNvSpPr/>
            <p:nvPr/>
          </p:nvSpPr>
          <p:spPr>
            <a:xfrm>
              <a:off x="4738878" y="508177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Arc 9064"/>
            <p:cNvSpPr/>
            <p:nvPr/>
          </p:nvSpPr>
          <p:spPr>
            <a:xfrm>
              <a:off x="3625596" y="4772025"/>
              <a:ext cx="521208" cy="521208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Arc 9065"/>
            <p:cNvSpPr/>
            <p:nvPr/>
          </p:nvSpPr>
          <p:spPr>
            <a:xfrm>
              <a:off x="3625596" y="4902327"/>
              <a:ext cx="521208" cy="521208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8" name="Connector 9066"/>
            <p:cNvCxnSpPr/>
            <p:nvPr/>
          </p:nvCxnSpPr>
          <p:spPr>
            <a:xfrm>
              <a:off x="4146804" y="5032629"/>
              <a:ext cx="0" cy="13030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9067"/>
            <p:cNvSpPr/>
            <p:nvPr/>
          </p:nvSpPr>
          <p:spPr>
            <a:xfrm>
              <a:off x="4130802" y="508177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9068"/>
            <p:cNvSpPr/>
            <p:nvPr/>
          </p:nvSpPr>
          <p:spPr>
            <a:xfrm>
              <a:off x="4304538" y="508177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9069"/>
            <p:cNvSpPr/>
            <p:nvPr/>
          </p:nvSpPr>
          <p:spPr>
            <a:xfrm>
              <a:off x="3822192" y="5032629"/>
              <a:ext cx="64008" cy="13030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Arc 9070"/>
            <p:cNvSpPr/>
            <p:nvPr/>
          </p:nvSpPr>
          <p:spPr>
            <a:xfrm>
              <a:off x="5362956" y="4772025"/>
              <a:ext cx="521208" cy="521208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Arc 9071"/>
            <p:cNvSpPr/>
            <p:nvPr/>
          </p:nvSpPr>
          <p:spPr>
            <a:xfrm>
              <a:off x="5362956" y="4902327"/>
              <a:ext cx="521208" cy="521208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4" name="Connector 9072"/>
            <p:cNvCxnSpPr/>
            <p:nvPr/>
          </p:nvCxnSpPr>
          <p:spPr>
            <a:xfrm>
              <a:off x="5362956" y="5032629"/>
              <a:ext cx="0" cy="13030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9073"/>
            <p:cNvSpPr/>
            <p:nvPr/>
          </p:nvSpPr>
          <p:spPr>
            <a:xfrm>
              <a:off x="5346954" y="508177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9074"/>
            <p:cNvSpPr/>
            <p:nvPr/>
          </p:nvSpPr>
          <p:spPr>
            <a:xfrm>
              <a:off x="5173218" y="508177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Rectangle 9075"/>
            <p:cNvSpPr/>
            <p:nvPr/>
          </p:nvSpPr>
          <p:spPr>
            <a:xfrm>
              <a:off x="5623560" y="5032629"/>
              <a:ext cx="64008" cy="13030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88" name="Connector 9076"/>
          <p:cNvCxnSpPr/>
          <p:nvPr/>
        </p:nvCxnSpPr>
        <p:spPr>
          <a:xfrm>
            <a:off x="457200" y="5916168"/>
            <a:ext cx="5257800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9077"/>
          <p:cNvSpPr txBox="1"/>
          <p:nvPr/>
        </p:nvSpPr>
        <p:spPr>
          <a:xfrm>
            <a:off x="457200" y="5989320"/>
            <a:ext cx="356616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50" b="1" lang="en-GB">
                <a:solidFill>
                  <a:srgbClr val="6B6B6B"/>
                </a:solidFill>
                <a:latin typeface="Calibri"/>
              </a:rPr>
              <a:t>WATCH FOR   </a:t>
            </a:r>
            <a:r>
              <a:rPr sz="950" b="0" lang="en-GB">
                <a:solidFill>
                  <a:srgbClr val="1A1A1A"/>
                </a:solidFill>
                <a:latin typeface="Calibri"/>
              </a:rPr>
              <a:t>[Insert the trigger that makes you stop play]</a:t>
            </a:r>
          </a:p>
        </p:txBody>
      </p:sp>
      <p:sp>
        <p:nvSpPr>
          <p:cNvPr id="90" name="TextBox 9078"/>
          <p:cNvSpPr txBox="1"/>
          <p:nvPr/>
        </p:nvSpPr>
        <p:spPr>
          <a:xfrm>
            <a:off x="4206240" y="5989320"/>
            <a:ext cx="1508760" cy="27432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50" b="1" lang="en-GB">
                <a:solidFill>
                  <a:srgbClr val="6B6B6B"/>
                </a:solidFill>
                <a:latin typeface="Calibri"/>
              </a:rPr>
              <a:t>WORK : REST   </a:t>
            </a:r>
            <a:r>
              <a:rPr sz="950" b="1" lang="en-GB">
                <a:solidFill>
                  <a:srgbClr val="1A1A1A"/>
                </a:solidFill>
                <a:latin typeface="Calibri"/>
              </a:rPr>
              <a:t>[   ]</a:t>
            </a:r>
          </a:p>
        </p:txBody>
      </p:sp>
      <p:sp>
        <p:nvSpPr>
          <p:cNvPr id="91" name="Rectangle 9079"/>
          <p:cNvSpPr/>
          <p:nvPr/>
        </p:nvSpPr>
        <p:spPr>
          <a:xfrm>
            <a:off x="6400800" y="3794760"/>
            <a:ext cx="55778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080"/>
          <p:cNvSpPr/>
          <p:nvPr/>
        </p:nvSpPr>
        <p:spPr>
          <a:xfrm>
            <a:off x="6400800" y="3794760"/>
            <a:ext cx="64008" cy="27889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081"/>
          <p:cNvSpPr txBox="1"/>
          <p:nvPr/>
        </p:nvSpPr>
        <p:spPr>
          <a:xfrm>
            <a:off x="6537960" y="3849624"/>
            <a:ext cx="685800" cy="45720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2600" b="1" lang="en-GB">
                <a:solidFill>
                  <a:schemeClr val="accent1"/>
                </a:solidFill>
                <a:latin typeface="Calibri"/>
              </a:rPr>
              <a:t>04</a:t>
            </a:r>
          </a:p>
        </p:txBody>
      </p:sp>
      <p:sp>
        <p:nvSpPr>
          <p:cNvPr id="94" name="TextBox 9082"/>
          <p:cNvSpPr txBox="1"/>
          <p:nvPr/>
        </p:nvSpPr>
        <p:spPr>
          <a:xfrm>
            <a:off x="7223760" y="3977640"/>
            <a:ext cx="3246120" cy="292608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400" b="1" lang="en-GB">
                <a:solidFill>
                  <a:srgbClr val="1A1A1A"/>
                </a:solidFill>
                <a:latin typeface="Calibri"/>
              </a:rPr>
              <a:t>GAME</a:t>
            </a:r>
          </a:p>
        </p:txBody>
      </p:sp>
      <p:sp>
        <p:nvSpPr>
          <p:cNvPr id="95" name="Rounded Rectangle 9083"/>
          <p:cNvSpPr/>
          <p:nvPr/>
        </p:nvSpPr>
        <p:spPr>
          <a:xfrm>
            <a:off x="10607040" y="3941064"/>
            <a:ext cx="1207008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chemeClr val="accent1"/>
                </a:solidFill>
                <a:latin typeface="Calibri"/>
              </a:rPr>
              <a:t>[Insert mins]</a:t>
            </a:r>
          </a:p>
        </p:txBody>
      </p:sp>
      <p:sp>
        <p:nvSpPr>
          <p:cNvPr id="96" name="TextBox 9084"/>
          <p:cNvSpPr txBox="1"/>
          <p:nvPr/>
        </p:nvSpPr>
        <p:spPr>
          <a:xfrm>
            <a:off x="6583680" y="4398264"/>
            <a:ext cx="1097280" cy="164592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750" b="1" lang="en-GB">
                <a:solidFill>
                  <a:srgbClr val="6B6B6B"/>
                </a:solidFill>
                <a:latin typeface="Calibri"/>
              </a:rPr>
              <a:t>CUES</a:t>
            </a:r>
          </a:p>
        </p:txBody>
      </p:sp>
      <p:sp>
        <p:nvSpPr>
          <p:cNvPr id="97" name="TextBox 9085"/>
          <p:cNvSpPr txBox="1"/>
          <p:nvPr/>
        </p:nvSpPr>
        <p:spPr>
          <a:xfrm>
            <a:off x="6583680" y="4599432"/>
            <a:ext cx="3291840" cy="31089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300" b="1" lang="en-GB">
                <a:solidFill>
                  <a:schemeClr val="accent1"/>
                </a:solidFill>
                <a:latin typeface="Calibri"/>
              </a:rPr>
              <a:t>1  </a:t>
            </a:r>
            <a:r>
              <a:rPr sz="1200" b="1" lang="en-GB">
                <a:solidFill>
                  <a:srgbClr val="1A1A1A"/>
                </a:solidFill>
                <a:latin typeface="Calibri"/>
              </a:rPr>
              <a:t>[Insert cue — five words max]</a:t>
            </a:r>
          </a:p>
        </p:txBody>
      </p:sp>
      <p:sp>
        <p:nvSpPr>
          <p:cNvPr id="98" name="TextBox 9086"/>
          <p:cNvSpPr txBox="1"/>
          <p:nvPr/>
        </p:nvSpPr>
        <p:spPr>
          <a:xfrm>
            <a:off x="6583680" y="4965192"/>
            <a:ext cx="3291840" cy="31089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300" b="1" lang="en-GB">
                <a:solidFill>
                  <a:schemeClr val="accent1"/>
                </a:solidFill>
                <a:latin typeface="Calibri"/>
              </a:rPr>
              <a:t>2  </a:t>
            </a:r>
            <a:r>
              <a:rPr sz="1200" b="1" lang="en-GB">
                <a:solidFill>
                  <a:srgbClr val="1A1A1A"/>
                </a:solidFill>
                <a:latin typeface="Calibri"/>
              </a:rPr>
              <a:t>[Insert cue — five words max]</a:t>
            </a:r>
          </a:p>
        </p:txBody>
      </p:sp>
      <p:sp>
        <p:nvSpPr>
          <p:cNvPr id="99" name="TextBox 9087"/>
          <p:cNvSpPr txBox="1"/>
          <p:nvPr/>
        </p:nvSpPr>
        <p:spPr>
          <a:xfrm>
            <a:off x="6583680" y="5330952"/>
            <a:ext cx="3291840" cy="310896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1300" b="1" lang="en-GB">
                <a:solidFill>
                  <a:schemeClr val="accent1"/>
                </a:solidFill>
                <a:latin typeface="Calibri"/>
              </a:rPr>
              <a:t>3  </a:t>
            </a:r>
            <a:r>
              <a:rPr sz="1200" b="1" lang="en-GB">
                <a:solidFill>
                  <a:srgbClr val="1A1A1A"/>
                </a:solidFill>
                <a:latin typeface="Calibri"/>
              </a:rPr>
              <a:t>[Insert cue — five words max]</a:t>
            </a:r>
          </a:p>
        </p:txBody>
      </p:sp>
      <p:grpSp>
        <p:nvGrpSpPr>
          <p:cNvPr id="100" name="Card court 04"/>
          <p:cNvGrpSpPr/>
          <p:nvPr/>
        </p:nvGrpSpPr>
        <p:grpSpPr>
          <a:xfrm>
            <a:off x="9948672" y="4663440"/>
            <a:ext cx="1865376" cy="868680"/>
            <a:chOff x="9948672" y="4663440"/>
            <a:chExt cx="1865376" cy="868680"/>
          </a:xfrm>
        </p:grpSpPr>
        <p:sp>
          <p:nvSpPr>
            <p:cNvPr id="101" name="Rectangle 9088"/>
            <p:cNvSpPr/>
            <p:nvPr/>
          </p:nvSpPr>
          <p:spPr>
            <a:xfrm>
              <a:off x="10012680" y="4663440"/>
              <a:ext cx="1737360" cy="868680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2" name="Connector 9089"/>
            <p:cNvCxnSpPr/>
            <p:nvPr/>
          </p:nvCxnSpPr>
          <p:spPr>
            <a:xfrm>
              <a:off x="10881360" y="4663440"/>
              <a:ext cx="0" cy="86868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9090"/>
            <p:cNvSpPr/>
            <p:nvPr/>
          </p:nvSpPr>
          <p:spPr>
            <a:xfrm>
              <a:off x="10751058" y="4967478"/>
              <a:ext cx="260604" cy="260604"/>
            </a:xfrm>
            <a:prstGeom prst="ellipse">
              <a:avLst/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9091"/>
            <p:cNvSpPr/>
            <p:nvPr/>
          </p:nvSpPr>
          <p:spPr>
            <a:xfrm>
              <a:off x="10865358" y="508177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Arc 9092"/>
            <p:cNvSpPr/>
            <p:nvPr/>
          </p:nvSpPr>
          <p:spPr>
            <a:xfrm>
              <a:off x="9752076" y="4772025"/>
              <a:ext cx="521208" cy="521208"/>
            </a:xfrm>
            <a:prstGeom prst="arc">
              <a:avLst>
                <a:gd name="adj1" fmla="val 16200000"/>
                <a:gd name="adj2" fmla="val 216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Arc 9093"/>
            <p:cNvSpPr/>
            <p:nvPr/>
          </p:nvSpPr>
          <p:spPr>
            <a:xfrm>
              <a:off x="9752076" y="4902327"/>
              <a:ext cx="521208" cy="521208"/>
            </a:xfrm>
            <a:prstGeom prst="arc">
              <a:avLst>
                <a:gd name="adj1" fmla="val 0"/>
                <a:gd name="adj2" fmla="val 54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7" name="Connector 9094"/>
            <p:cNvCxnSpPr/>
            <p:nvPr/>
          </p:nvCxnSpPr>
          <p:spPr>
            <a:xfrm>
              <a:off x="10273284" y="5032629"/>
              <a:ext cx="0" cy="13030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9095"/>
            <p:cNvSpPr/>
            <p:nvPr/>
          </p:nvSpPr>
          <p:spPr>
            <a:xfrm>
              <a:off x="10257282" y="508177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9096"/>
            <p:cNvSpPr/>
            <p:nvPr/>
          </p:nvSpPr>
          <p:spPr>
            <a:xfrm>
              <a:off x="10431018" y="508177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Rectangle 9097"/>
            <p:cNvSpPr/>
            <p:nvPr/>
          </p:nvSpPr>
          <p:spPr>
            <a:xfrm>
              <a:off x="9948672" y="5032629"/>
              <a:ext cx="64008" cy="13030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Arc 9098"/>
            <p:cNvSpPr/>
            <p:nvPr/>
          </p:nvSpPr>
          <p:spPr>
            <a:xfrm>
              <a:off x="11489436" y="4772025"/>
              <a:ext cx="521208" cy="521208"/>
            </a:xfrm>
            <a:prstGeom prst="arc">
              <a:avLst>
                <a:gd name="adj1" fmla="val 10800000"/>
                <a:gd name="adj2" fmla="val 162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Arc 9099"/>
            <p:cNvSpPr/>
            <p:nvPr/>
          </p:nvSpPr>
          <p:spPr>
            <a:xfrm>
              <a:off x="11489436" y="4902327"/>
              <a:ext cx="521208" cy="521208"/>
            </a:xfrm>
            <a:prstGeom prst="arc">
              <a:avLst>
                <a:gd name="adj1" fmla="val 5400000"/>
                <a:gd name="adj2" fmla="val 10800000"/>
              </a:avLst>
            </a:prstGeom>
            <a:noFill/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3" name="Connector 9100"/>
            <p:cNvCxnSpPr/>
            <p:nvPr/>
          </p:nvCxnSpPr>
          <p:spPr>
            <a:xfrm>
              <a:off x="11489436" y="5032629"/>
              <a:ext cx="0" cy="130302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Oval 9101"/>
            <p:cNvSpPr/>
            <p:nvPr/>
          </p:nvSpPr>
          <p:spPr>
            <a:xfrm>
              <a:off x="11473434" y="508177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9102"/>
            <p:cNvSpPr/>
            <p:nvPr/>
          </p:nvSpPr>
          <p:spPr>
            <a:xfrm>
              <a:off x="11299698" y="5081778"/>
              <a:ext cx="32004" cy="320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Rectangle 9103"/>
            <p:cNvSpPr/>
            <p:nvPr/>
          </p:nvSpPr>
          <p:spPr>
            <a:xfrm>
              <a:off x="11750040" y="5032629"/>
              <a:ext cx="64008" cy="130302"/>
            </a:xfrm>
            <a:prstGeom prst="rect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7" name="Connector 9104"/>
          <p:cNvCxnSpPr/>
          <p:nvPr/>
        </p:nvCxnSpPr>
        <p:spPr>
          <a:xfrm>
            <a:off x="6583680" y="5916168"/>
            <a:ext cx="5257800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9105"/>
          <p:cNvSpPr txBox="1"/>
          <p:nvPr/>
        </p:nvSpPr>
        <p:spPr>
          <a:xfrm>
            <a:off x="6583680" y="5989320"/>
            <a:ext cx="3566160" cy="502920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750" b="1" lang="en-GB">
                <a:solidFill>
                  <a:srgbClr val="6B6B6B"/>
                </a:solidFill>
                <a:latin typeface="Calibri"/>
              </a:rPr>
              <a:t>WATCH FOR   </a:t>
            </a:r>
            <a:r>
              <a:rPr sz="950" b="0" lang="en-GB">
                <a:solidFill>
                  <a:srgbClr val="1A1A1A"/>
                </a:solidFill>
                <a:latin typeface="Calibri"/>
              </a:rPr>
              <a:t>[Insert the trigger that makes you stop play]</a:t>
            </a:r>
          </a:p>
        </p:txBody>
      </p:sp>
      <p:sp>
        <p:nvSpPr>
          <p:cNvPr id="119" name="TextBox 9106"/>
          <p:cNvSpPr txBox="1"/>
          <p:nvPr/>
        </p:nvSpPr>
        <p:spPr>
          <a:xfrm>
            <a:off x="10332720" y="5989320"/>
            <a:ext cx="1508760" cy="274320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r"/>
            <a:r>
              <a:rPr sz="750" b="1" lang="en-GB">
                <a:solidFill>
                  <a:srgbClr val="6B6B6B"/>
                </a:solidFill>
                <a:latin typeface="Calibri"/>
              </a:rPr>
              <a:t>WORK : REST   </a:t>
            </a:r>
            <a:r>
              <a:rPr sz="950" b="1" lang="en-GB">
                <a:solidFill>
                  <a:srgbClr val="1A1A1A"/>
                </a:solidFill>
                <a:latin typeface="Calibri"/>
              </a:rPr>
              <a:t>[   ]</a:t>
            </a:r>
          </a:p>
        </p:txBody>
      </p:sp>
      <p:cxnSp>
        <p:nvCxnSpPr>
          <p:cNvPr id="120" name="Connector 9107"/>
          <p:cNvCxnSpPr/>
          <p:nvPr/>
        </p:nvCxnSpPr>
        <p:spPr>
          <a:xfrm>
            <a:off x="6126480" y="713232"/>
            <a:ext cx="0" cy="5943600"/>
          </a:xfrm>
          <a:prstGeom prst="line">
            <a:avLst/>
          </a:prstGeom>
          <a:ln w="9525">
            <a:solidFill>
              <a:srgbClr val="6B6B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9108"/>
          <p:cNvCxnSpPr/>
          <p:nvPr/>
        </p:nvCxnSpPr>
        <p:spPr>
          <a:xfrm>
            <a:off x="182880" y="3680460"/>
            <a:ext cx="11823192" cy="0"/>
          </a:xfrm>
          <a:prstGeom prst="line">
            <a:avLst/>
          </a:prstGeom>
          <a:ln w="9525">
            <a:solidFill>
              <a:srgbClr val="6B6B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9109"/>
          <p:cNvSpPr txBox="1"/>
          <p:nvPr/>
        </p:nvSpPr>
        <p:spPr>
          <a:xfrm>
            <a:off x="5907024" y="548640"/>
            <a:ext cx="457200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ctr"/>
            <a:r>
              <a:rPr sz="600" b="1" lang="en-GB">
                <a:solidFill>
                  <a:srgbClr val="6B6B6B"/>
                </a:solidFill>
                <a:latin typeface="Calibri"/>
              </a:rPr>
              <a:t>CUT</a:t>
            </a:r>
          </a:p>
        </p:txBody>
      </p:sp>
      <p:sp>
        <p:nvSpPr>
          <p:cNvPr id="123" name="TextBox 9110"/>
          <p:cNvSpPr txBox="1"/>
          <p:nvPr/>
        </p:nvSpPr>
        <p:spPr>
          <a:xfrm>
            <a:off x="11832336" y="3593592"/>
            <a:ext cx="310896" cy="146304"/>
          </a:xfrm>
          <a:prstGeom prst="rect">
            <a:avLst/>
          </a:prstGeom>
          <a:noFill/>
          <a:effectLst/>
        </p:spPr>
        <p:txBody>
          <a:bodyPr wrap="none" anchor="t" lIns="27432" rIns="27432" tIns="13716" bIns="13716">
            <a:spAutoFit/>
          </a:bodyPr>
          <a:lstStyle/>
          <a:p>
            <a:pPr algn="l"/>
            <a:r>
              <a:rPr sz="600" b="1" lang="en-GB">
                <a:solidFill>
                  <a:srgbClr val="6B6B6B"/>
                </a:solidFill>
                <a:latin typeface="Calibri"/>
              </a:rPr>
              <a:t>CUT</a:t>
            </a:r>
          </a:p>
        </p:txBody>
      </p:sp>
      <p:sp>
        <p:nvSpPr>
          <p:cNvPr id="124" name="TextBox 9111"/>
          <p:cNvSpPr txBox="1"/>
          <p:nvPr/>
        </p:nvSpPr>
        <p:spPr>
          <a:xfrm>
            <a:off x="137160" y="6725412"/>
            <a:ext cx="11917375" cy="123444"/>
          </a:xfrm>
          <a:prstGeom prst="rect">
            <a:avLst/>
          </a:prstGeom>
          <a:noFill/>
          <a:effectLst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650" b="0" lang="en-GB">
                <a:solidFill>
                  <a:srgbClr val="6B6B6B"/>
                </a:solidFill>
                <a:latin typeface="Calibri"/>
              </a:rPr>
              <a:t>ON-COURT CARDS  —  print · cut · pocket  ·  one card per block  ·  three cues max  ·  readable at arm's length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utsal Session System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7B8"/>
      </a:accent1>
      <a:accent2>
        <a:srgbClr val="2F3B46"/>
      </a:accent2>
      <a:accent3>
        <a:srgbClr val="A9B1BB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