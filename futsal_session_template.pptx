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MASTER TEMPLATE  —  keep clean  ·  duplicate Slide 2 for each session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WORKING COPY  —  ready to edit  ·  duplicate weekly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GUIDE  —  annotated example  ·  delete the blue notes after reading</a:t>
            </a:r>
          </a:p>
        </p:txBody>
      </p:sp>
      <p:sp>
        <p:nvSpPr>
          <p:cNvPr id="9098" name="Rectangle 9097"/>
          <p:cNvSpPr/>
          <p:nvPr/>
        </p:nvSpPr>
        <p:spPr>
          <a:xfrm>
            <a:off x="502920" y="192024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Set timing + lead coach in each block header. Keep the objective to one line.</a:t>
            </a:r>
          </a:p>
        </p:txBody>
      </p:sp>
      <p:sp>
        <p:nvSpPr>
          <p:cNvPr id="9099" name="Rectangle 9098"/>
          <p:cNvSpPr/>
          <p:nvPr/>
        </p:nvSpPr>
        <p:spPr>
          <a:xfrm>
            <a:off x="5394960" y="192024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Copy players, arrows and zones from Slide 4 (Component Library) onto the court.</a:t>
            </a:r>
          </a:p>
        </p:txBody>
      </p:sp>
      <p:sp>
        <p:nvSpPr>
          <p:cNvPr id="9100" name="Rectangle 9099"/>
          <p:cNvSpPr/>
          <p:nvPr/>
        </p:nvSpPr>
        <p:spPr>
          <a:xfrm>
            <a:off x="502920" y="475488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Use the notes strip for constraints, progressions and setup / equipment reminders.</a:t>
            </a:r>
          </a:p>
        </p:txBody>
      </p:sp>
      <p:sp>
        <p:nvSpPr>
          <p:cNvPr id="9101" name="Rectangle 9100"/>
          <p:cNvSpPr/>
          <p:nvPr/>
        </p:nvSpPr>
        <p:spPr>
          <a:xfrm>
            <a:off x="5394960" y="475488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Duplicate Slide 2 each week. Delete these blue notes — they are single text boxes.</a:t>
            </a:r>
          </a:p>
        </p:txBody>
      </p:sp>
      <p:sp>
        <p:nvSpPr>
          <p:cNvPr id="9102" name="Rectangle 9101"/>
          <p:cNvSpPr/>
          <p:nvPr/>
        </p:nvSpPr>
        <p:spPr>
          <a:xfrm>
            <a:off x="9994392" y="3017520"/>
            <a:ext cx="1965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Update counts, names and status here for fast late changes. Tab moves between table cells.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9144000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600" b="1" lang="en-GB">
                <a:solidFill>
                  <a:srgbClr val="1A1A1A"/>
                </a:solidFill>
                <a:latin typeface="Calibri"/>
              </a:rPr>
              <a:t>COMPONENT LIBRARY</a:t>
            </a:r>
          </a:p>
          <a:p>
            <a:pPr algn="l"/>
            <a:r>
              <a:rPr sz="850" b="0" lang="en-GB">
                <a:solidFill>
                  <a:srgbClr val="6B6B6B"/>
                </a:solidFill>
                <a:latin typeface="Calibri"/>
              </a:rPr>
              <a:t>All markers are at true court scale (≈1.7 m on a 40 m court). Copy and paste directly onto any diagram — they will be proportionally correct.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PLAYER MARKERS  (plain)</a:t>
            </a:r>
          </a:p>
        </p:txBody>
      </p:sp>
      <p:sp>
        <p:nvSpPr>
          <p:cNvPr id="6" name="Oval 5"/>
          <p:cNvSpPr/>
          <p:nvPr/>
        </p:nvSpPr>
        <p:spPr>
          <a:xfrm>
            <a:off x="420624" y="896112"/>
            <a:ext cx="128016" cy="128016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8" name="Oval 7"/>
          <p:cNvSpPr/>
          <p:nvPr/>
        </p:nvSpPr>
        <p:spPr>
          <a:xfrm>
            <a:off x="877824" y="89611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10" name="Oval 9"/>
          <p:cNvSpPr/>
          <p:nvPr/>
        </p:nvSpPr>
        <p:spPr>
          <a:xfrm>
            <a:off x="1335024" y="896112"/>
            <a:ext cx="128016" cy="1280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12" name="Oval 11"/>
          <p:cNvSpPr/>
          <p:nvPr/>
        </p:nvSpPr>
        <p:spPr>
          <a:xfrm>
            <a:off x="1792224" y="89611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Neutral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3172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0487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EQUIPMENT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2404872" y="914400"/>
            <a:ext cx="82296" cy="73152"/>
          </a:xfrm>
          <a:prstGeom prst="triangl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40864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Cone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98648" y="877824"/>
            <a:ext cx="36576" cy="1828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Pole</a:t>
            </a:r>
          </a:p>
        </p:txBody>
      </p:sp>
      <p:sp>
        <p:nvSpPr>
          <p:cNvPr id="20" name="Oval 19"/>
          <p:cNvSpPr/>
          <p:nvPr/>
        </p:nvSpPr>
        <p:spPr>
          <a:xfrm>
            <a:off x="3337560" y="932688"/>
            <a:ext cx="64008" cy="6400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Ball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900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0215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LINES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7472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29000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Run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4340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297680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Pass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1208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166360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Dribble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967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ZONES / SCREENS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896112"/>
            <a:ext cx="640080" cy="219456"/>
          </a:xfrm>
          <a:prstGeom prst="rect">
            <a:avLst/>
          </a:prstGeom>
          <a:solidFill>
            <a:srgbClr val="0057B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4808" y="1060704"/>
            <a:ext cx="694944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Zone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60920" y="969264"/>
            <a:ext cx="329184" cy="54864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51192" y="1060704"/>
            <a:ext cx="566928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Screen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37160" y="1508760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65760" y="16002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15727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BODY SHAPE  —  shoulder-line pucks</a:t>
            </a:r>
          </a:p>
        </p:txBody>
      </p:sp>
      <p:sp>
        <p:nvSpPr>
          <p:cNvPr id="39" name="Chord 38"/>
          <p:cNvSpPr/>
          <p:nvPr/>
        </p:nvSpPr>
        <p:spPr>
          <a:xfrm>
            <a:off x="4297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41" name="Chord 40"/>
          <p:cNvSpPr/>
          <p:nvPr/>
        </p:nvSpPr>
        <p:spPr>
          <a:xfrm>
            <a:off x="8869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43" name="Chord 42"/>
          <p:cNvSpPr/>
          <p:nvPr/>
        </p:nvSpPr>
        <p:spPr>
          <a:xfrm>
            <a:off x="13441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93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45" name="Chord 44"/>
          <p:cNvSpPr/>
          <p:nvPr/>
        </p:nvSpPr>
        <p:spPr>
          <a:xfrm>
            <a:off x="18013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FFFFFF"/>
          </a:solidFill>
          <a:ln w="1270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465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Neutral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2176272"/>
            <a:ext cx="2331720" cy="3291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Flat edge = shoulders, curve = chest. One shape — rotate it to show open / closed body shape.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16002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90672" y="15727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VISION CONE  —  facing + field of view</a:t>
            </a:r>
          </a:p>
        </p:txBody>
      </p:sp>
      <p:grpSp>
        <p:nvGrpSpPr>
          <p:cNvPr id="9005" name="vm_A"/>
          <p:cNvGrpSpPr/>
          <p:nvPr/>
        </p:nvGrpSpPr>
        <p:grpSpPr>
          <a:xfrm>
            <a:off x="3086100" y="1796796"/>
            <a:ext cx="448056" cy="448056"/>
            <a:chOff x="3086100" y="1796796"/>
            <a:chExt cx="448056" cy="448056"/>
          </a:xfrm>
        </p:grpSpPr>
        <p:sp>
          <p:nvSpPr>
            <p:cNvPr id="50" name="Pie 49"/>
            <p:cNvSpPr/>
            <p:nvPr/>
          </p:nvSpPr>
          <p:spPr>
            <a:xfrm>
              <a:off x="3086100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0057B8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3246120" y="1956816"/>
              <a:ext cx="128016" cy="128016"/>
            </a:xfrm>
            <a:prstGeom prst="ellips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A</a:t>
              </a:r>
            </a:p>
          </p:txBody>
        </p:sp>
      </p:grpSp>
      <p:sp>
        <p:nvSpPr>
          <p:cNvPr id="9006" name="TextBox 9005"/>
          <p:cNvSpPr txBox="1"/>
          <p:nvPr/>
        </p:nvSpPr>
        <p:spPr>
          <a:xfrm>
            <a:off x="3108960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grpSp>
        <p:nvGrpSpPr>
          <p:cNvPr id="9006" name="vm_D"/>
          <p:cNvGrpSpPr/>
          <p:nvPr/>
        </p:nvGrpSpPr>
        <p:grpSpPr>
          <a:xfrm>
            <a:off x="3653028" y="1796796"/>
            <a:ext cx="448056" cy="448056"/>
            <a:chOff x="3653028" y="1796796"/>
            <a:chExt cx="448056" cy="448056"/>
          </a:xfrm>
        </p:grpSpPr>
        <p:sp>
          <p:nvSpPr>
            <p:cNvPr id="9007" name="Pie 9006"/>
            <p:cNvSpPr/>
            <p:nvPr/>
          </p:nvSpPr>
          <p:spPr>
            <a:xfrm>
              <a:off x="3653028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6B6B6B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08" name="Oval 9007"/>
            <p:cNvSpPr/>
            <p:nvPr/>
          </p:nvSpPr>
          <p:spPr>
            <a:xfrm>
              <a:off x="3813048" y="1956816"/>
              <a:ext cx="128016" cy="12801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6B6B6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6B6B6B"/>
                  </a:solidFill>
                  <a:latin typeface="Calibri"/>
                </a:rPr>
                <a:t>D</a:t>
              </a:r>
            </a:p>
          </p:txBody>
        </p:sp>
      </p:grpSp>
      <p:sp>
        <p:nvSpPr>
          <p:cNvPr id="9009" name="TextBox 9008"/>
          <p:cNvSpPr txBox="1"/>
          <p:nvPr/>
        </p:nvSpPr>
        <p:spPr>
          <a:xfrm>
            <a:off x="3675888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grpSp>
        <p:nvGrpSpPr>
          <p:cNvPr id="9007" name="vm_G"/>
          <p:cNvGrpSpPr/>
          <p:nvPr/>
        </p:nvGrpSpPr>
        <p:grpSpPr>
          <a:xfrm>
            <a:off x="4219956" y="1796796"/>
            <a:ext cx="448056" cy="448056"/>
            <a:chOff x="4219956" y="1796796"/>
            <a:chExt cx="448056" cy="448056"/>
          </a:xfrm>
        </p:grpSpPr>
        <p:sp>
          <p:nvSpPr>
            <p:cNvPr id="9010" name="Pie 9009"/>
            <p:cNvSpPr/>
            <p:nvPr/>
          </p:nvSpPr>
          <p:spPr>
            <a:xfrm>
              <a:off x="4219956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1A1A1A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1" name="Oval 9010"/>
            <p:cNvSpPr/>
            <p:nvPr/>
          </p:nvSpPr>
          <p:spPr>
            <a:xfrm>
              <a:off x="4379976" y="1956816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G</a:t>
              </a:r>
            </a:p>
          </p:txBody>
        </p:sp>
      </p:grpSp>
      <p:sp>
        <p:nvSpPr>
          <p:cNvPr id="9012" name="TextBox 9011"/>
          <p:cNvSpPr txBox="1"/>
          <p:nvPr/>
        </p:nvSpPr>
        <p:spPr>
          <a:xfrm>
            <a:off x="4242816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3017520" y="2304288"/>
            <a:ext cx="2606040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Rotate the group: cone shows where the player faces and what they see. On a defender it doubles as a cover shadow.</a:t>
            </a:r>
          </a:p>
        </p:txBody>
      </p:sp>
      <p:sp>
        <p:nvSpPr>
          <p:cNvPr id="9014" name="Rectangle 9013"/>
          <p:cNvSpPr/>
          <p:nvPr/>
        </p:nvSpPr>
        <p:spPr>
          <a:xfrm>
            <a:off x="5989320" y="1792224"/>
            <a:ext cx="3017520" cy="566928"/>
          </a:xfrm>
          <a:prstGeom prst="rect">
            <a:avLst/>
          </a:prstGeom>
          <a:solidFill>
            <a:srgbClr val="FAFAFA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750">
                <a:solidFill>
                  <a:srgbClr val="6B6B6B"/>
                </a:solidFill>
                <a:latin typeface="Calibri"/>
              </a:rPr>
              <a:t>ROTATION  ·  All orientation markers face UP by default. Select → drag the rotation handle, or Format Shape → Rotation and type the angle (0 = up, 90 = right, 180 = down, 270 = left).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5989320" y="2395728"/>
            <a:ext cx="3017520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LONG CONES (right) are separate — no player attached. Drop one under any marker, rotate to aim, drag a corner handle to lengthen.</a:t>
            </a:r>
          </a:p>
        </p:txBody>
      </p:sp>
      <p:sp>
        <p:nvSpPr>
          <p:cNvPr id="9016" name="Long cone Attacker"/>
          <p:cNvSpPr/>
          <p:nvPr/>
        </p:nvSpPr>
        <p:spPr>
          <a:xfrm>
            <a:off x="9050365" y="1844893"/>
            <a:ext cx="1193109" cy="1193109"/>
          </a:xfrm>
          <a:prstGeom prst="pie">
            <a:avLst>
              <a:gd name="adj1" fmla="val 14100000"/>
              <a:gd name="adj2" fmla="val 18300000"/>
            </a:avLst>
          </a:prstGeom>
          <a:solidFill>
            <a:srgbClr val="0057B8">
              <a:alpha val="20000"/>
            </a:srgbClr>
          </a:solidFill>
          <a:ln w="952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TextBox 9016"/>
          <p:cNvSpPr txBox="1"/>
          <p:nvPr/>
        </p:nvSpPr>
        <p:spPr>
          <a:xfrm>
            <a:off x="9372600" y="2478024"/>
            <a:ext cx="54864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9018" name="Long cone Defender"/>
          <p:cNvSpPr/>
          <p:nvPr/>
        </p:nvSpPr>
        <p:spPr>
          <a:xfrm>
            <a:off x="10010485" y="1844893"/>
            <a:ext cx="1193109" cy="1193109"/>
          </a:xfrm>
          <a:prstGeom prst="pie">
            <a:avLst>
              <a:gd name="adj1" fmla="val 14100000"/>
              <a:gd name="adj2" fmla="val 18300000"/>
            </a:avLst>
          </a:prstGeom>
          <a:solidFill>
            <a:srgbClr val="6B6B6B">
              <a:alpha val="20000"/>
            </a:srgbClr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TextBox 9018"/>
          <p:cNvSpPr txBox="1"/>
          <p:nvPr/>
        </p:nvSpPr>
        <p:spPr>
          <a:xfrm>
            <a:off x="10332720" y="2478024"/>
            <a:ext cx="54864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9020" name="Long cone GK"/>
          <p:cNvSpPr/>
          <p:nvPr/>
        </p:nvSpPr>
        <p:spPr>
          <a:xfrm>
            <a:off x="10970605" y="1844893"/>
            <a:ext cx="1193109" cy="1193109"/>
          </a:xfrm>
          <a:prstGeom prst="pie">
            <a:avLst>
              <a:gd name="adj1" fmla="val 14100000"/>
              <a:gd name="adj2" fmla="val 18300000"/>
            </a:avLst>
          </a:prstGeom>
          <a:solidFill>
            <a:srgbClr val="1A1A1A">
              <a:alpha val="20000"/>
            </a:srgbClr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TextBox 9020"/>
          <p:cNvSpPr txBox="1"/>
          <p:nvPr/>
        </p:nvSpPr>
        <p:spPr>
          <a:xfrm>
            <a:off x="11292840" y="2478024"/>
            <a:ext cx="54864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9022" name="Rectangle 9021"/>
          <p:cNvSpPr/>
          <p:nvPr/>
        </p:nvSpPr>
        <p:spPr>
          <a:xfrm>
            <a:off x="9144000" y="16002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3" name="TextBox 9022"/>
          <p:cNvSpPr txBox="1"/>
          <p:nvPr/>
        </p:nvSpPr>
        <p:spPr>
          <a:xfrm>
            <a:off x="9217152" y="15727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LONG VISION CONES  (≈8 m, standalone)</a:t>
            </a:r>
          </a:p>
        </p:txBody>
      </p:sp>
      <p:cxnSp>
        <p:nvCxnSpPr>
          <p:cNvPr id="9024" name="Connector 9023"/>
          <p:cNvCxnSpPr/>
          <p:nvPr/>
        </p:nvCxnSpPr>
        <p:spPr>
          <a:xfrm>
            <a:off x="137160" y="2670048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008" name="scan_A"/>
          <p:cNvGrpSpPr/>
          <p:nvPr/>
        </p:nvGrpSpPr>
        <p:grpSpPr>
          <a:xfrm>
            <a:off x="248717" y="2690165"/>
            <a:ext cx="819302" cy="819302"/>
            <a:chOff x="248717" y="2690165"/>
            <a:chExt cx="819302" cy="819302"/>
          </a:xfrm>
        </p:grpSpPr>
        <p:sp>
          <p:nvSpPr>
            <p:cNvPr id="9025" name="Pie 9024"/>
            <p:cNvSpPr/>
            <p:nvPr/>
          </p:nvSpPr>
          <p:spPr>
            <a:xfrm>
              <a:off x="248717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rgbClr val="0057B8">
                <a:alpha val="10000"/>
              </a:srgbClr>
            </a:solidFill>
            <a:ln w="12700">
              <a:solidFill>
                <a:srgbClr val="0057B8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6" name="Oval 9025"/>
            <p:cNvSpPr/>
            <p:nvPr/>
          </p:nvSpPr>
          <p:spPr>
            <a:xfrm>
              <a:off x="594360" y="3035808"/>
              <a:ext cx="128016" cy="128016"/>
            </a:xfrm>
            <a:prstGeom prst="ellips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A</a:t>
              </a:r>
            </a:p>
          </p:txBody>
        </p:sp>
      </p:grpSp>
      <p:sp>
        <p:nvSpPr>
          <p:cNvPr id="9027" name="TextBox 9026"/>
          <p:cNvSpPr txBox="1"/>
          <p:nvPr/>
        </p:nvSpPr>
        <p:spPr>
          <a:xfrm>
            <a:off x="521208" y="3218688"/>
            <a:ext cx="45720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grpSp>
        <p:nvGrpSpPr>
          <p:cNvPr id="9009" name="scan_D"/>
          <p:cNvGrpSpPr/>
          <p:nvPr/>
        </p:nvGrpSpPr>
        <p:grpSpPr>
          <a:xfrm>
            <a:off x="1254557" y="2690165"/>
            <a:ext cx="819302" cy="819302"/>
            <a:chOff x="1254557" y="2690165"/>
            <a:chExt cx="819302" cy="819302"/>
          </a:xfrm>
        </p:grpSpPr>
        <p:sp>
          <p:nvSpPr>
            <p:cNvPr id="9028" name="Pie 9027"/>
            <p:cNvSpPr/>
            <p:nvPr/>
          </p:nvSpPr>
          <p:spPr>
            <a:xfrm>
              <a:off x="1254557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rgbClr val="6B6B6B">
                <a:alpha val="10000"/>
              </a:srgbClr>
            </a:solidFill>
            <a:ln w="12700">
              <a:solidFill>
                <a:srgbClr val="6B6B6B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Oval 9028"/>
            <p:cNvSpPr/>
            <p:nvPr/>
          </p:nvSpPr>
          <p:spPr>
            <a:xfrm>
              <a:off x="1600200" y="3035808"/>
              <a:ext cx="128016" cy="12801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6B6B6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6B6B6B"/>
                  </a:solidFill>
                  <a:latin typeface="Calibri"/>
                </a:rPr>
                <a:t>D</a:t>
              </a:r>
            </a:p>
          </p:txBody>
        </p:sp>
      </p:grpSp>
      <p:sp>
        <p:nvSpPr>
          <p:cNvPr id="9030" name="TextBox 9029"/>
          <p:cNvSpPr txBox="1"/>
          <p:nvPr/>
        </p:nvSpPr>
        <p:spPr>
          <a:xfrm>
            <a:off x="1527048" y="3218688"/>
            <a:ext cx="45720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grpSp>
        <p:nvGrpSpPr>
          <p:cNvPr id="9010" name="scan_G"/>
          <p:cNvGrpSpPr/>
          <p:nvPr/>
        </p:nvGrpSpPr>
        <p:grpSpPr>
          <a:xfrm>
            <a:off x="2260397" y="2690165"/>
            <a:ext cx="819302" cy="819302"/>
            <a:chOff x="2260397" y="2690165"/>
            <a:chExt cx="819302" cy="819302"/>
          </a:xfrm>
        </p:grpSpPr>
        <p:sp>
          <p:nvSpPr>
            <p:cNvPr id="9031" name="Pie 9030"/>
            <p:cNvSpPr/>
            <p:nvPr/>
          </p:nvSpPr>
          <p:spPr>
            <a:xfrm>
              <a:off x="2260397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rgbClr val="1A1A1A">
                <a:alpha val="10000"/>
              </a:srgbClr>
            </a:solidFill>
            <a:ln w="12700">
              <a:solidFill>
                <a:srgbClr val="1A1A1A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2" name="Oval 9031"/>
            <p:cNvSpPr/>
            <p:nvPr/>
          </p:nvSpPr>
          <p:spPr>
            <a:xfrm>
              <a:off x="2606040" y="3035808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G</a:t>
              </a:r>
            </a:p>
          </p:txBody>
        </p:sp>
      </p:grpSp>
      <p:sp>
        <p:nvSpPr>
          <p:cNvPr id="9033" name="TextBox 9032"/>
          <p:cNvSpPr txBox="1"/>
          <p:nvPr/>
        </p:nvSpPr>
        <p:spPr>
          <a:xfrm>
            <a:off x="2532888" y="3218688"/>
            <a:ext cx="45720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grpSp>
        <p:nvGrpSpPr>
          <p:cNvPr id="9011" name="combined_A"/>
          <p:cNvGrpSpPr/>
          <p:nvPr/>
        </p:nvGrpSpPr>
        <p:grpSpPr>
          <a:xfrm>
            <a:off x="3385109" y="2690165"/>
            <a:ext cx="819302" cy="819302"/>
            <a:chOff x="3385109" y="2690165"/>
            <a:chExt cx="819302" cy="819302"/>
          </a:xfrm>
        </p:grpSpPr>
        <p:sp>
          <p:nvSpPr>
            <p:cNvPr id="9034" name="Pie 9033"/>
            <p:cNvSpPr/>
            <p:nvPr/>
          </p:nvSpPr>
          <p:spPr>
            <a:xfrm>
              <a:off x="3385109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rgbClr val="0057B8">
                <a:alpha val="10000"/>
              </a:srgbClr>
            </a:solidFill>
            <a:ln w="12700">
              <a:solidFill>
                <a:srgbClr val="0057B8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5" name="Pie 9034"/>
            <p:cNvSpPr/>
            <p:nvPr/>
          </p:nvSpPr>
          <p:spPr>
            <a:xfrm>
              <a:off x="3570732" y="2875788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0057B8">
                <a:alpha val="2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6" name="Chord 9035"/>
            <p:cNvSpPr/>
            <p:nvPr/>
          </p:nvSpPr>
          <p:spPr>
            <a:xfrm>
              <a:off x="3730752" y="3035808"/>
              <a:ext cx="128016" cy="128016"/>
            </a:xfrm>
            <a:prstGeom prst="chord">
              <a:avLst>
                <a:gd name="adj1" fmla="val 9000000"/>
                <a:gd name="adj2" fmla="val 1800000"/>
              </a:avLst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27432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A</a:t>
              </a:r>
            </a:p>
          </p:txBody>
        </p:sp>
      </p:grpSp>
      <p:sp>
        <p:nvSpPr>
          <p:cNvPr id="9037" name="TextBox 9036"/>
          <p:cNvSpPr txBox="1"/>
          <p:nvPr/>
        </p:nvSpPr>
        <p:spPr>
          <a:xfrm>
            <a:off x="3602736" y="3218688"/>
            <a:ext cx="530352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Combined</a:t>
            </a:r>
          </a:p>
        </p:txBody>
      </p:sp>
      <p:sp>
        <p:nvSpPr>
          <p:cNvPr id="9038" name="Rectangle 9037"/>
          <p:cNvSpPr/>
          <p:nvPr/>
        </p:nvSpPr>
        <p:spPr>
          <a:xfrm>
            <a:off x="365760" y="27432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9" name="TextBox 9038"/>
          <p:cNvSpPr txBox="1"/>
          <p:nvPr/>
        </p:nvSpPr>
        <p:spPr>
          <a:xfrm>
            <a:off x="438912" y="27157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SCANNING AWARENESS ZONE  (180°, ≈5.5 m at court scale)</a:t>
            </a:r>
          </a:p>
        </p:txBody>
      </p:sp>
      <p:sp>
        <p:nvSpPr>
          <p:cNvPr id="9040" name="TextBox 9039"/>
          <p:cNvSpPr txBox="1"/>
          <p:nvPr/>
        </p:nvSpPr>
        <p:spPr>
          <a:xfrm>
            <a:off x="4617720" y="2761488"/>
            <a:ext cx="7223760" cy="9144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SCANNING AWARENESS  ·  VISION CONE  ·  BODY SHAPE</a:t>
            </a:r>
          </a:p>
          <a:p>
            <a:pPr algn="l"/>
            <a:r>
              <a:rPr sz="800" b="0" lang="en-GB">
                <a:solidFill>
                  <a:srgbClr val="6B6B6B"/>
                </a:solidFill>
                <a:latin typeface="Calibri"/>
              </a:rPr>
              <a:t>Scan zone (180°, dashed, very light) = the full area a player actively sweeps before receiving — peripheral awareness, not just facing direction.</a:t>
            </a:r>
          </a:p>
          <a:p>
            <a:pPr algn="l"/>
            <a:r>
              <a:rPr sz="3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6B6B6B"/>
                </a:solidFill>
                <a:latin typeface="Calibri"/>
              </a:rPr>
              <a:t>Vision cone (70°, solid) = immediate focus and field of view. Scan zone + vision cone together show the difference between what a player checks and what they commit to.</a:t>
            </a:r>
          </a:p>
          <a:p>
            <a:pPr algn="l"/>
            <a:r>
              <a:rPr sz="3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COMBINED example (left): all three layers in one group. Rotate the whole group to orient the player. Use standalone or combined — each is a separate object.</a:t>
            </a:r>
          </a:p>
        </p:txBody>
      </p:sp>
      <p:cxnSp>
        <p:nvCxnSpPr>
          <p:cNvPr id="9041" name="Connector 9040"/>
          <p:cNvCxnSpPr/>
          <p:nvPr/>
        </p:nvCxnSpPr>
        <p:spPr>
          <a:xfrm>
            <a:off x="137160" y="3794760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2" name="TextBox 9041"/>
          <p:cNvSpPr txBox="1"/>
          <p:nvPr/>
        </p:nvSpPr>
        <p:spPr>
          <a:xfrm>
            <a:off x="365760" y="3849624"/>
            <a:ext cx="219456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0057B8"/>
                </a:solidFill>
                <a:latin typeface="Calibri"/>
              </a:rPr>
              <a:t>TEAM A  </a:t>
            </a:r>
            <a:r>
              <a:rPr sz="750" b="0" lang="en-GB">
                <a:solidFill>
                  <a:srgbClr val="6B6B6B"/>
                </a:solidFill>
                <a:latin typeface="Calibri"/>
              </a:rPr>
              <a:t>your team</a:t>
            </a:r>
          </a:p>
        </p:txBody>
      </p:sp>
      <p:sp>
        <p:nvSpPr>
          <p:cNvPr id="9043" name="Chord 9042"/>
          <p:cNvSpPr/>
          <p:nvPr/>
        </p:nvSpPr>
        <p:spPr>
          <a:xfrm>
            <a:off x="411480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44" name="Chord 9043"/>
          <p:cNvSpPr/>
          <p:nvPr/>
        </p:nvSpPr>
        <p:spPr>
          <a:xfrm>
            <a:off x="758952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045" name="Chord 9044"/>
          <p:cNvSpPr/>
          <p:nvPr/>
        </p:nvSpPr>
        <p:spPr>
          <a:xfrm>
            <a:off x="1106424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046" name="Chord 9045"/>
          <p:cNvSpPr/>
          <p:nvPr/>
        </p:nvSpPr>
        <p:spPr>
          <a:xfrm>
            <a:off x="1453896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047" name="Chord 9046"/>
          <p:cNvSpPr/>
          <p:nvPr/>
        </p:nvSpPr>
        <p:spPr>
          <a:xfrm>
            <a:off x="1801368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048" name="TextBox 9047"/>
          <p:cNvSpPr txBox="1"/>
          <p:nvPr/>
        </p:nvSpPr>
        <p:spPr>
          <a:xfrm>
            <a:off x="2514600" y="3849624"/>
            <a:ext cx="27432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1A1A1A"/>
                </a:solidFill>
                <a:latin typeface="Calibri"/>
              </a:rPr>
              <a:t>TEAM B  </a:t>
            </a:r>
            <a:r>
              <a:rPr sz="750" b="0" lang="en-GB">
                <a:solidFill>
                  <a:srgbClr val="6B6B6B"/>
                </a:solidFill>
                <a:latin typeface="Calibri"/>
              </a:rPr>
              <a:t>opposition — change fill colour to match</a:t>
            </a:r>
          </a:p>
        </p:txBody>
      </p:sp>
      <p:sp>
        <p:nvSpPr>
          <p:cNvPr id="9049" name="Chord 9048"/>
          <p:cNvSpPr/>
          <p:nvPr/>
        </p:nvSpPr>
        <p:spPr>
          <a:xfrm>
            <a:off x="2560320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50" name="Chord 9049"/>
          <p:cNvSpPr/>
          <p:nvPr/>
        </p:nvSpPr>
        <p:spPr>
          <a:xfrm>
            <a:off x="2907792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051" name="Chord 9050"/>
          <p:cNvSpPr/>
          <p:nvPr/>
        </p:nvSpPr>
        <p:spPr>
          <a:xfrm>
            <a:off x="3255264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052" name="Chord 9051"/>
          <p:cNvSpPr/>
          <p:nvPr/>
        </p:nvSpPr>
        <p:spPr>
          <a:xfrm>
            <a:off x="3602736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053" name="Chord 9052"/>
          <p:cNvSpPr/>
          <p:nvPr/>
        </p:nvSpPr>
        <p:spPr>
          <a:xfrm>
            <a:off x="3950208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054" name="TextBox 9053"/>
          <p:cNvSpPr txBox="1"/>
          <p:nvPr/>
        </p:nvSpPr>
        <p:spPr>
          <a:xfrm>
            <a:off x="5029200" y="3849624"/>
            <a:ext cx="68580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SCALE + COLOUR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Markers are at true court scale. Team pucks carry body shape: rotate any puck to angle the shoulders. To recolour Team B: select all 5 → Format Shape → Fill.</a:t>
            </a:r>
          </a:p>
        </p:txBody>
      </p:sp>
      <p:cxnSp>
        <p:nvCxnSpPr>
          <p:cNvPr id="9055" name="Connector 9054"/>
          <p:cNvCxnSpPr/>
          <p:nvPr/>
        </p:nvCxnSpPr>
        <p:spPr>
          <a:xfrm>
            <a:off x="137160" y="4434840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6" name="Rectangle 9055"/>
          <p:cNvSpPr/>
          <p:nvPr/>
        </p:nvSpPr>
        <p:spPr>
          <a:xfrm>
            <a:off x="365760" y="452628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7" name="TextBox 9056"/>
          <p:cNvSpPr txBox="1"/>
          <p:nvPr/>
        </p:nvSpPr>
        <p:spPr>
          <a:xfrm>
            <a:off x="438912" y="449884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FULL COURT  (40m × 20m)</a:t>
            </a:r>
          </a:p>
        </p:txBody>
      </p:sp>
      <p:grpSp>
        <p:nvGrpSpPr>
          <p:cNvPr id="9012" name="Library full court"/>
          <p:cNvGrpSpPr/>
          <p:nvPr/>
        </p:nvGrpSpPr>
        <p:grpSpPr>
          <a:xfrm>
            <a:off x="438912" y="4754880"/>
            <a:ext cx="3602736" cy="1737360"/>
            <a:chOff x="438912" y="4754880"/>
            <a:chExt cx="3602736" cy="1737360"/>
          </a:xfrm>
        </p:grpSpPr>
        <p:sp>
          <p:nvSpPr>
            <p:cNvPr id="9058" name="Rectangle 9057"/>
            <p:cNvSpPr/>
            <p:nvPr/>
          </p:nvSpPr>
          <p:spPr>
            <a:xfrm>
              <a:off x="502920" y="4754880"/>
              <a:ext cx="3474720" cy="173736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9" name="Connector 9058"/>
            <p:cNvCxnSpPr/>
            <p:nvPr/>
          </p:nvCxnSpPr>
          <p:spPr>
            <a:xfrm>
              <a:off x="2240280" y="4754880"/>
              <a:ext cx="0" cy="173736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60" name="Oval 9059"/>
            <p:cNvSpPr/>
            <p:nvPr/>
          </p:nvSpPr>
          <p:spPr>
            <a:xfrm>
              <a:off x="1979676" y="5362956"/>
              <a:ext cx="521208" cy="521208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1" name="Oval 9060"/>
            <p:cNvSpPr/>
            <p:nvPr/>
          </p:nvSpPr>
          <p:spPr>
            <a:xfrm>
              <a:off x="222427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2" name="Arc 9061"/>
            <p:cNvSpPr/>
            <p:nvPr/>
          </p:nvSpPr>
          <p:spPr>
            <a:xfrm>
              <a:off x="-18288" y="4972050"/>
              <a:ext cx="1042416" cy="1042416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3" name="Arc 9062"/>
            <p:cNvSpPr/>
            <p:nvPr/>
          </p:nvSpPr>
          <p:spPr>
            <a:xfrm>
              <a:off x="-18288" y="5232654"/>
              <a:ext cx="1042416" cy="1042416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64" name="Connector 9063"/>
            <p:cNvCxnSpPr/>
            <p:nvPr/>
          </p:nvCxnSpPr>
          <p:spPr>
            <a:xfrm>
              <a:off x="1024128" y="5493258"/>
              <a:ext cx="0" cy="260604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65" name="Oval 9064"/>
            <p:cNvSpPr/>
            <p:nvPr/>
          </p:nvSpPr>
          <p:spPr>
            <a:xfrm>
              <a:off x="1008126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6" name="Oval 9065"/>
            <p:cNvSpPr/>
            <p:nvPr/>
          </p:nvSpPr>
          <p:spPr>
            <a:xfrm>
              <a:off x="135559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7" name="Rectangle 9066"/>
            <p:cNvSpPr/>
            <p:nvPr/>
          </p:nvSpPr>
          <p:spPr>
            <a:xfrm>
              <a:off x="438912" y="5493258"/>
              <a:ext cx="64008" cy="260604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8" name="Arc 9067"/>
            <p:cNvSpPr/>
            <p:nvPr/>
          </p:nvSpPr>
          <p:spPr>
            <a:xfrm>
              <a:off x="3456432" y="4972050"/>
              <a:ext cx="1042416" cy="1042416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9" name="Arc 9068"/>
            <p:cNvSpPr/>
            <p:nvPr/>
          </p:nvSpPr>
          <p:spPr>
            <a:xfrm>
              <a:off x="3456432" y="5232654"/>
              <a:ext cx="1042416" cy="1042416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0" name="Connector 9069"/>
            <p:cNvCxnSpPr/>
            <p:nvPr/>
          </p:nvCxnSpPr>
          <p:spPr>
            <a:xfrm>
              <a:off x="3456432" y="5493258"/>
              <a:ext cx="0" cy="260604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1" name="Oval 9070"/>
            <p:cNvSpPr/>
            <p:nvPr/>
          </p:nvSpPr>
          <p:spPr>
            <a:xfrm>
              <a:off x="3440430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2" name="Oval 9071"/>
            <p:cNvSpPr/>
            <p:nvPr/>
          </p:nvSpPr>
          <p:spPr>
            <a:xfrm>
              <a:off x="309295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Rectangle 9072"/>
            <p:cNvSpPr/>
            <p:nvPr/>
          </p:nvSpPr>
          <p:spPr>
            <a:xfrm>
              <a:off x="3977640" y="5493258"/>
              <a:ext cx="64008" cy="260604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74" name="Rectangle 9073"/>
          <p:cNvSpPr/>
          <p:nvPr/>
        </p:nvSpPr>
        <p:spPr>
          <a:xfrm>
            <a:off x="5120640" y="452628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5" name="TextBox 9074"/>
          <p:cNvSpPr txBox="1"/>
          <p:nvPr/>
        </p:nvSpPr>
        <p:spPr>
          <a:xfrm>
            <a:off x="5193792" y="449884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HALF COURT  (20m × 20m)</a:t>
            </a:r>
          </a:p>
        </p:txBody>
      </p:sp>
      <p:grpSp>
        <p:nvGrpSpPr>
          <p:cNvPr id="9013" name="Library half court"/>
          <p:cNvGrpSpPr/>
          <p:nvPr/>
        </p:nvGrpSpPr>
        <p:grpSpPr>
          <a:xfrm>
            <a:off x="5193792" y="4754880"/>
            <a:ext cx="1801368" cy="1737360"/>
            <a:chOff x="5193792" y="4754880"/>
            <a:chExt cx="1801368" cy="1737360"/>
          </a:xfrm>
        </p:grpSpPr>
        <p:sp>
          <p:nvSpPr>
            <p:cNvPr id="9076" name="Rectangle 9075"/>
            <p:cNvSpPr/>
            <p:nvPr/>
          </p:nvSpPr>
          <p:spPr>
            <a:xfrm>
              <a:off x="5257800" y="4754880"/>
              <a:ext cx="1737360" cy="173736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7" name="Arc 9076"/>
            <p:cNvSpPr/>
            <p:nvPr/>
          </p:nvSpPr>
          <p:spPr>
            <a:xfrm>
              <a:off x="6734556" y="5362956"/>
              <a:ext cx="521208" cy="521208"/>
            </a:xfrm>
            <a:prstGeom prst="arc">
              <a:avLst>
                <a:gd name="adj1" fmla="val 54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697915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Arc 9078"/>
            <p:cNvSpPr/>
            <p:nvPr/>
          </p:nvSpPr>
          <p:spPr>
            <a:xfrm>
              <a:off x="4736592" y="4972050"/>
              <a:ext cx="1042416" cy="1042416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4736592" y="5232654"/>
              <a:ext cx="1042416" cy="1042416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1" name="Connector 9080"/>
            <p:cNvCxnSpPr/>
            <p:nvPr/>
          </p:nvCxnSpPr>
          <p:spPr>
            <a:xfrm>
              <a:off x="5779008" y="5493258"/>
              <a:ext cx="0" cy="260604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2" name="Oval 9081"/>
            <p:cNvSpPr/>
            <p:nvPr/>
          </p:nvSpPr>
          <p:spPr>
            <a:xfrm>
              <a:off x="5763006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3" name="Oval 9082"/>
            <p:cNvSpPr/>
            <p:nvPr/>
          </p:nvSpPr>
          <p:spPr>
            <a:xfrm>
              <a:off x="611047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Rectangle 9083"/>
            <p:cNvSpPr/>
            <p:nvPr/>
          </p:nvSpPr>
          <p:spPr>
            <a:xfrm>
              <a:off x="5193792" y="5493258"/>
              <a:ext cx="64008" cy="260604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85" name="TextBox 9084"/>
          <p:cNvSpPr txBox="1"/>
          <p:nvPr/>
        </p:nvSpPr>
        <p:spPr>
          <a:xfrm>
            <a:off x="7406640" y="4754880"/>
            <a:ext cx="4434840" cy="18288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USAGE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Courts are grouped — one click selects the whole court. Copy and paste into any diagram zone, resize to fit. Ungroup (Ctrl+Shift+G) to edit individual markings.</a:t>
            </a:r>
          </a:p>
          <a:p>
            <a:pPr algn="l"/>
            <a:r>
              <a:rPr sz="3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All shapes are unlocked. Numbers inside markers are editable — double-click to change. To recolour: select shapes → Format Shape → Fill.</a:t>
            </a:r>
          </a:p>
        </p:txBody>
      </p:sp>
      <p:sp>
        <p:nvSpPr>
          <p:cNvPr id="9086" name="TextBox 9085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COMPONENT LIBRARY  —  court-scale tactical symbols  ·  scan zone (180°, 5.5 m) · vision cone (70°, 3 m) · long cone (8 m, standalone) · body puck · rotate to orient · combined group available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