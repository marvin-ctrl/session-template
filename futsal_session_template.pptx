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8288"/>
            <a:ext cx="393192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6B6B6B"/>
                </a:solidFill>
                <a:latin typeface="Calibri"/>
              </a:rPr>
              <a:t>[INSERT TEAM]  ·  FUTSAL SESSION PLAN</a:t>
            </a:r>
          </a:p>
          <a:p>
            <a:pPr algn="l"/>
            <a:r>
              <a:rPr sz="2000" b="1" lang="en-GB">
                <a:solidFill>
                  <a:srgbClr val="1A1A1A"/>
                </a:solidFill>
                <a:latin typeface="Calibri"/>
              </a:rPr>
              <a:t>[Insert session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452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DATE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date]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1848" y="64008"/>
            <a:ext cx="17830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VENUE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venue]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636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DURATION</a:t>
            </a:r>
          </a:p>
          <a:p>
            <a:pPr algn="l"/>
            <a:r>
              <a:rPr sz="950" b="1" lang="en-GB">
                <a:solidFill>
                  <a:srgbClr val="1A1A1A"/>
                </a:solidFill>
                <a:latin typeface="Calibri"/>
              </a:rPr>
              <a:t>[Insert duration]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33688" y="64008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STAFF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staff]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21208"/>
            <a:ext cx="12191695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566928"/>
            <a:ext cx="301752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0057B8"/>
                </a:solidFill>
                <a:latin typeface="Calibri"/>
              </a:rPr>
              <a:t>SESSION THEME / OBJECTIVE</a:t>
            </a:r>
          </a:p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[Insert focus]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66928"/>
            <a:ext cx="315468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COACHING OUTCOMES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key outcomes]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186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0" y="566928"/>
            <a:ext cx="27432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CONSTRAINTS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constraints]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64040" y="566928"/>
            <a:ext cx="2587752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REMINDERS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reminders]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08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62756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1" name="Court 01"/>
          <p:cNvGrpSpPr/>
          <p:nvPr/>
        </p:nvGrpSpPr>
        <p:grpSpPr>
          <a:xfrm>
            <a:off x="182880" y="1769364"/>
            <a:ext cx="3108960" cy="1490472"/>
            <a:chOff x="182880" y="1769364"/>
            <a:chExt cx="3108960" cy="1490472"/>
          </a:xfrm>
        </p:grpSpPr>
        <p:sp>
          <p:nvSpPr>
            <p:cNvPr id="24" name="Rectangle 23"/>
            <p:cNvSpPr/>
            <p:nvPr/>
          </p:nvSpPr>
          <p:spPr>
            <a:xfrm>
              <a:off x="246888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737360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Oval 25"/>
            <p:cNvSpPr/>
            <p:nvPr/>
          </p:nvSpPr>
          <p:spPr>
            <a:xfrm>
              <a:off x="1513789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172135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Arc 27"/>
            <p:cNvSpPr/>
            <p:nvPr/>
          </p:nvSpPr>
          <p:spPr>
            <a:xfrm>
              <a:off x="-200254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Arc 28"/>
            <p:cNvSpPr/>
            <p:nvPr/>
          </p:nvSpPr>
          <p:spPr>
            <a:xfrm>
              <a:off x="-200254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69403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Oval 30"/>
            <p:cNvSpPr/>
            <p:nvPr/>
          </p:nvSpPr>
          <p:spPr>
            <a:xfrm>
              <a:off x="67802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7612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82880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Arc 33"/>
            <p:cNvSpPr/>
            <p:nvPr/>
          </p:nvSpPr>
          <p:spPr>
            <a:xfrm>
              <a:off x="2780690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Arc 34"/>
            <p:cNvSpPr/>
            <p:nvPr/>
          </p:nvSpPr>
          <p:spPr>
            <a:xfrm>
              <a:off x="2780690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278069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276468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2466594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27832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02" name="Connector 9001"/>
          <p:cNvCxnSpPr/>
          <p:nvPr/>
        </p:nvCxnSpPr>
        <p:spPr>
          <a:xfrm>
            <a:off x="3337560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3" name="TextBox 9002"/>
          <p:cNvSpPr txBox="1"/>
          <p:nvPr/>
        </p:nvSpPr>
        <p:spPr>
          <a:xfrm>
            <a:off x="3392424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04" name="Connector 9003"/>
          <p:cNvCxnSpPr/>
          <p:nvPr/>
        </p:nvCxnSpPr>
        <p:spPr>
          <a:xfrm>
            <a:off x="201168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5" name="TextBox 9004"/>
          <p:cNvSpPr txBox="1"/>
          <p:nvPr/>
        </p:nvSpPr>
        <p:spPr>
          <a:xfrm>
            <a:off x="201168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06" name="Rectangle 9005"/>
          <p:cNvSpPr/>
          <p:nvPr/>
        </p:nvSpPr>
        <p:spPr>
          <a:xfrm>
            <a:off x="5015484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Rectangle 9006"/>
          <p:cNvSpPr/>
          <p:nvPr/>
        </p:nvSpPr>
        <p:spPr>
          <a:xfrm>
            <a:off x="5015484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5015484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5079492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417820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7118604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641080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079492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2" name="Court 02"/>
          <p:cNvGrpSpPr/>
          <p:nvPr/>
        </p:nvGrpSpPr>
        <p:grpSpPr>
          <a:xfrm>
            <a:off x="5061204" y="1769364"/>
            <a:ext cx="3108960" cy="1490472"/>
            <a:chOff x="5061204" y="1769364"/>
            <a:chExt cx="3108960" cy="1490472"/>
          </a:xfrm>
        </p:grpSpPr>
        <p:sp>
          <p:nvSpPr>
            <p:cNvPr id="9014" name="Rectangle 9013"/>
            <p:cNvSpPr/>
            <p:nvPr/>
          </p:nvSpPr>
          <p:spPr>
            <a:xfrm>
              <a:off x="5125212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15" name="Connector 9014"/>
            <p:cNvCxnSpPr/>
            <p:nvPr/>
          </p:nvCxnSpPr>
          <p:spPr>
            <a:xfrm>
              <a:off x="6615684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16" name="Oval 9015"/>
            <p:cNvSpPr/>
            <p:nvPr/>
          </p:nvSpPr>
          <p:spPr>
            <a:xfrm>
              <a:off x="6392113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7" name="Oval 9016"/>
            <p:cNvSpPr/>
            <p:nvPr/>
          </p:nvSpPr>
          <p:spPr>
            <a:xfrm>
              <a:off x="659968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8" name="Arc 9017"/>
            <p:cNvSpPr/>
            <p:nvPr/>
          </p:nvSpPr>
          <p:spPr>
            <a:xfrm>
              <a:off x="4678070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9" name="Arc 9018"/>
            <p:cNvSpPr/>
            <p:nvPr/>
          </p:nvSpPr>
          <p:spPr>
            <a:xfrm>
              <a:off x="4678070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0" name="Connector 9019"/>
            <p:cNvCxnSpPr/>
            <p:nvPr/>
          </p:nvCxnSpPr>
          <p:spPr>
            <a:xfrm>
              <a:off x="557235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1" name="Oval 9020"/>
            <p:cNvSpPr/>
            <p:nvPr/>
          </p:nvSpPr>
          <p:spPr>
            <a:xfrm>
              <a:off x="555635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2" name="Oval 9021"/>
            <p:cNvSpPr/>
            <p:nvPr/>
          </p:nvSpPr>
          <p:spPr>
            <a:xfrm>
              <a:off x="5854446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3" name="Rectangle 9022"/>
            <p:cNvSpPr/>
            <p:nvPr/>
          </p:nvSpPr>
          <p:spPr>
            <a:xfrm>
              <a:off x="5061204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4" name="Arc 9023"/>
            <p:cNvSpPr/>
            <p:nvPr/>
          </p:nvSpPr>
          <p:spPr>
            <a:xfrm>
              <a:off x="7659014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5" name="Arc 9024"/>
            <p:cNvSpPr/>
            <p:nvPr/>
          </p:nvSpPr>
          <p:spPr>
            <a:xfrm>
              <a:off x="7659014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6" name="Connector 9025"/>
            <p:cNvCxnSpPr/>
            <p:nvPr/>
          </p:nvCxnSpPr>
          <p:spPr>
            <a:xfrm>
              <a:off x="765901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7" name="Oval 9026"/>
            <p:cNvSpPr/>
            <p:nvPr/>
          </p:nvSpPr>
          <p:spPr>
            <a:xfrm>
              <a:off x="764301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8" name="Oval 9027"/>
            <p:cNvSpPr/>
            <p:nvPr/>
          </p:nvSpPr>
          <p:spPr>
            <a:xfrm>
              <a:off x="734491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9" name="Rectangle 9028"/>
            <p:cNvSpPr/>
            <p:nvPr/>
          </p:nvSpPr>
          <p:spPr>
            <a:xfrm>
              <a:off x="8106156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30" name="Connector 9029"/>
          <p:cNvCxnSpPr/>
          <p:nvPr/>
        </p:nvCxnSpPr>
        <p:spPr>
          <a:xfrm>
            <a:off x="8215884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1" name="TextBox 9030"/>
          <p:cNvSpPr txBox="1"/>
          <p:nvPr/>
        </p:nvSpPr>
        <p:spPr>
          <a:xfrm>
            <a:off x="8270748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32" name="Connector 9031"/>
          <p:cNvCxnSpPr/>
          <p:nvPr/>
        </p:nvCxnSpPr>
        <p:spPr>
          <a:xfrm>
            <a:off x="5079492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3" name="TextBox 9032"/>
          <p:cNvSpPr txBox="1"/>
          <p:nvPr/>
        </p:nvSpPr>
        <p:spPr>
          <a:xfrm>
            <a:off x="5079492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34" name="Rectangle 9033"/>
          <p:cNvSpPr/>
          <p:nvPr/>
        </p:nvSpPr>
        <p:spPr>
          <a:xfrm>
            <a:off x="137160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5" name="Rectangle 9034"/>
          <p:cNvSpPr/>
          <p:nvPr/>
        </p:nvSpPr>
        <p:spPr>
          <a:xfrm>
            <a:off x="137160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6" name="Rectangle 9035"/>
          <p:cNvSpPr/>
          <p:nvPr/>
        </p:nvSpPr>
        <p:spPr>
          <a:xfrm>
            <a:off x="137160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7" name="TextBox 9036"/>
          <p:cNvSpPr txBox="1"/>
          <p:nvPr/>
        </p:nvSpPr>
        <p:spPr>
          <a:xfrm>
            <a:off x="201168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03</a:t>
            </a:r>
          </a:p>
        </p:txBody>
      </p:sp>
      <p:sp>
        <p:nvSpPr>
          <p:cNvPr id="9038" name="TextBox 9037"/>
          <p:cNvSpPr txBox="1"/>
          <p:nvPr/>
        </p:nvSpPr>
        <p:spPr>
          <a:xfrm>
            <a:off x="539496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9039" name="TextBox 9038"/>
          <p:cNvSpPr txBox="1"/>
          <p:nvPr/>
        </p:nvSpPr>
        <p:spPr>
          <a:xfrm>
            <a:off x="2240280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40" name="Rounded Rectangle 9039"/>
          <p:cNvSpPr/>
          <p:nvPr/>
        </p:nvSpPr>
        <p:spPr>
          <a:xfrm>
            <a:off x="3762756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41" name="TextBox 9040"/>
          <p:cNvSpPr txBox="1"/>
          <p:nvPr/>
        </p:nvSpPr>
        <p:spPr>
          <a:xfrm>
            <a:off x="201168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3" name="Court 03"/>
          <p:cNvGrpSpPr/>
          <p:nvPr/>
        </p:nvGrpSpPr>
        <p:grpSpPr>
          <a:xfrm>
            <a:off x="182880" y="4576572"/>
            <a:ext cx="3108960" cy="1490472"/>
            <a:chOff x="182880" y="4576572"/>
            <a:chExt cx="3108960" cy="1490472"/>
          </a:xfrm>
        </p:grpSpPr>
        <p:sp>
          <p:nvSpPr>
            <p:cNvPr id="9042" name="Rectangle 9041"/>
            <p:cNvSpPr/>
            <p:nvPr/>
          </p:nvSpPr>
          <p:spPr>
            <a:xfrm>
              <a:off x="246888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3" name="Connector 9042"/>
            <p:cNvCxnSpPr/>
            <p:nvPr/>
          </p:nvCxnSpPr>
          <p:spPr>
            <a:xfrm>
              <a:off x="1737360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4" name="Oval 9043"/>
            <p:cNvSpPr/>
            <p:nvPr/>
          </p:nvSpPr>
          <p:spPr>
            <a:xfrm>
              <a:off x="1513789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5" name="Oval 9044"/>
            <p:cNvSpPr/>
            <p:nvPr/>
          </p:nvSpPr>
          <p:spPr>
            <a:xfrm>
              <a:off x="172135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6" name="Arc 9045"/>
            <p:cNvSpPr/>
            <p:nvPr/>
          </p:nvSpPr>
          <p:spPr>
            <a:xfrm>
              <a:off x="-200254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7" name="Arc 9046"/>
            <p:cNvSpPr/>
            <p:nvPr/>
          </p:nvSpPr>
          <p:spPr>
            <a:xfrm>
              <a:off x="-200254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8" name="Connector 9047"/>
            <p:cNvCxnSpPr/>
            <p:nvPr/>
          </p:nvCxnSpPr>
          <p:spPr>
            <a:xfrm>
              <a:off x="69403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9" name="Oval 9048"/>
            <p:cNvSpPr/>
            <p:nvPr/>
          </p:nvSpPr>
          <p:spPr>
            <a:xfrm>
              <a:off x="67802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0" name="Oval 9049"/>
            <p:cNvSpPr/>
            <p:nvPr/>
          </p:nvSpPr>
          <p:spPr>
            <a:xfrm>
              <a:off x="97612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1" name="Rectangle 9050"/>
            <p:cNvSpPr/>
            <p:nvPr/>
          </p:nvSpPr>
          <p:spPr>
            <a:xfrm>
              <a:off x="182880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2" name="Arc 9051"/>
            <p:cNvSpPr/>
            <p:nvPr/>
          </p:nvSpPr>
          <p:spPr>
            <a:xfrm>
              <a:off x="2780690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3" name="Arc 9052"/>
            <p:cNvSpPr/>
            <p:nvPr/>
          </p:nvSpPr>
          <p:spPr>
            <a:xfrm>
              <a:off x="2780690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4" name="Connector 9053"/>
            <p:cNvCxnSpPr/>
            <p:nvPr/>
          </p:nvCxnSpPr>
          <p:spPr>
            <a:xfrm>
              <a:off x="278069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5" name="Oval 9054"/>
            <p:cNvSpPr/>
            <p:nvPr/>
          </p:nvSpPr>
          <p:spPr>
            <a:xfrm>
              <a:off x="276468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6" name="Oval 9055"/>
            <p:cNvSpPr/>
            <p:nvPr/>
          </p:nvSpPr>
          <p:spPr>
            <a:xfrm>
              <a:off x="2466594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7" name="Rectangle 9056"/>
            <p:cNvSpPr/>
            <p:nvPr/>
          </p:nvSpPr>
          <p:spPr>
            <a:xfrm>
              <a:off x="3227832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58" name="Connector 9057"/>
          <p:cNvCxnSpPr/>
          <p:nvPr/>
        </p:nvCxnSpPr>
        <p:spPr>
          <a:xfrm>
            <a:off x="3337560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9" name="TextBox 9058"/>
          <p:cNvSpPr txBox="1"/>
          <p:nvPr/>
        </p:nvSpPr>
        <p:spPr>
          <a:xfrm>
            <a:off x="3392424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60" name="Connector 9059"/>
          <p:cNvCxnSpPr/>
          <p:nvPr/>
        </p:nvCxnSpPr>
        <p:spPr>
          <a:xfrm>
            <a:off x="201168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1" name="TextBox 9060"/>
          <p:cNvSpPr txBox="1"/>
          <p:nvPr/>
        </p:nvSpPr>
        <p:spPr>
          <a:xfrm>
            <a:off x="201168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62" name="Rectangle 9061"/>
          <p:cNvSpPr/>
          <p:nvPr/>
        </p:nvSpPr>
        <p:spPr>
          <a:xfrm>
            <a:off x="5015484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3" name="Rectangle 9062"/>
          <p:cNvSpPr/>
          <p:nvPr/>
        </p:nvSpPr>
        <p:spPr>
          <a:xfrm>
            <a:off x="5015484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4" name="Rectangle 9063"/>
          <p:cNvSpPr/>
          <p:nvPr/>
        </p:nvSpPr>
        <p:spPr>
          <a:xfrm>
            <a:off x="5015484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5" name="TextBox 9064"/>
          <p:cNvSpPr txBox="1"/>
          <p:nvPr/>
        </p:nvSpPr>
        <p:spPr>
          <a:xfrm>
            <a:off x="5079492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04</a:t>
            </a:r>
          </a:p>
        </p:txBody>
      </p:sp>
      <p:sp>
        <p:nvSpPr>
          <p:cNvPr id="9066" name="TextBox 9065"/>
          <p:cNvSpPr txBox="1"/>
          <p:nvPr/>
        </p:nvSpPr>
        <p:spPr>
          <a:xfrm>
            <a:off x="5417820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9067" name="TextBox 9066"/>
          <p:cNvSpPr txBox="1"/>
          <p:nvPr/>
        </p:nvSpPr>
        <p:spPr>
          <a:xfrm>
            <a:off x="7118604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68" name="Rounded Rectangle 9067"/>
          <p:cNvSpPr/>
          <p:nvPr/>
        </p:nvSpPr>
        <p:spPr>
          <a:xfrm>
            <a:off x="8641080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5079492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4" name="Court 04"/>
          <p:cNvGrpSpPr/>
          <p:nvPr/>
        </p:nvGrpSpPr>
        <p:grpSpPr>
          <a:xfrm>
            <a:off x="5061204" y="4576572"/>
            <a:ext cx="3108960" cy="1490472"/>
            <a:chOff x="5061204" y="4576572"/>
            <a:chExt cx="3108960" cy="1490472"/>
          </a:xfrm>
        </p:grpSpPr>
        <p:sp>
          <p:nvSpPr>
            <p:cNvPr id="9070" name="Rectangle 9069"/>
            <p:cNvSpPr/>
            <p:nvPr/>
          </p:nvSpPr>
          <p:spPr>
            <a:xfrm>
              <a:off x="5125212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1" name="Connector 9070"/>
            <p:cNvCxnSpPr/>
            <p:nvPr/>
          </p:nvCxnSpPr>
          <p:spPr>
            <a:xfrm>
              <a:off x="6615684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2" name="Oval 9071"/>
            <p:cNvSpPr/>
            <p:nvPr/>
          </p:nvSpPr>
          <p:spPr>
            <a:xfrm>
              <a:off x="6392113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3" name="Oval 9072"/>
            <p:cNvSpPr/>
            <p:nvPr/>
          </p:nvSpPr>
          <p:spPr>
            <a:xfrm>
              <a:off x="659968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4" name="Arc 9073"/>
            <p:cNvSpPr/>
            <p:nvPr/>
          </p:nvSpPr>
          <p:spPr>
            <a:xfrm>
              <a:off x="4678070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5" name="Arc 9074"/>
            <p:cNvSpPr/>
            <p:nvPr/>
          </p:nvSpPr>
          <p:spPr>
            <a:xfrm>
              <a:off x="4678070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6" name="Connector 9075"/>
            <p:cNvCxnSpPr/>
            <p:nvPr/>
          </p:nvCxnSpPr>
          <p:spPr>
            <a:xfrm>
              <a:off x="557235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7" name="Oval 9076"/>
            <p:cNvSpPr/>
            <p:nvPr/>
          </p:nvSpPr>
          <p:spPr>
            <a:xfrm>
              <a:off x="555635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8" name="Oval 9077"/>
            <p:cNvSpPr/>
            <p:nvPr/>
          </p:nvSpPr>
          <p:spPr>
            <a:xfrm>
              <a:off x="5854446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9" name="Rectangle 9078"/>
            <p:cNvSpPr/>
            <p:nvPr/>
          </p:nvSpPr>
          <p:spPr>
            <a:xfrm>
              <a:off x="5061204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0" name="Arc 9079"/>
            <p:cNvSpPr/>
            <p:nvPr/>
          </p:nvSpPr>
          <p:spPr>
            <a:xfrm>
              <a:off x="7659014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1" name="Arc 9080"/>
            <p:cNvSpPr/>
            <p:nvPr/>
          </p:nvSpPr>
          <p:spPr>
            <a:xfrm>
              <a:off x="7659014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2" name="Connector 9081"/>
            <p:cNvCxnSpPr/>
            <p:nvPr/>
          </p:nvCxnSpPr>
          <p:spPr>
            <a:xfrm>
              <a:off x="765901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83" name="Oval 9082"/>
            <p:cNvSpPr/>
            <p:nvPr/>
          </p:nvSpPr>
          <p:spPr>
            <a:xfrm>
              <a:off x="764301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4" name="Oval 9083"/>
            <p:cNvSpPr/>
            <p:nvPr/>
          </p:nvSpPr>
          <p:spPr>
            <a:xfrm>
              <a:off x="734491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5" name="Rectangle 9084"/>
            <p:cNvSpPr/>
            <p:nvPr/>
          </p:nvSpPr>
          <p:spPr>
            <a:xfrm>
              <a:off x="8106156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86" name="Connector 9085"/>
          <p:cNvCxnSpPr/>
          <p:nvPr/>
        </p:nvCxnSpPr>
        <p:spPr>
          <a:xfrm>
            <a:off x="8215884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7" name="TextBox 9086"/>
          <p:cNvSpPr txBox="1"/>
          <p:nvPr/>
        </p:nvSpPr>
        <p:spPr>
          <a:xfrm>
            <a:off x="8270748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88" name="Connector 9087"/>
          <p:cNvCxnSpPr/>
          <p:nvPr/>
        </p:nvCxnSpPr>
        <p:spPr>
          <a:xfrm>
            <a:off x="5079492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9" name="TextBox 9088"/>
          <p:cNvSpPr txBox="1"/>
          <p:nvPr/>
        </p:nvSpPr>
        <p:spPr>
          <a:xfrm>
            <a:off x="5079492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90" name="Rectangle 9089"/>
          <p:cNvSpPr/>
          <p:nvPr/>
        </p:nvSpPr>
        <p:spPr>
          <a:xfrm>
            <a:off x="9902952" y="1170432"/>
            <a:ext cx="2148840" cy="5550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1" name="Rectangle 9090"/>
          <p:cNvSpPr/>
          <p:nvPr/>
        </p:nvSpPr>
        <p:spPr>
          <a:xfrm>
            <a:off x="9902952" y="1170432"/>
            <a:ext cx="2148840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2" name="TextBox 9091"/>
          <p:cNvSpPr txBox="1"/>
          <p:nvPr/>
        </p:nvSpPr>
        <p:spPr>
          <a:xfrm>
            <a:off x="9948672" y="1211580"/>
            <a:ext cx="2057400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FFFFFF"/>
                </a:solidFill>
                <a:latin typeface="Calibri"/>
              </a:rPr>
              <a:t>AVAILABLE PLAYERS / POSITIONS</a:t>
            </a:r>
          </a:p>
        </p:txBody>
      </p:sp>
      <p:sp>
        <p:nvSpPr>
          <p:cNvPr id="9093" name="TextBox 9092"/>
          <p:cNvSpPr txBox="1"/>
          <p:nvPr/>
        </p:nvSpPr>
        <p:spPr>
          <a:xfrm>
            <a:off x="9948672" y="1472184"/>
            <a:ext cx="2057400" cy="2194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TOTAL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GK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OUTFIELD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</a:t>
            </a:r>
          </a:p>
        </p:txBody>
      </p:sp>
      <p:graphicFrame>
        <p:nvGraphicFramePr>
          <p:cNvPr id="9094" name="Table 9093"/>
          <p:cNvGraphicFramePr>
            <a:graphicFrameLocks noGrp="1"/>
          </p:cNvGraphicFramePr>
          <p:nvPr/>
        </p:nvGraphicFramePr>
        <p:xfrm>
          <a:off x="9948672" y="1719072"/>
          <a:ext cx="2057400" cy="3703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5488"/>
                <a:gridCol w="987552"/>
                <a:gridCol w="594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9095" name="Connector 9094"/>
          <p:cNvCxnSpPr/>
          <p:nvPr/>
        </p:nvCxnSpPr>
        <p:spPr>
          <a:xfrm>
            <a:off x="9948672" y="5971032"/>
            <a:ext cx="20574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6" name="TextBox 9095"/>
          <p:cNvSpPr txBox="1"/>
          <p:nvPr/>
        </p:nvSpPr>
        <p:spPr>
          <a:xfrm>
            <a:off x="9948672" y="5998464"/>
            <a:ext cx="2057400" cy="6766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SQUAD NOTES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status notes]</a:t>
            </a:r>
          </a:p>
        </p:txBody>
      </p:sp>
      <p:sp>
        <p:nvSpPr>
          <p:cNvPr id="9097" name="TextBox 9096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MASTER TEMPLATE  —  keep clean  ·  duplicate Slide 2 for each session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8288"/>
            <a:ext cx="393192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6B6B6B"/>
                </a:solidFill>
                <a:latin typeface="Calibri"/>
              </a:rPr>
              <a:t>[INSERT TEAM]  ·  FUTSAL SESSION PLAN</a:t>
            </a:r>
          </a:p>
          <a:p>
            <a:pPr algn="l"/>
            <a:r>
              <a:rPr sz="2000" b="1" lang="en-GB">
                <a:solidFill>
                  <a:srgbClr val="1A1A1A"/>
                </a:solidFill>
                <a:latin typeface="Calibri"/>
              </a:rPr>
              <a:t>[Insert session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452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DATE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date]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1848" y="64008"/>
            <a:ext cx="17830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VENUE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venue]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636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DURATION</a:t>
            </a:r>
          </a:p>
          <a:p>
            <a:pPr algn="l"/>
            <a:r>
              <a:rPr sz="950" b="1" lang="en-GB">
                <a:solidFill>
                  <a:srgbClr val="1A1A1A"/>
                </a:solidFill>
                <a:latin typeface="Calibri"/>
              </a:rPr>
              <a:t>[Insert duration]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33688" y="64008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STAFF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staff]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21208"/>
            <a:ext cx="12191695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566928"/>
            <a:ext cx="301752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0057B8"/>
                </a:solidFill>
                <a:latin typeface="Calibri"/>
              </a:rPr>
              <a:t>SESSION THEME / OBJECTIVE</a:t>
            </a:r>
          </a:p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[Insert focus]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66928"/>
            <a:ext cx="315468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COACHING OUTCOMES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key outcomes]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186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0" y="566928"/>
            <a:ext cx="27432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CONSTRAINTS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constraints]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64040" y="566928"/>
            <a:ext cx="2587752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REMINDERS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reminders]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08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62756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1" name="Court 01"/>
          <p:cNvGrpSpPr/>
          <p:nvPr/>
        </p:nvGrpSpPr>
        <p:grpSpPr>
          <a:xfrm>
            <a:off x="182880" y="1769364"/>
            <a:ext cx="3108960" cy="1490472"/>
            <a:chOff x="182880" y="1769364"/>
            <a:chExt cx="3108960" cy="1490472"/>
          </a:xfrm>
        </p:grpSpPr>
        <p:sp>
          <p:nvSpPr>
            <p:cNvPr id="24" name="Rectangle 23"/>
            <p:cNvSpPr/>
            <p:nvPr/>
          </p:nvSpPr>
          <p:spPr>
            <a:xfrm>
              <a:off x="246888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737360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Oval 25"/>
            <p:cNvSpPr/>
            <p:nvPr/>
          </p:nvSpPr>
          <p:spPr>
            <a:xfrm>
              <a:off x="1513789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172135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Arc 27"/>
            <p:cNvSpPr/>
            <p:nvPr/>
          </p:nvSpPr>
          <p:spPr>
            <a:xfrm>
              <a:off x="-200254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Arc 28"/>
            <p:cNvSpPr/>
            <p:nvPr/>
          </p:nvSpPr>
          <p:spPr>
            <a:xfrm>
              <a:off x="-200254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69403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Oval 30"/>
            <p:cNvSpPr/>
            <p:nvPr/>
          </p:nvSpPr>
          <p:spPr>
            <a:xfrm>
              <a:off x="67802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7612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82880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Arc 33"/>
            <p:cNvSpPr/>
            <p:nvPr/>
          </p:nvSpPr>
          <p:spPr>
            <a:xfrm>
              <a:off x="2780690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Arc 34"/>
            <p:cNvSpPr/>
            <p:nvPr/>
          </p:nvSpPr>
          <p:spPr>
            <a:xfrm>
              <a:off x="2780690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278069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276468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2466594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27832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02" name="Connector 9001"/>
          <p:cNvCxnSpPr/>
          <p:nvPr/>
        </p:nvCxnSpPr>
        <p:spPr>
          <a:xfrm>
            <a:off x="3337560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3" name="TextBox 9002"/>
          <p:cNvSpPr txBox="1"/>
          <p:nvPr/>
        </p:nvSpPr>
        <p:spPr>
          <a:xfrm>
            <a:off x="3392424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04" name="Connector 9003"/>
          <p:cNvCxnSpPr/>
          <p:nvPr/>
        </p:nvCxnSpPr>
        <p:spPr>
          <a:xfrm>
            <a:off x="201168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5" name="TextBox 9004"/>
          <p:cNvSpPr txBox="1"/>
          <p:nvPr/>
        </p:nvSpPr>
        <p:spPr>
          <a:xfrm>
            <a:off x="201168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06" name="Rectangle 9005"/>
          <p:cNvSpPr/>
          <p:nvPr/>
        </p:nvSpPr>
        <p:spPr>
          <a:xfrm>
            <a:off x="5015484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Rectangle 9006"/>
          <p:cNvSpPr/>
          <p:nvPr/>
        </p:nvSpPr>
        <p:spPr>
          <a:xfrm>
            <a:off x="5015484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5015484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5079492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417820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7118604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641080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079492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2" name="Court 02"/>
          <p:cNvGrpSpPr/>
          <p:nvPr/>
        </p:nvGrpSpPr>
        <p:grpSpPr>
          <a:xfrm>
            <a:off x="5061204" y="1769364"/>
            <a:ext cx="3108960" cy="1490472"/>
            <a:chOff x="5061204" y="1769364"/>
            <a:chExt cx="3108960" cy="1490472"/>
          </a:xfrm>
        </p:grpSpPr>
        <p:sp>
          <p:nvSpPr>
            <p:cNvPr id="9014" name="Rectangle 9013"/>
            <p:cNvSpPr/>
            <p:nvPr/>
          </p:nvSpPr>
          <p:spPr>
            <a:xfrm>
              <a:off x="5125212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15" name="Connector 9014"/>
            <p:cNvCxnSpPr/>
            <p:nvPr/>
          </p:nvCxnSpPr>
          <p:spPr>
            <a:xfrm>
              <a:off x="6615684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16" name="Oval 9015"/>
            <p:cNvSpPr/>
            <p:nvPr/>
          </p:nvSpPr>
          <p:spPr>
            <a:xfrm>
              <a:off x="6392113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7" name="Oval 9016"/>
            <p:cNvSpPr/>
            <p:nvPr/>
          </p:nvSpPr>
          <p:spPr>
            <a:xfrm>
              <a:off x="659968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8" name="Arc 9017"/>
            <p:cNvSpPr/>
            <p:nvPr/>
          </p:nvSpPr>
          <p:spPr>
            <a:xfrm>
              <a:off x="4678070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9" name="Arc 9018"/>
            <p:cNvSpPr/>
            <p:nvPr/>
          </p:nvSpPr>
          <p:spPr>
            <a:xfrm>
              <a:off x="4678070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0" name="Connector 9019"/>
            <p:cNvCxnSpPr/>
            <p:nvPr/>
          </p:nvCxnSpPr>
          <p:spPr>
            <a:xfrm>
              <a:off x="557235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1" name="Oval 9020"/>
            <p:cNvSpPr/>
            <p:nvPr/>
          </p:nvSpPr>
          <p:spPr>
            <a:xfrm>
              <a:off x="555635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2" name="Oval 9021"/>
            <p:cNvSpPr/>
            <p:nvPr/>
          </p:nvSpPr>
          <p:spPr>
            <a:xfrm>
              <a:off x="5854446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3" name="Rectangle 9022"/>
            <p:cNvSpPr/>
            <p:nvPr/>
          </p:nvSpPr>
          <p:spPr>
            <a:xfrm>
              <a:off x="5061204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4" name="Arc 9023"/>
            <p:cNvSpPr/>
            <p:nvPr/>
          </p:nvSpPr>
          <p:spPr>
            <a:xfrm>
              <a:off x="7659014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5" name="Arc 9024"/>
            <p:cNvSpPr/>
            <p:nvPr/>
          </p:nvSpPr>
          <p:spPr>
            <a:xfrm>
              <a:off x="7659014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6" name="Connector 9025"/>
            <p:cNvCxnSpPr/>
            <p:nvPr/>
          </p:nvCxnSpPr>
          <p:spPr>
            <a:xfrm>
              <a:off x="765901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7" name="Oval 9026"/>
            <p:cNvSpPr/>
            <p:nvPr/>
          </p:nvSpPr>
          <p:spPr>
            <a:xfrm>
              <a:off x="764301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8" name="Oval 9027"/>
            <p:cNvSpPr/>
            <p:nvPr/>
          </p:nvSpPr>
          <p:spPr>
            <a:xfrm>
              <a:off x="734491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9" name="Rectangle 9028"/>
            <p:cNvSpPr/>
            <p:nvPr/>
          </p:nvSpPr>
          <p:spPr>
            <a:xfrm>
              <a:off x="8106156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30" name="Connector 9029"/>
          <p:cNvCxnSpPr/>
          <p:nvPr/>
        </p:nvCxnSpPr>
        <p:spPr>
          <a:xfrm>
            <a:off x="8215884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1" name="TextBox 9030"/>
          <p:cNvSpPr txBox="1"/>
          <p:nvPr/>
        </p:nvSpPr>
        <p:spPr>
          <a:xfrm>
            <a:off x="8270748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32" name="Connector 9031"/>
          <p:cNvCxnSpPr/>
          <p:nvPr/>
        </p:nvCxnSpPr>
        <p:spPr>
          <a:xfrm>
            <a:off x="5079492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3" name="TextBox 9032"/>
          <p:cNvSpPr txBox="1"/>
          <p:nvPr/>
        </p:nvSpPr>
        <p:spPr>
          <a:xfrm>
            <a:off x="5079492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34" name="Rectangle 9033"/>
          <p:cNvSpPr/>
          <p:nvPr/>
        </p:nvSpPr>
        <p:spPr>
          <a:xfrm>
            <a:off x="137160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5" name="Rectangle 9034"/>
          <p:cNvSpPr/>
          <p:nvPr/>
        </p:nvSpPr>
        <p:spPr>
          <a:xfrm>
            <a:off x="137160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6" name="Rectangle 9035"/>
          <p:cNvSpPr/>
          <p:nvPr/>
        </p:nvSpPr>
        <p:spPr>
          <a:xfrm>
            <a:off x="137160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7" name="TextBox 9036"/>
          <p:cNvSpPr txBox="1"/>
          <p:nvPr/>
        </p:nvSpPr>
        <p:spPr>
          <a:xfrm>
            <a:off x="201168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03</a:t>
            </a:r>
          </a:p>
        </p:txBody>
      </p:sp>
      <p:sp>
        <p:nvSpPr>
          <p:cNvPr id="9038" name="TextBox 9037"/>
          <p:cNvSpPr txBox="1"/>
          <p:nvPr/>
        </p:nvSpPr>
        <p:spPr>
          <a:xfrm>
            <a:off x="539496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9039" name="TextBox 9038"/>
          <p:cNvSpPr txBox="1"/>
          <p:nvPr/>
        </p:nvSpPr>
        <p:spPr>
          <a:xfrm>
            <a:off x="2240280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40" name="Rounded Rectangle 9039"/>
          <p:cNvSpPr/>
          <p:nvPr/>
        </p:nvSpPr>
        <p:spPr>
          <a:xfrm>
            <a:off x="3762756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41" name="TextBox 9040"/>
          <p:cNvSpPr txBox="1"/>
          <p:nvPr/>
        </p:nvSpPr>
        <p:spPr>
          <a:xfrm>
            <a:off x="201168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3" name="Court 03"/>
          <p:cNvGrpSpPr/>
          <p:nvPr/>
        </p:nvGrpSpPr>
        <p:grpSpPr>
          <a:xfrm>
            <a:off x="182880" y="4576572"/>
            <a:ext cx="3108960" cy="1490472"/>
            <a:chOff x="182880" y="4576572"/>
            <a:chExt cx="3108960" cy="1490472"/>
          </a:xfrm>
        </p:grpSpPr>
        <p:sp>
          <p:nvSpPr>
            <p:cNvPr id="9042" name="Rectangle 9041"/>
            <p:cNvSpPr/>
            <p:nvPr/>
          </p:nvSpPr>
          <p:spPr>
            <a:xfrm>
              <a:off x="246888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3" name="Connector 9042"/>
            <p:cNvCxnSpPr/>
            <p:nvPr/>
          </p:nvCxnSpPr>
          <p:spPr>
            <a:xfrm>
              <a:off x="1737360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4" name="Oval 9043"/>
            <p:cNvSpPr/>
            <p:nvPr/>
          </p:nvSpPr>
          <p:spPr>
            <a:xfrm>
              <a:off x="1513789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5" name="Oval 9044"/>
            <p:cNvSpPr/>
            <p:nvPr/>
          </p:nvSpPr>
          <p:spPr>
            <a:xfrm>
              <a:off x="172135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6" name="Arc 9045"/>
            <p:cNvSpPr/>
            <p:nvPr/>
          </p:nvSpPr>
          <p:spPr>
            <a:xfrm>
              <a:off x="-200254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7" name="Arc 9046"/>
            <p:cNvSpPr/>
            <p:nvPr/>
          </p:nvSpPr>
          <p:spPr>
            <a:xfrm>
              <a:off x="-200254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8" name="Connector 9047"/>
            <p:cNvCxnSpPr/>
            <p:nvPr/>
          </p:nvCxnSpPr>
          <p:spPr>
            <a:xfrm>
              <a:off x="69403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9" name="Oval 9048"/>
            <p:cNvSpPr/>
            <p:nvPr/>
          </p:nvSpPr>
          <p:spPr>
            <a:xfrm>
              <a:off x="67802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0" name="Oval 9049"/>
            <p:cNvSpPr/>
            <p:nvPr/>
          </p:nvSpPr>
          <p:spPr>
            <a:xfrm>
              <a:off x="97612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1" name="Rectangle 9050"/>
            <p:cNvSpPr/>
            <p:nvPr/>
          </p:nvSpPr>
          <p:spPr>
            <a:xfrm>
              <a:off x="182880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2" name="Arc 9051"/>
            <p:cNvSpPr/>
            <p:nvPr/>
          </p:nvSpPr>
          <p:spPr>
            <a:xfrm>
              <a:off x="2780690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3" name="Arc 9052"/>
            <p:cNvSpPr/>
            <p:nvPr/>
          </p:nvSpPr>
          <p:spPr>
            <a:xfrm>
              <a:off x="2780690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4" name="Connector 9053"/>
            <p:cNvCxnSpPr/>
            <p:nvPr/>
          </p:nvCxnSpPr>
          <p:spPr>
            <a:xfrm>
              <a:off x="278069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5" name="Oval 9054"/>
            <p:cNvSpPr/>
            <p:nvPr/>
          </p:nvSpPr>
          <p:spPr>
            <a:xfrm>
              <a:off x="276468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6" name="Oval 9055"/>
            <p:cNvSpPr/>
            <p:nvPr/>
          </p:nvSpPr>
          <p:spPr>
            <a:xfrm>
              <a:off x="2466594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7" name="Rectangle 9056"/>
            <p:cNvSpPr/>
            <p:nvPr/>
          </p:nvSpPr>
          <p:spPr>
            <a:xfrm>
              <a:off x="3227832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58" name="Connector 9057"/>
          <p:cNvCxnSpPr/>
          <p:nvPr/>
        </p:nvCxnSpPr>
        <p:spPr>
          <a:xfrm>
            <a:off x="3337560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9" name="TextBox 9058"/>
          <p:cNvSpPr txBox="1"/>
          <p:nvPr/>
        </p:nvSpPr>
        <p:spPr>
          <a:xfrm>
            <a:off x="3392424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60" name="Connector 9059"/>
          <p:cNvCxnSpPr/>
          <p:nvPr/>
        </p:nvCxnSpPr>
        <p:spPr>
          <a:xfrm>
            <a:off x="201168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1" name="TextBox 9060"/>
          <p:cNvSpPr txBox="1"/>
          <p:nvPr/>
        </p:nvSpPr>
        <p:spPr>
          <a:xfrm>
            <a:off x="201168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62" name="Rectangle 9061"/>
          <p:cNvSpPr/>
          <p:nvPr/>
        </p:nvSpPr>
        <p:spPr>
          <a:xfrm>
            <a:off x="5015484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3" name="Rectangle 9062"/>
          <p:cNvSpPr/>
          <p:nvPr/>
        </p:nvSpPr>
        <p:spPr>
          <a:xfrm>
            <a:off x="5015484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4" name="Rectangle 9063"/>
          <p:cNvSpPr/>
          <p:nvPr/>
        </p:nvSpPr>
        <p:spPr>
          <a:xfrm>
            <a:off x="5015484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5" name="TextBox 9064"/>
          <p:cNvSpPr txBox="1"/>
          <p:nvPr/>
        </p:nvSpPr>
        <p:spPr>
          <a:xfrm>
            <a:off x="5079492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04</a:t>
            </a:r>
          </a:p>
        </p:txBody>
      </p:sp>
      <p:sp>
        <p:nvSpPr>
          <p:cNvPr id="9066" name="TextBox 9065"/>
          <p:cNvSpPr txBox="1"/>
          <p:nvPr/>
        </p:nvSpPr>
        <p:spPr>
          <a:xfrm>
            <a:off x="5417820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9067" name="TextBox 9066"/>
          <p:cNvSpPr txBox="1"/>
          <p:nvPr/>
        </p:nvSpPr>
        <p:spPr>
          <a:xfrm>
            <a:off x="7118604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68" name="Rounded Rectangle 9067"/>
          <p:cNvSpPr/>
          <p:nvPr/>
        </p:nvSpPr>
        <p:spPr>
          <a:xfrm>
            <a:off x="8641080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5079492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4" name="Court 04"/>
          <p:cNvGrpSpPr/>
          <p:nvPr/>
        </p:nvGrpSpPr>
        <p:grpSpPr>
          <a:xfrm>
            <a:off x="5061204" y="4576572"/>
            <a:ext cx="3108960" cy="1490472"/>
            <a:chOff x="5061204" y="4576572"/>
            <a:chExt cx="3108960" cy="1490472"/>
          </a:xfrm>
        </p:grpSpPr>
        <p:sp>
          <p:nvSpPr>
            <p:cNvPr id="9070" name="Rectangle 9069"/>
            <p:cNvSpPr/>
            <p:nvPr/>
          </p:nvSpPr>
          <p:spPr>
            <a:xfrm>
              <a:off x="5125212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1" name="Connector 9070"/>
            <p:cNvCxnSpPr/>
            <p:nvPr/>
          </p:nvCxnSpPr>
          <p:spPr>
            <a:xfrm>
              <a:off x="6615684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2" name="Oval 9071"/>
            <p:cNvSpPr/>
            <p:nvPr/>
          </p:nvSpPr>
          <p:spPr>
            <a:xfrm>
              <a:off x="6392113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3" name="Oval 9072"/>
            <p:cNvSpPr/>
            <p:nvPr/>
          </p:nvSpPr>
          <p:spPr>
            <a:xfrm>
              <a:off x="659968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4" name="Arc 9073"/>
            <p:cNvSpPr/>
            <p:nvPr/>
          </p:nvSpPr>
          <p:spPr>
            <a:xfrm>
              <a:off x="4678070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5" name="Arc 9074"/>
            <p:cNvSpPr/>
            <p:nvPr/>
          </p:nvSpPr>
          <p:spPr>
            <a:xfrm>
              <a:off x="4678070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6" name="Connector 9075"/>
            <p:cNvCxnSpPr/>
            <p:nvPr/>
          </p:nvCxnSpPr>
          <p:spPr>
            <a:xfrm>
              <a:off x="557235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7" name="Oval 9076"/>
            <p:cNvSpPr/>
            <p:nvPr/>
          </p:nvSpPr>
          <p:spPr>
            <a:xfrm>
              <a:off x="555635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8" name="Oval 9077"/>
            <p:cNvSpPr/>
            <p:nvPr/>
          </p:nvSpPr>
          <p:spPr>
            <a:xfrm>
              <a:off x="5854446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9" name="Rectangle 9078"/>
            <p:cNvSpPr/>
            <p:nvPr/>
          </p:nvSpPr>
          <p:spPr>
            <a:xfrm>
              <a:off x="5061204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0" name="Arc 9079"/>
            <p:cNvSpPr/>
            <p:nvPr/>
          </p:nvSpPr>
          <p:spPr>
            <a:xfrm>
              <a:off x="7659014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1" name="Arc 9080"/>
            <p:cNvSpPr/>
            <p:nvPr/>
          </p:nvSpPr>
          <p:spPr>
            <a:xfrm>
              <a:off x="7659014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2" name="Connector 9081"/>
            <p:cNvCxnSpPr/>
            <p:nvPr/>
          </p:nvCxnSpPr>
          <p:spPr>
            <a:xfrm>
              <a:off x="765901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83" name="Oval 9082"/>
            <p:cNvSpPr/>
            <p:nvPr/>
          </p:nvSpPr>
          <p:spPr>
            <a:xfrm>
              <a:off x="764301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4" name="Oval 9083"/>
            <p:cNvSpPr/>
            <p:nvPr/>
          </p:nvSpPr>
          <p:spPr>
            <a:xfrm>
              <a:off x="734491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5" name="Rectangle 9084"/>
            <p:cNvSpPr/>
            <p:nvPr/>
          </p:nvSpPr>
          <p:spPr>
            <a:xfrm>
              <a:off x="8106156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86" name="Connector 9085"/>
          <p:cNvCxnSpPr/>
          <p:nvPr/>
        </p:nvCxnSpPr>
        <p:spPr>
          <a:xfrm>
            <a:off x="8215884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7" name="TextBox 9086"/>
          <p:cNvSpPr txBox="1"/>
          <p:nvPr/>
        </p:nvSpPr>
        <p:spPr>
          <a:xfrm>
            <a:off x="8270748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88" name="Connector 9087"/>
          <p:cNvCxnSpPr/>
          <p:nvPr/>
        </p:nvCxnSpPr>
        <p:spPr>
          <a:xfrm>
            <a:off x="5079492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9" name="TextBox 9088"/>
          <p:cNvSpPr txBox="1"/>
          <p:nvPr/>
        </p:nvSpPr>
        <p:spPr>
          <a:xfrm>
            <a:off x="5079492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90" name="Rectangle 9089"/>
          <p:cNvSpPr/>
          <p:nvPr/>
        </p:nvSpPr>
        <p:spPr>
          <a:xfrm>
            <a:off x="9902952" y="1170432"/>
            <a:ext cx="2148840" cy="5550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1" name="Rectangle 9090"/>
          <p:cNvSpPr/>
          <p:nvPr/>
        </p:nvSpPr>
        <p:spPr>
          <a:xfrm>
            <a:off x="9902952" y="1170432"/>
            <a:ext cx="2148840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2" name="TextBox 9091"/>
          <p:cNvSpPr txBox="1"/>
          <p:nvPr/>
        </p:nvSpPr>
        <p:spPr>
          <a:xfrm>
            <a:off x="9948672" y="1211580"/>
            <a:ext cx="2057400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FFFFFF"/>
                </a:solidFill>
                <a:latin typeface="Calibri"/>
              </a:rPr>
              <a:t>AVAILABLE PLAYERS / POSITIONS</a:t>
            </a:r>
          </a:p>
        </p:txBody>
      </p:sp>
      <p:sp>
        <p:nvSpPr>
          <p:cNvPr id="9093" name="TextBox 9092"/>
          <p:cNvSpPr txBox="1"/>
          <p:nvPr/>
        </p:nvSpPr>
        <p:spPr>
          <a:xfrm>
            <a:off x="9948672" y="1472184"/>
            <a:ext cx="2057400" cy="2194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TOTAL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GK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OUTFIELD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</a:t>
            </a:r>
          </a:p>
        </p:txBody>
      </p:sp>
      <p:graphicFrame>
        <p:nvGraphicFramePr>
          <p:cNvPr id="9094" name="Table 9093"/>
          <p:cNvGraphicFramePr>
            <a:graphicFrameLocks noGrp="1"/>
          </p:cNvGraphicFramePr>
          <p:nvPr/>
        </p:nvGraphicFramePr>
        <p:xfrm>
          <a:off x="9948672" y="1719072"/>
          <a:ext cx="2057400" cy="3703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5488"/>
                <a:gridCol w="987552"/>
                <a:gridCol w="594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9095" name="Connector 9094"/>
          <p:cNvCxnSpPr/>
          <p:nvPr/>
        </p:nvCxnSpPr>
        <p:spPr>
          <a:xfrm>
            <a:off x="9948672" y="5971032"/>
            <a:ext cx="20574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6" name="TextBox 9095"/>
          <p:cNvSpPr txBox="1"/>
          <p:nvPr/>
        </p:nvSpPr>
        <p:spPr>
          <a:xfrm>
            <a:off x="9948672" y="5998464"/>
            <a:ext cx="2057400" cy="6766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SQUAD NOTES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status notes]</a:t>
            </a:r>
          </a:p>
        </p:txBody>
      </p:sp>
      <p:sp>
        <p:nvSpPr>
          <p:cNvPr id="9097" name="TextBox 9096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WORKING COPY  —  ready to edit  ·  duplicate weekly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8288"/>
            <a:ext cx="393192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6B6B6B"/>
                </a:solidFill>
                <a:latin typeface="Calibri"/>
              </a:rPr>
              <a:t>[INSERT TEAM]  ·  FUTSAL SESSION PLAN</a:t>
            </a:r>
          </a:p>
          <a:p>
            <a:pPr algn="l"/>
            <a:r>
              <a:rPr sz="2000" b="1" lang="en-GB">
                <a:solidFill>
                  <a:srgbClr val="1A1A1A"/>
                </a:solidFill>
                <a:latin typeface="Calibri"/>
              </a:rPr>
              <a:t>[Insert session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452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DATE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date]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1848" y="64008"/>
            <a:ext cx="17830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VENUE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venue]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636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DURATION</a:t>
            </a:r>
          </a:p>
          <a:p>
            <a:pPr algn="l"/>
            <a:r>
              <a:rPr sz="950" b="1" lang="en-GB">
                <a:solidFill>
                  <a:srgbClr val="1A1A1A"/>
                </a:solidFill>
                <a:latin typeface="Calibri"/>
              </a:rPr>
              <a:t>[Insert duration]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33688" y="64008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STAFF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staff]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21208"/>
            <a:ext cx="12191695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566928"/>
            <a:ext cx="301752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0057B8"/>
                </a:solidFill>
                <a:latin typeface="Calibri"/>
              </a:rPr>
              <a:t>SESSION THEME / OBJECTIVE</a:t>
            </a:r>
          </a:p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[Insert focus]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66928"/>
            <a:ext cx="315468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COACHING OUTCOMES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key outcomes]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186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0" y="566928"/>
            <a:ext cx="27432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CONSTRAINTS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constraints]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64040" y="566928"/>
            <a:ext cx="2587752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REMINDERS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reminders]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08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62756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1" name="Court 01"/>
          <p:cNvGrpSpPr/>
          <p:nvPr/>
        </p:nvGrpSpPr>
        <p:grpSpPr>
          <a:xfrm>
            <a:off x="182880" y="1769364"/>
            <a:ext cx="3108960" cy="1490472"/>
            <a:chOff x="182880" y="1769364"/>
            <a:chExt cx="3108960" cy="1490472"/>
          </a:xfrm>
        </p:grpSpPr>
        <p:sp>
          <p:nvSpPr>
            <p:cNvPr id="24" name="Rectangle 23"/>
            <p:cNvSpPr/>
            <p:nvPr/>
          </p:nvSpPr>
          <p:spPr>
            <a:xfrm>
              <a:off x="246888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737360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Oval 25"/>
            <p:cNvSpPr/>
            <p:nvPr/>
          </p:nvSpPr>
          <p:spPr>
            <a:xfrm>
              <a:off x="1513789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172135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Arc 27"/>
            <p:cNvSpPr/>
            <p:nvPr/>
          </p:nvSpPr>
          <p:spPr>
            <a:xfrm>
              <a:off x="-200254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Arc 28"/>
            <p:cNvSpPr/>
            <p:nvPr/>
          </p:nvSpPr>
          <p:spPr>
            <a:xfrm>
              <a:off x="-200254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69403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Oval 30"/>
            <p:cNvSpPr/>
            <p:nvPr/>
          </p:nvSpPr>
          <p:spPr>
            <a:xfrm>
              <a:off x="67802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7612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82880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Arc 33"/>
            <p:cNvSpPr/>
            <p:nvPr/>
          </p:nvSpPr>
          <p:spPr>
            <a:xfrm>
              <a:off x="2780690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Arc 34"/>
            <p:cNvSpPr/>
            <p:nvPr/>
          </p:nvSpPr>
          <p:spPr>
            <a:xfrm>
              <a:off x="2780690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278069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276468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2466594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27832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02" name="Connector 9001"/>
          <p:cNvCxnSpPr/>
          <p:nvPr/>
        </p:nvCxnSpPr>
        <p:spPr>
          <a:xfrm>
            <a:off x="3337560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3" name="TextBox 9002"/>
          <p:cNvSpPr txBox="1"/>
          <p:nvPr/>
        </p:nvSpPr>
        <p:spPr>
          <a:xfrm>
            <a:off x="3392424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04" name="Connector 9003"/>
          <p:cNvCxnSpPr/>
          <p:nvPr/>
        </p:nvCxnSpPr>
        <p:spPr>
          <a:xfrm>
            <a:off x="201168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5" name="TextBox 9004"/>
          <p:cNvSpPr txBox="1"/>
          <p:nvPr/>
        </p:nvSpPr>
        <p:spPr>
          <a:xfrm>
            <a:off x="201168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06" name="Rectangle 9005"/>
          <p:cNvSpPr/>
          <p:nvPr/>
        </p:nvSpPr>
        <p:spPr>
          <a:xfrm>
            <a:off x="5015484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Rectangle 9006"/>
          <p:cNvSpPr/>
          <p:nvPr/>
        </p:nvSpPr>
        <p:spPr>
          <a:xfrm>
            <a:off x="5015484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5015484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5079492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417820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7118604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641080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079492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2" name="Court 02"/>
          <p:cNvGrpSpPr/>
          <p:nvPr/>
        </p:nvGrpSpPr>
        <p:grpSpPr>
          <a:xfrm>
            <a:off x="5061204" y="1769364"/>
            <a:ext cx="3108960" cy="1490472"/>
            <a:chOff x="5061204" y="1769364"/>
            <a:chExt cx="3108960" cy="1490472"/>
          </a:xfrm>
        </p:grpSpPr>
        <p:sp>
          <p:nvSpPr>
            <p:cNvPr id="9014" name="Rectangle 9013"/>
            <p:cNvSpPr/>
            <p:nvPr/>
          </p:nvSpPr>
          <p:spPr>
            <a:xfrm>
              <a:off x="5125212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15" name="Connector 9014"/>
            <p:cNvCxnSpPr/>
            <p:nvPr/>
          </p:nvCxnSpPr>
          <p:spPr>
            <a:xfrm>
              <a:off x="6615684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16" name="Oval 9015"/>
            <p:cNvSpPr/>
            <p:nvPr/>
          </p:nvSpPr>
          <p:spPr>
            <a:xfrm>
              <a:off x="6392113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7" name="Oval 9016"/>
            <p:cNvSpPr/>
            <p:nvPr/>
          </p:nvSpPr>
          <p:spPr>
            <a:xfrm>
              <a:off x="659968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8" name="Arc 9017"/>
            <p:cNvSpPr/>
            <p:nvPr/>
          </p:nvSpPr>
          <p:spPr>
            <a:xfrm>
              <a:off x="4678070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9" name="Arc 9018"/>
            <p:cNvSpPr/>
            <p:nvPr/>
          </p:nvSpPr>
          <p:spPr>
            <a:xfrm>
              <a:off x="4678070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0" name="Connector 9019"/>
            <p:cNvCxnSpPr/>
            <p:nvPr/>
          </p:nvCxnSpPr>
          <p:spPr>
            <a:xfrm>
              <a:off x="557235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1" name="Oval 9020"/>
            <p:cNvSpPr/>
            <p:nvPr/>
          </p:nvSpPr>
          <p:spPr>
            <a:xfrm>
              <a:off x="555635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2" name="Oval 9021"/>
            <p:cNvSpPr/>
            <p:nvPr/>
          </p:nvSpPr>
          <p:spPr>
            <a:xfrm>
              <a:off x="5854446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3" name="Rectangle 9022"/>
            <p:cNvSpPr/>
            <p:nvPr/>
          </p:nvSpPr>
          <p:spPr>
            <a:xfrm>
              <a:off x="5061204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4" name="Arc 9023"/>
            <p:cNvSpPr/>
            <p:nvPr/>
          </p:nvSpPr>
          <p:spPr>
            <a:xfrm>
              <a:off x="7659014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5" name="Arc 9024"/>
            <p:cNvSpPr/>
            <p:nvPr/>
          </p:nvSpPr>
          <p:spPr>
            <a:xfrm>
              <a:off x="7659014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6" name="Connector 9025"/>
            <p:cNvCxnSpPr/>
            <p:nvPr/>
          </p:nvCxnSpPr>
          <p:spPr>
            <a:xfrm>
              <a:off x="765901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7" name="Oval 9026"/>
            <p:cNvSpPr/>
            <p:nvPr/>
          </p:nvSpPr>
          <p:spPr>
            <a:xfrm>
              <a:off x="764301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8" name="Oval 9027"/>
            <p:cNvSpPr/>
            <p:nvPr/>
          </p:nvSpPr>
          <p:spPr>
            <a:xfrm>
              <a:off x="734491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9" name="Rectangle 9028"/>
            <p:cNvSpPr/>
            <p:nvPr/>
          </p:nvSpPr>
          <p:spPr>
            <a:xfrm>
              <a:off x="8106156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30" name="Connector 9029"/>
          <p:cNvCxnSpPr/>
          <p:nvPr/>
        </p:nvCxnSpPr>
        <p:spPr>
          <a:xfrm>
            <a:off x="8215884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1" name="TextBox 9030"/>
          <p:cNvSpPr txBox="1"/>
          <p:nvPr/>
        </p:nvSpPr>
        <p:spPr>
          <a:xfrm>
            <a:off x="8270748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32" name="Connector 9031"/>
          <p:cNvCxnSpPr/>
          <p:nvPr/>
        </p:nvCxnSpPr>
        <p:spPr>
          <a:xfrm>
            <a:off x="5079492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3" name="TextBox 9032"/>
          <p:cNvSpPr txBox="1"/>
          <p:nvPr/>
        </p:nvSpPr>
        <p:spPr>
          <a:xfrm>
            <a:off x="5079492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34" name="Rectangle 9033"/>
          <p:cNvSpPr/>
          <p:nvPr/>
        </p:nvSpPr>
        <p:spPr>
          <a:xfrm>
            <a:off x="137160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5" name="Rectangle 9034"/>
          <p:cNvSpPr/>
          <p:nvPr/>
        </p:nvSpPr>
        <p:spPr>
          <a:xfrm>
            <a:off x="137160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6" name="Rectangle 9035"/>
          <p:cNvSpPr/>
          <p:nvPr/>
        </p:nvSpPr>
        <p:spPr>
          <a:xfrm>
            <a:off x="137160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7" name="TextBox 9036"/>
          <p:cNvSpPr txBox="1"/>
          <p:nvPr/>
        </p:nvSpPr>
        <p:spPr>
          <a:xfrm>
            <a:off x="201168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03</a:t>
            </a:r>
          </a:p>
        </p:txBody>
      </p:sp>
      <p:sp>
        <p:nvSpPr>
          <p:cNvPr id="9038" name="TextBox 9037"/>
          <p:cNvSpPr txBox="1"/>
          <p:nvPr/>
        </p:nvSpPr>
        <p:spPr>
          <a:xfrm>
            <a:off x="539496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9039" name="TextBox 9038"/>
          <p:cNvSpPr txBox="1"/>
          <p:nvPr/>
        </p:nvSpPr>
        <p:spPr>
          <a:xfrm>
            <a:off x="2240280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40" name="Rounded Rectangle 9039"/>
          <p:cNvSpPr/>
          <p:nvPr/>
        </p:nvSpPr>
        <p:spPr>
          <a:xfrm>
            <a:off x="3762756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41" name="TextBox 9040"/>
          <p:cNvSpPr txBox="1"/>
          <p:nvPr/>
        </p:nvSpPr>
        <p:spPr>
          <a:xfrm>
            <a:off x="201168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3" name="Court 03"/>
          <p:cNvGrpSpPr/>
          <p:nvPr/>
        </p:nvGrpSpPr>
        <p:grpSpPr>
          <a:xfrm>
            <a:off x="182880" y="4576572"/>
            <a:ext cx="3108960" cy="1490472"/>
            <a:chOff x="182880" y="4576572"/>
            <a:chExt cx="3108960" cy="1490472"/>
          </a:xfrm>
        </p:grpSpPr>
        <p:sp>
          <p:nvSpPr>
            <p:cNvPr id="9042" name="Rectangle 9041"/>
            <p:cNvSpPr/>
            <p:nvPr/>
          </p:nvSpPr>
          <p:spPr>
            <a:xfrm>
              <a:off x="246888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3" name="Connector 9042"/>
            <p:cNvCxnSpPr/>
            <p:nvPr/>
          </p:nvCxnSpPr>
          <p:spPr>
            <a:xfrm>
              <a:off x="1737360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4" name="Oval 9043"/>
            <p:cNvSpPr/>
            <p:nvPr/>
          </p:nvSpPr>
          <p:spPr>
            <a:xfrm>
              <a:off x="1513789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5" name="Oval 9044"/>
            <p:cNvSpPr/>
            <p:nvPr/>
          </p:nvSpPr>
          <p:spPr>
            <a:xfrm>
              <a:off x="172135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6" name="Arc 9045"/>
            <p:cNvSpPr/>
            <p:nvPr/>
          </p:nvSpPr>
          <p:spPr>
            <a:xfrm>
              <a:off x="-200254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7" name="Arc 9046"/>
            <p:cNvSpPr/>
            <p:nvPr/>
          </p:nvSpPr>
          <p:spPr>
            <a:xfrm>
              <a:off x="-200254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8" name="Connector 9047"/>
            <p:cNvCxnSpPr/>
            <p:nvPr/>
          </p:nvCxnSpPr>
          <p:spPr>
            <a:xfrm>
              <a:off x="69403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9" name="Oval 9048"/>
            <p:cNvSpPr/>
            <p:nvPr/>
          </p:nvSpPr>
          <p:spPr>
            <a:xfrm>
              <a:off x="67802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0" name="Oval 9049"/>
            <p:cNvSpPr/>
            <p:nvPr/>
          </p:nvSpPr>
          <p:spPr>
            <a:xfrm>
              <a:off x="97612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1" name="Rectangle 9050"/>
            <p:cNvSpPr/>
            <p:nvPr/>
          </p:nvSpPr>
          <p:spPr>
            <a:xfrm>
              <a:off x="182880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2" name="Arc 9051"/>
            <p:cNvSpPr/>
            <p:nvPr/>
          </p:nvSpPr>
          <p:spPr>
            <a:xfrm>
              <a:off x="2780690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3" name="Arc 9052"/>
            <p:cNvSpPr/>
            <p:nvPr/>
          </p:nvSpPr>
          <p:spPr>
            <a:xfrm>
              <a:off x="2780690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4" name="Connector 9053"/>
            <p:cNvCxnSpPr/>
            <p:nvPr/>
          </p:nvCxnSpPr>
          <p:spPr>
            <a:xfrm>
              <a:off x="278069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5" name="Oval 9054"/>
            <p:cNvSpPr/>
            <p:nvPr/>
          </p:nvSpPr>
          <p:spPr>
            <a:xfrm>
              <a:off x="276468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6" name="Oval 9055"/>
            <p:cNvSpPr/>
            <p:nvPr/>
          </p:nvSpPr>
          <p:spPr>
            <a:xfrm>
              <a:off x="2466594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7" name="Rectangle 9056"/>
            <p:cNvSpPr/>
            <p:nvPr/>
          </p:nvSpPr>
          <p:spPr>
            <a:xfrm>
              <a:off x="3227832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58" name="Connector 9057"/>
          <p:cNvCxnSpPr/>
          <p:nvPr/>
        </p:nvCxnSpPr>
        <p:spPr>
          <a:xfrm>
            <a:off x="3337560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9" name="TextBox 9058"/>
          <p:cNvSpPr txBox="1"/>
          <p:nvPr/>
        </p:nvSpPr>
        <p:spPr>
          <a:xfrm>
            <a:off x="3392424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60" name="Connector 9059"/>
          <p:cNvCxnSpPr/>
          <p:nvPr/>
        </p:nvCxnSpPr>
        <p:spPr>
          <a:xfrm>
            <a:off x="201168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1" name="TextBox 9060"/>
          <p:cNvSpPr txBox="1"/>
          <p:nvPr/>
        </p:nvSpPr>
        <p:spPr>
          <a:xfrm>
            <a:off x="201168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62" name="Rectangle 9061"/>
          <p:cNvSpPr/>
          <p:nvPr/>
        </p:nvSpPr>
        <p:spPr>
          <a:xfrm>
            <a:off x="5015484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3" name="Rectangle 9062"/>
          <p:cNvSpPr/>
          <p:nvPr/>
        </p:nvSpPr>
        <p:spPr>
          <a:xfrm>
            <a:off x="5015484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4" name="Rectangle 9063"/>
          <p:cNvSpPr/>
          <p:nvPr/>
        </p:nvSpPr>
        <p:spPr>
          <a:xfrm>
            <a:off x="5015484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5" name="TextBox 9064"/>
          <p:cNvSpPr txBox="1"/>
          <p:nvPr/>
        </p:nvSpPr>
        <p:spPr>
          <a:xfrm>
            <a:off x="5079492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04</a:t>
            </a:r>
          </a:p>
        </p:txBody>
      </p:sp>
      <p:sp>
        <p:nvSpPr>
          <p:cNvPr id="9066" name="TextBox 9065"/>
          <p:cNvSpPr txBox="1"/>
          <p:nvPr/>
        </p:nvSpPr>
        <p:spPr>
          <a:xfrm>
            <a:off x="5417820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9067" name="TextBox 9066"/>
          <p:cNvSpPr txBox="1"/>
          <p:nvPr/>
        </p:nvSpPr>
        <p:spPr>
          <a:xfrm>
            <a:off x="7118604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68" name="Rounded Rectangle 9067"/>
          <p:cNvSpPr/>
          <p:nvPr/>
        </p:nvSpPr>
        <p:spPr>
          <a:xfrm>
            <a:off x="8641080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5079492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4" name="Court 04"/>
          <p:cNvGrpSpPr/>
          <p:nvPr/>
        </p:nvGrpSpPr>
        <p:grpSpPr>
          <a:xfrm>
            <a:off x="5061204" y="4576572"/>
            <a:ext cx="3108960" cy="1490472"/>
            <a:chOff x="5061204" y="4576572"/>
            <a:chExt cx="3108960" cy="1490472"/>
          </a:xfrm>
        </p:grpSpPr>
        <p:sp>
          <p:nvSpPr>
            <p:cNvPr id="9070" name="Rectangle 9069"/>
            <p:cNvSpPr/>
            <p:nvPr/>
          </p:nvSpPr>
          <p:spPr>
            <a:xfrm>
              <a:off x="5125212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1" name="Connector 9070"/>
            <p:cNvCxnSpPr/>
            <p:nvPr/>
          </p:nvCxnSpPr>
          <p:spPr>
            <a:xfrm>
              <a:off x="6615684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2" name="Oval 9071"/>
            <p:cNvSpPr/>
            <p:nvPr/>
          </p:nvSpPr>
          <p:spPr>
            <a:xfrm>
              <a:off x="6392113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3" name="Oval 9072"/>
            <p:cNvSpPr/>
            <p:nvPr/>
          </p:nvSpPr>
          <p:spPr>
            <a:xfrm>
              <a:off x="659968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4" name="Arc 9073"/>
            <p:cNvSpPr/>
            <p:nvPr/>
          </p:nvSpPr>
          <p:spPr>
            <a:xfrm>
              <a:off x="4678070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5" name="Arc 9074"/>
            <p:cNvSpPr/>
            <p:nvPr/>
          </p:nvSpPr>
          <p:spPr>
            <a:xfrm>
              <a:off x="4678070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6" name="Connector 9075"/>
            <p:cNvCxnSpPr/>
            <p:nvPr/>
          </p:nvCxnSpPr>
          <p:spPr>
            <a:xfrm>
              <a:off x="557235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7" name="Oval 9076"/>
            <p:cNvSpPr/>
            <p:nvPr/>
          </p:nvSpPr>
          <p:spPr>
            <a:xfrm>
              <a:off x="555635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8" name="Oval 9077"/>
            <p:cNvSpPr/>
            <p:nvPr/>
          </p:nvSpPr>
          <p:spPr>
            <a:xfrm>
              <a:off x="5854446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9" name="Rectangle 9078"/>
            <p:cNvSpPr/>
            <p:nvPr/>
          </p:nvSpPr>
          <p:spPr>
            <a:xfrm>
              <a:off x="5061204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0" name="Arc 9079"/>
            <p:cNvSpPr/>
            <p:nvPr/>
          </p:nvSpPr>
          <p:spPr>
            <a:xfrm>
              <a:off x="7659014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1" name="Arc 9080"/>
            <p:cNvSpPr/>
            <p:nvPr/>
          </p:nvSpPr>
          <p:spPr>
            <a:xfrm>
              <a:off x="7659014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2" name="Connector 9081"/>
            <p:cNvCxnSpPr/>
            <p:nvPr/>
          </p:nvCxnSpPr>
          <p:spPr>
            <a:xfrm>
              <a:off x="765901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83" name="Oval 9082"/>
            <p:cNvSpPr/>
            <p:nvPr/>
          </p:nvSpPr>
          <p:spPr>
            <a:xfrm>
              <a:off x="764301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4" name="Oval 9083"/>
            <p:cNvSpPr/>
            <p:nvPr/>
          </p:nvSpPr>
          <p:spPr>
            <a:xfrm>
              <a:off x="734491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5" name="Rectangle 9084"/>
            <p:cNvSpPr/>
            <p:nvPr/>
          </p:nvSpPr>
          <p:spPr>
            <a:xfrm>
              <a:off x="8106156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86" name="Connector 9085"/>
          <p:cNvCxnSpPr/>
          <p:nvPr/>
        </p:nvCxnSpPr>
        <p:spPr>
          <a:xfrm>
            <a:off x="8215884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7" name="TextBox 9086"/>
          <p:cNvSpPr txBox="1"/>
          <p:nvPr/>
        </p:nvSpPr>
        <p:spPr>
          <a:xfrm>
            <a:off x="8270748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88" name="Connector 9087"/>
          <p:cNvCxnSpPr/>
          <p:nvPr/>
        </p:nvCxnSpPr>
        <p:spPr>
          <a:xfrm>
            <a:off x="5079492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9" name="TextBox 9088"/>
          <p:cNvSpPr txBox="1"/>
          <p:nvPr/>
        </p:nvSpPr>
        <p:spPr>
          <a:xfrm>
            <a:off x="5079492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90" name="Rectangle 9089"/>
          <p:cNvSpPr/>
          <p:nvPr/>
        </p:nvSpPr>
        <p:spPr>
          <a:xfrm>
            <a:off x="9902952" y="1170432"/>
            <a:ext cx="2148840" cy="5550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1" name="Rectangle 9090"/>
          <p:cNvSpPr/>
          <p:nvPr/>
        </p:nvSpPr>
        <p:spPr>
          <a:xfrm>
            <a:off x="9902952" y="1170432"/>
            <a:ext cx="2148840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2" name="TextBox 9091"/>
          <p:cNvSpPr txBox="1"/>
          <p:nvPr/>
        </p:nvSpPr>
        <p:spPr>
          <a:xfrm>
            <a:off x="9948672" y="1211580"/>
            <a:ext cx="2057400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FFFFFF"/>
                </a:solidFill>
                <a:latin typeface="Calibri"/>
              </a:rPr>
              <a:t>AVAILABLE PLAYERS / POSITIONS</a:t>
            </a:r>
          </a:p>
        </p:txBody>
      </p:sp>
      <p:sp>
        <p:nvSpPr>
          <p:cNvPr id="9093" name="TextBox 9092"/>
          <p:cNvSpPr txBox="1"/>
          <p:nvPr/>
        </p:nvSpPr>
        <p:spPr>
          <a:xfrm>
            <a:off x="9948672" y="1472184"/>
            <a:ext cx="2057400" cy="2194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TOTAL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GK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OUTFIELD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</a:t>
            </a:r>
          </a:p>
        </p:txBody>
      </p:sp>
      <p:graphicFrame>
        <p:nvGraphicFramePr>
          <p:cNvPr id="9094" name="Table 9093"/>
          <p:cNvGraphicFramePr>
            <a:graphicFrameLocks noGrp="1"/>
          </p:cNvGraphicFramePr>
          <p:nvPr/>
        </p:nvGraphicFramePr>
        <p:xfrm>
          <a:off x="9948672" y="1719072"/>
          <a:ext cx="2057400" cy="3703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5488"/>
                <a:gridCol w="987552"/>
                <a:gridCol w="594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9095" name="Connector 9094"/>
          <p:cNvCxnSpPr/>
          <p:nvPr/>
        </p:nvCxnSpPr>
        <p:spPr>
          <a:xfrm>
            <a:off x="9948672" y="5971032"/>
            <a:ext cx="20574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6" name="TextBox 9095"/>
          <p:cNvSpPr txBox="1"/>
          <p:nvPr/>
        </p:nvSpPr>
        <p:spPr>
          <a:xfrm>
            <a:off x="9948672" y="5998464"/>
            <a:ext cx="2057400" cy="6766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SQUAD NOTES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status notes]</a:t>
            </a:r>
          </a:p>
        </p:txBody>
      </p:sp>
      <p:sp>
        <p:nvSpPr>
          <p:cNvPr id="9097" name="TextBox 9096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GUIDE  —  annotated example  ·  delete the blue notes after reading</a:t>
            </a:r>
          </a:p>
        </p:txBody>
      </p:sp>
      <p:sp>
        <p:nvSpPr>
          <p:cNvPr id="9098" name="Rectangle 9097"/>
          <p:cNvSpPr/>
          <p:nvPr/>
        </p:nvSpPr>
        <p:spPr>
          <a:xfrm>
            <a:off x="502920" y="192024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Set timing + lead coach in each block header. Keep the objective to one line.</a:t>
            </a:r>
          </a:p>
        </p:txBody>
      </p:sp>
      <p:sp>
        <p:nvSpPr>
          <p:cNvPr id="9099" name="Rectangle 9098"/>
          <p:cNvSpPr/>
          <p:nvPr/>
        </p:nvSpPr>
        <p:spPr>
          <a:xfrm>
            <a:off x="5394960" y="192024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Copy players, arrows and zones from Slide 4 (Component Library) onto the court.</a:t>
            </a:r>
          </a:p>
        </p:txBody>
      </p:sp>
      <p:sp>
        <p:nvSpPr>
          <p:cNvPr id="9100" name="Rectangle 9099"/>
          <p:cNvSpPr/>
          <p:nvPr/>
        </p:nvSpPr>
        <p:spPr>
          <a:xfrm>
            <a:off x="502920" y="475488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Use the notes strip for constraints, progressions and setup / equipment reminders.</a:t>
            </a:r>
          </a:p>
        </p:txBody>
      </p:sp>
      <p:sp>
        <p:nvSpPr>
          <p:cNvPr id="9101" name="Rectangle 9100"/>
          <p:cNvSpPr/>
          <p:nvPr/>
        </p:nvSpPr>
        <p:spPr>
          <a:xfrm>
            <a:off x="5394960" y="475488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Duplicate Slide 2 each week. Delete these blue notes — they are single text boxes.</a:t>
            </a:r>
          </a:p>
        </p:txBody>
      </p:sp>
      <p:sp>
        <p:nvSpPr>
          <p:cNvPr id="9102" name="Rectangle 9101"/>
          <p:cNvSpPr/>
          <p:nvPr/>
        </p:nvSpPr>
        <p:spPr>
          <a:xfrm>
            <a:off x="9994392" y="3017520"/>
            <a:ext cx="19659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Update counts, names and status here for fast late changes. Tab moves between table cells.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9144000" cy="4572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600" b="1" lang="en-GB">
                <a:solidFill>
                  <a:srgbClr val="1A1A1A"/>
                </a:solidFill>
                <a:latin typeface="Calibri"/>
              </a:rPr>
              <a:t>COMPONENT LIBRARY</a:t>
            </a:r>
          </a:p>
          <a:p>
            <a:pPr algn="l"/>
            <a:r>
              <a:rPr sz="850" b="0" lang="en-GB">
                <a:solidFill>
                  <a:srgbClr val="6B6B6B"/>
                </a:solidFill>
                <a:latin typeface="Calibri"/>
              </a:rPr>
              <a:t>All markers are at true court scale (≈1.7 m on a 40 m court). Copy and paste directly onto any diagram — they will be proportionally correct.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6858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6583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PLAYER MARKERS  (plain)</a:t>
            </a:r>
          </a:p>
        </p:txBody>
      </p:sp>
      <p:sp>
        <p:nvSpPr>
          <p:cNvPr id="6" name="Oval 5"/>
          <p:cNvSpPr/>
          <p:nvPr/>
        </p:nvSpPr>
        <p:spPr>
          <a:xfrm>
            <a:off x="420624" y="896112"/>
            <a:ext cx="128016" cy="128016"/>
          </a:xfrm>
          <a:prstGeom prst="ellipse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60704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sp>
        <p:nvSpPr>
          <p:cNvPr id="8" name="Oval 7"/>
          <p:cNvSpPr/>
          <p:nvPr/>
        </p:nvSpPr>
        <p:spPr>
          <a:xfrm>
            <a:off x="877824" y="89611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060704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sp>
        <p:nvSpPr>
          <p:cNvPr id="10" name="Oval 9"/>
          <p:cNvSpPr/>
          <p:nvPr/>
        </p:nvSpPr>
        <p:spPr>
          <a:xfrm>
            <a:off x="1335024" y="896112"/>
            <a:ext cx="128016" cy="12801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1060704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sp>
        <p:nvSpPr>
          <p:cNvPr id="12" name="Oval 11"/>
          <p:cNvSpPr/>
          <p:nvPr/>
        </p:nvSpPr>
        <p:spPr>
          <a:xfrm>
            <a:off x="1792224" y="89611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1060704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Neutral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31720" y="6858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04872" y="6583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EQUIPMENT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2404872" y="914400"/>
            <a:ext cx="82296" cy="73152"/>
          </a:xfrm>
          <a:prstGeom prst="triangl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40864" y="1060704"/>
            <a:ext cx="3657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Cone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98648" y="877824"/>
            <a:ext cx="36576" cy="18288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1488" y="1060704"/>
            <a:ext cx="3657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Pole</a:t>
            </a:r>
          </a:p>
        </p:txBody>
      </p:sp>
      <p:sp>
        <p:nvSpPr>
          <p:cNvPr id="20" name="Oval 19"/>
          <p:cNvSpPr/>
          <p:nvPr/>
        </p:nvSpPr>
        <p:spPr>
          <a:xfrm>
            <a:off x="3337560" y="932688"/>
            <a:ext cx="64008" cy="6400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1060704"/>
            <a:ext cx="3657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Ball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29000" y="6858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02152" y="6583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LINES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474720" y="1005840"/>
            <a:ext cx="685800" cy="0"/>
          </a:xfrm>
          <a:prstGeom prst="line">
            <a:avLst/>
          </a:prstGeom>
          <a:ln w="19050">
            <a:solidFill>
              <a:srgbClr val="1A1A1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29000" y="1060704"/>
            <a:ext cx="8229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Run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43400" y="1005840"/>
            <a:ext cx="685800" cy="0"/>
          </a:xfrm>
          <a:prstGeom prst="line">
            <a:avLst/>
          </a:prstGeom>
          <a:ln w="19050">
            <a:solidFill>
              <a:srgbClr val="1A1A1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297680" y="1060704"/>
            <a:ext cx="8229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Pass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212080" y="1005840"/>
            <a:ext cx="685800" cy="0"/>
          </a:xfrm>
          <a:prstGeom prst="line">
            <a:avLst/>
          </a:prstGeom>
          <a:ln w="19050">
            <a:solidFill>
              <a:srgbClr val="1A1A1A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166360" y="1060704"/>
            <a:ext cx="8229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Dribble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46520" y="6858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9672" y="6583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ZONES / SCREENS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896112"/>
            <a:ext cx="640080" cy="219456"/>
          </a:xfrm>
          <a:prstGeom prst="rect">
            <a:avLst/>
          </a:prstGeom>
          <a:solidFill>
            <a:srgbClr val="0057B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4808" y="1060704"/>
            <a:ext cx="694944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Zone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60920" y="969264"/>
            <a:ext cx="329184" cy="54864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51192" y="1060704"/>
            <a:ext cx="566928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Screen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37160" y="1508760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65760" y="16002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15727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BODY SHAPE  —  shoulder-line pucks</a:t>
            </a:r>
          </a:p>
        </p:txBody>
      </p:sp>
      <p:sp>
        <p:nvSpPr>
          <p:cNvPr id="39" name="Chord 38"/>
          <p:cNvSpPr/>
          <p:nvPr/>
        </p:nvSpPr>
        <p:spPr>
          <a:xfrm>
            <a:off x="429768" y="182880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4904" y="1993392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sp>
        <p:nvSpPr>
          <p:cNvPr id="41" name="Chord 40"/>
          <p:cNvSpPr/>
          <p:nvPr/>
        </p:nvSpPr>
        <p:spPr>
          <a:xfrm>
            <a:off x="886968" y="182880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FFFFFF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" y="1993392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sp>
        <p:nvSpPr>
          <p:cNvPr id="43" name="Chord 42"/>
          <p:cNvSpPr/>
          <p:nvPr/>
        </p:nvSpPr>
        <p:spPr>
          <a:xfrm>
            <a:off x="1344168" y="182880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89304" y="1993392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sp>
        <p:nvSpPr>
          <p:cNvPr id="45" name="Chord 44"/>
          <p:cNvSpPr/>
          <p:nvPr/>
        </p:nvSpPr>
        <p:spPr>
          <a:xfrm>
            <a:off x="1801368" y="182880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FFFFFF"/>
          </a:solidFill>
          <a:ln w="1270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46504" y="1993392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Neutral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2176272"/>
            <a:ext cx="2331720" cy="3291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0" lang="en-GB">
                <a:solidFill>
                  <a:srgbClr val="6B6B6B"/>
                </a:solidFill>
                <a:latin typeface="Calibri"/>
              </a:rPr>
              <a:t>Flat edge = shoulders, curve = chest. One shape — rotate it to show open / closed body shape.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16002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90672" y="15727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VISION CONE  —  facing + field of view</a:t>
            </a:r>
          </a:p>
        </p:txBody>
      </p:sp>
      <p:grpSp>
        <p:nvGrpSpPr>
          <p:cNvPr id="9005" name="vm_A"/>
          <p:cNvGrpSpPr/>
          <p:nvPr/>
        </p:nvGrpSpPr>
        <p:grpSpPr>
          <a:xfrm>
            <a:off x="3086100" y="1796796"/>
            <a:ext cx="448056" cy="448056"/>
            <a:chOff x="3086100" y="1796796"/>
            <a:chExt cx="448056" cy="448056"/>
          </a:xfrm>
        </p:grpSpPr>
        <p:sp>
          <p:nvSpPr>
            <p:cNvPr id="50" name="Pie 49"/>
            <p:cNvSpPr/>
            <p:nvPr/>
          </p:nvSpPr>
          <p:spPr>
            <a:xfrm>
              <a:off x="3086100" y="1796796"/>
              <a:ext cx="448056" cy="448056"/>
            </a:xfrm>
            <a:prstGeom prst="pie">
              <a:avLst>
                <a:gd name="adj1" fmla="val 14100000"/>
                <a:gd name="adj2" fmla="val 18300000"/>
              </a:avLst>
            </a:prstGeom>
            <a:solidFill>
              <a:srgbClr val="0057B8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3246120" y="1956816"/>
              <a:ext cx="128016" cy="128016"/>
            </a:xfrm>
            <a:prstGeom prst="ellipse">
              <a:avLst/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A</a:t>
              </a:r>
            </a:p>
          </p:txBody>
        </p:sp>
      </p:grpSp>
      <p:sp>
        <p:nvSpPr>
          <p:cNvPr id="9006" name="TextBox 9005"/>
          <p:cNvSpPr txBox="1"/>
          <p:nvPr/>
        </p:nvSpPr>
        <p:spPr>
          <a:xfrm>
            <a:off x="3108960" y="2121408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grpSp>
        <p:nvGrpSpPr>
          <p:cNvPr id="9006" name="vm_D"/>
          <p:cNvGrpSpPr/>
          <p:nvPr/>
        </p:nvGrpSpPr>
        <p:grpSpPr>
          <a:xfrm>
            <a:off x="3653028" y="1796796"/>
            <a:ext cx="448056" cy="448056"/>
            <a:chOff x="3653028" y="1796796"/>
            <a:chExt cx="448056" cy="448056"/>
          </a:xfrm>
        </p:grpSpPr>
        <p:sp>
          <p:nvSpPr>
            <p:cNvPr id="9007" name="Pie 9006"/>
            <p:cNvSpPr/>
            <p:nvPr/>
          </p:nvSpPr>
          <p:spPr>
            <a:xfrm>
              <a:off x="3653028" y="1796796"/>
              <a:ext cx="448056" cy="448056"/>
            </a:xfrm>
            <a:prstGeom prst="pie">
              <a:avLst>
                <a:gd name="adj1" fmla="val 14100000"/>
                <a:gd name="adj2" fmla="val 18300000"/>
              </a:avLst>
            </a:prstGeom>
            <a:solidFill>
              <a:srgbClr val="6B6B6B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08" name="Oval 9007"/>
            <p:cNvSpPr/>
            <p:nvPr/>
          </p:nvSpPr>
          <p:spPr>
            <a:xfrm>
              <a:off x="3813048" y="1956816"/>
              <a:ext cx="128016" cy="12801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6B6B6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6B6B6B"/>
                  </a:solidFill>
                  <a:latin typeface="Calibri"/>
                </a:rPr>
                <a:t>D</a:t>
              </a:r>
            </a:p>
          </p:txBody>
        </p:sp>
      </p:grpSp>
      <p:sp>
        <p:nvSpPr>
          <p:cNvPr id="9009" name="TextBox 9008"/>
          <p:cNvSpPr txBox="1"/>
          <p:nvPr/>
        </p:nvSpPr>
        <p:spPr>
          <a:xfrm>
            <a:off x="3675888" y="2121408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grpSp>
        <p:nvGrpSpPr>
          <p:cNvPr id="9007" name="vm_G"/>
          <p:cNvGrpSpPr/>
          <p:nvPr/>
        </p:nvGrpSpPr>
        <p:grpSpPr>
          <a:xfrm>
            <a:off x="4219956" y="1796796"/>
            <a:ext cx="448056" cy="448056"/>
            <a:chOff x="4219956" y="1796796"/>
            <a:chExt cx="448056" cy="448056"/>
          </a:xfrm>
        </p:grpSpPr>
        <p:sp>
          <p:nvSpPr>
            <p:cNvPr id="9010" name="Pie 9009"/>
            <p:cNvSpPr/>
            <p:nvPr/>
          </p:nvSpPr>
          <p:spPr>
            <a:xfrm>
              <a:off x="4219956" y="1796796"/>
              <a:ext cx="448056" cy="448056"/>
            </a:xfrm>
            <a:prstGeom prst="pie">
              <a:avLst>
                <a:gd name="adj1" fmla="val 14100000"/>
                <a:gd name="adj2" fmla="val 18300000"/>
              </a:avLst>
            </a:prstGeom>
            <a:solidFill>
              <a:srgbClr val="1A1A1A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1" name="Oval 9010"/>
            <p:cNvSpPr/>
            <p:nvPr/>
          </p:nvSpPr>
          <p:spPr>
            <a:xfrm>
              <a:off x="4379976" y="1956816"/>
              <a:ext cx="128016" cy="128016"/>
            </a:xfrm>
            <a:prstGeom prst="ellips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G</a:t>
              </a:r>
            </a:p>
          </p:txBody>
        </p:sp>
      </p:grpSp>
      <p:sp>
        <p:nvSpPr>
          <p:cNvPr id="9012" name="TextBox 9011"/>
          <p:cNvSpPr txBox="1"/>
          <p:nvPr/>
        </p:nvSpPr>
        <p:spPr>
          <a:xfrm>
            <a:off x="4242816" y="2121408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3017520" y="2304288"/>
            <a:ext cx="2606040" cy="2743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0" lang="en-GB">
                <a:solidFill>
                  <a:srgbClr val="6B6B6B"/>
                </a:solidFill>
                <a:latin typeface="Calibri"/>
              </a:rPr>
              <a:t>Rotate the group: cone shows where the player faces and what they see. On a defender it doubles as a cover shadow.</a:t>
            </a:r>
          </a:p>
        </p:txBody>
      </p:sp>
      <p:sp>
        <p:nvSpPr>
          <p:cNvPr id="9014" name="Rectangle 9013"/>
          <p:cNvSpPr/>
          <p:nvPr/>
        </p:nvSpPr>
        <p:spPr>
          <a:xfrm>
            <a:off x="5989320" y="1792224"/>
            <a:ext cx="3017520" cy="566928"/>
          </a:xfrm>
          <a:prstGeom prst="rect">
            <a:avLst/>
          </a:prstGeom>
          <a:solidFill>
            <a:srgbClr val="FAFAFA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750">
                <a:solidFill>
                  <a:srgbClr val="6B6B6B"/>
                </a:solidFill>
                <a:latin typeface="Calibri"/>
              </a:rPr>
              <a:t>ROTATION  ·  All orientation markers face UP by default. Select → drag the rotation handle, or Format Shape → Rotation and type the angle (0 = up, 90 = right, 180 = down, 270 = left).</a:t>
            </a:r>
          </a:p>
        </p:txBody>
      </p:sp>
      <p:cxnSp>
        <p:nvCxnSpPr>
          <p:cNvPr id="9015" name="Connector 9014"/>
          <p:cNvCxnSpPr/>
          <p:nvPr/>
        </p:nvCxnSpPr>
        <p:spPr>
          <a:xfrm>
            <a:off x="137160" y="2670048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008" name="scan_A"/>
          <p:cNvGrpSpPr/>
          <p:nvPr/>
        </p:nvGrpSpPr>
        <p:grpSpPr>
          <a:xfrm>
            <a:off x="248717" y="2690165"/>
            <a:ext cx="819302" cy="819302"/>
            <a:chOff x="248717" y="2690165"/>
            <a:chExt cx="819302" cy="819302"/>
          </a:xfrm>
        </p:grpSpPr>
        <p:sp>
          <p:nvSpPr>
            <p:cNvPr id="9016" name="Pie 9015"/>
            <p:cNvSpPr/>
            <p:nvPr/>
          </p:nvSpPr>
          <p:spPr>
            <a:xfrm>
              <a:off x="248717" y="2690165"/>
              <a:ext cx="819302" cy="819302"/>
            </a:xfrm>
            <a:prstGeom prst="pie">
              <a:avLst>
                <a:gd name="adj1" fmla="val 10800000"/>
                <a:gd name="adj2" fmla="val 21600000"/>
              </a:avLst>
            </a:prstGeom>
            <a:solidFill>
              <a:srgbClr val="0057B8">
                <a:alpha val="10000"/>
              </a:srgbClr>
            </a:solidFill>
            <a:ln w="12700">
              <a:solidFill>
                <a:srgbClr val="0057B8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7" name="Oval 9016"/>
            <p:cNvSpPr/>
            <p:nvPr/>
          </p:nvSpPr>
          <p:spPr>
            <a:xfrm>
              <a:off x="594360" y="3035808"/>
              <a:ext cx="128016" cy="128016"/>
            </a:xfrm>
            <a:prstGeom prst="ellipse">
              <a:avLst/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A</a:t>
              </a:r>
            </a:p>
          </p:txBody>
        </p:sp>
      </p:grpSp>
      <p:sp>
        <p:nvSpPr>
          <p:cNvPr id="9018" name="TextBox 9017"/>
          <p:cNvSpPr txBox="1"/>
          <p:nvPr/>
        </p:nvSpPr>
        <p:spPr>
          <a:xfrm>
            <a:off x="521208" y="3218688"/>
            <a:ext cx="45720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grpSp>
        <p:nvGrpSpPr>
          <p:cNvPr id="9009" name="scan_D"/>
          <p:cNvGrpSpPr/>
          <p:nvPr/>
        </p:nvGrpSpPr>
        <p:grpSpPr>
          <a:xfrm>
            <a:off x="1254557" y="2690165"/>
            <a:ext cx="819302" cy="819302"/>
            <a:chOff x="1254557" y="2690165"/>
            <a:chExt cx="819302" cy="819302"/>
          </a:xfrm>
        </p:grpSpPr>
        <p:sp>
          <p:nvSpPr>
            <p:cNvPr id="9019" name="Pie 9018"/>
            <p:cNvSpPr/>
            <p:nvPr/>
          </p:nvSpPr>
          <p:spPr>
            <a:xfrm>
              <a:off x="1254557" y="2690165"/>
              <a:ext cx="819302" cy="819302"/>
            </a:xfrm>
            <a:prstGeom prst="pie">
              <a:avLst>
                <a:gd name="adj1" fmla="val 10800000"/>
                <a:gd name="adj2" fmla="val 21600000"/>
              </a:avLst>
            </a:prstGeom>
            <a:solidFill>
              <a:srgbClr val="6B6B6B">
                <a:alpha val="10000"/>
              </a:srgbClr>
            </a:solidFill>
            <a:ln w="12700">
              <a:solidFill>
                <a:srgbClr val="6B6B6B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0" name="Oval 9019"/>
            <p:cNvSpPr/>
            <p:nvPr/>
          </p:nvSpPr>
          <p:spPr>
            <a:xfrm>
              <a:off x="1600200" y="3035808"/>
              <a:ext cx="128016" cy="12801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6B6B6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6B6B6B"/>
                  </a:solidFill>
                  <a:latin typeface="Calibri"/>
                </a:rPr>
                <a:t>D</a:t>
              </a:r>
            </a:p>
          </p:txBody>
        </p:sp>
      </p:grpSp>
      <p:sp>
        <p:nvSpPr>
          <p:cNvPr id="9021" name="TextBox 9020"/>
          <p:cNvSpPr txBox="1"/>
          <p:nvPr/>
        </p:nvSpPr>
        <p:spPr>
          <a:xfrm>
            <a:off x="1527048" y="3218688"/>
            <a:ext cx="45720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grpSp>
        <p:nvGrpSpPr>
          <p:cNvPr id="9010" name="scan_G"/>
          <p:cNvGrpSpPr/>
          <p:nvPr/>
        </p:nvGrpSpPr>
        <p:grpSpPr>
          <a:xfrm>
            <a:off x="2260397" y="2690165"/>
            <a:ext cx="819302" cy="819302"/>
            <a:chOff x="2260397" y="2690165"/>
            <a:chExt cx="819302" cy="819302"/>
          </a:xfrm>
        </p:grpSpPr>
        <p:sp>
          <p:nvSpPr>
            <p:cNvPr id="9022" name="Pie 9021"/>
            <p:cNvSpPr/>
            <p:nvPr/>
          </p:nvSpPr>
          <p:spPr>
            <a:xfrm>
              <a:off x="2260397" y="2690165"/>
              <a:ext cx="819302" cy="819302"/>
            </a:xfrm>
            <a:prstGeom prst="pie">
              <a:avLst>
                <a:gd name="adj1" fmla="val 10800000"/>
                <a:gd name="adj2" fmla="val 21600000"/>
              </a:avLst>
            </a:prstGeom>
            <a:solidFill>
              <a:srgbClr val="1A1A1A">
                <a:alpha val="10000"/>
              </a:srgbClr>
            </a:solidFill>
            <a:ln w="12700">
              <a:solidFill>
                <a:srgbClr val="1A1A1A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3" name="Oval 9022"/>
            <p:cNvSpPr/>
            <p:nvPr/>
          </p:nvSpPr>
          <p:spPr>
            <a:xfrm>
              <a:off x="2606040" y="3035808"/>
              <a:ext cx="128016" cy="128016"/>
            </a:xfrm>
            <a:prstGeom prst="ellips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G</a:t>
              </a:r>
            </a:p>
          </p:txBody>
        </p:sp>
      </p:grpSp>
      <p:sp>
        <p:nvSpPr>
          <p:cNvPr id="9024" name="TextBox 9023"/>
          <p:cNvSpPr txBox="1"/>
          <p:nvPr/>
        </p:nvSpPr>
        <p:spPr>
          <a:xfrm>
            <a:off x="2532888" y="3218688"/>
            <a:ext cx="45720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grpSp>
        <p:nvGrpSpPr>
          <p:cNvPr id="9011" name="combined_A"/>
          <p:cNvGrpSpPr/>
          <p:nvPr/>
        </p:nvGrpSpPr>
        <p:grpSpPr>
          <a:xfrm>
            <a:off x="3385109" y="2690165"/>
            <a:ext cx="819302" cy="819302"/>
            <a:chOff x="3385109" y="2690165"/>
            <a:chExt cx="819302" cy="819302"/>
          </a:xfrm>
        </p:grpSpPr>
        <p:sp>
          <p:nvSpPr>
            <p:cNvPr id="9025" name="Pie 9024"/>
            <p:cNvSpPr/>
            <p:nvPr/>
          </p:nvSpPr>
          <p:spPr>
            <a:xfrm>
              <a:off x="3385109" y="2690165"/>
              <a:ext cx="819302" cy="819302"/>
            </a:xfrm>
            <a:prstGeom prst="pie">
              <a:avLst>
                <a:gd name="adj1" fmla="val 10800000"/>
                <a:gd name="adj2" fmla="val 21600000"/>
              </a:avLst>
            </a:prstGeom>
            <a:solidFill>
              <a:srgbClr val="0057B8">
                <a:alpha val="10000"/>
              </a:srgbClr>
            </a:solidFill>
            <a:ln w="12700">
              <a:solidFill>
                <a:srgbClr val="0057B8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6" name="Pie 9025"/>
            <p:cNvSpPr/>
            <p:nvPr/>
          </p:nvSpPr>
          <p:spPr>
            <a:xfrm>
              <a:off x="3570732" y="2875788"/>
              <a:ext cx="448056" cy="448056"/>
            </a:xfrm>
            <a:prstGeom prst="pie">
              <a:avLst>
                <a:gd name="adj1" fmla="val 14100000"/>
                <a:gd name="adj2" fmla="val 18300000"/>
              </a:avLst>
            </a:prstGeom>
            <a:solidFill>
              <a:srgbClr val="0057B8">
                <a:alpha val="2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7" name="Chord 9026"/>
            <p:cNvSpPr/>
            <p:nvPr/>
          </p:nvSpPr>
          <p:spPr>
            <a:xfrm>
              <a:off x="3730752" y="3035808"/>
              <a:ext cx="128016" cy="128016"/>
            </a:xfrm>
            <a:prstGeom prst="chord">
              <a:avLst>
                <a:gd name="adj1" fmla="val 9000000"/>
                <a:gd name="adj2" fmla="val 1800000"/>
              </a:avLst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27432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A</a:t>
              </a:r>
            </a:p>
          </p:txBody>
        </p:sp>
      </p:grpSp>
      <p:sp>
        <p:nvSpPr>
          <p:cNvPr id="9028" name="TextBox 9027"/>
          <p:cNvSpPr txBox="1"/>
          <p:nvPr/>
        </p:nvSpPr>
        <p:spPr>
          <a:xfrm>
            <a:off x="3602736" y="3218688"/>
            <a:ext cx="530352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Combined</a:t>
            </a:r>
          </a:p>
        </p:txBody>
      </p:sp>
      <p:sp>
        <p:nvSpPr>
          <p:cNvPr id="9029" name="Rectangle 9028"/>
          <p:cNvSpPr/>
          <p:nvPr/>
        </p:nvSpPr>
        <p:spPr>
          <a:xfrm>
            <a:off x="365760" y="27432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0" name="TextBox 9029"/>
          <p:cNvSpPr txBox="1"/>
          <p:nvPr/>
        </p:nvSpPr>
        <p:spPr>
          <a:xfrm>
            <a:off x="438912" y="27157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SCANNING AWARENESS ZONE  (180°, ≈5.5 m at court scale)</a:t>
            </a:r>
          </a:p>
        </p:txBody>
      </p:sp>
      <p:sp>
        <p:nvSpPr>
          <p:cNvPr id="9031" name="TextBox 9030"/>
          <p:cNvSpPr txBox="1"/>
          <p:nvPr/>
        </p:nvSpPr>
        <p:spPr>
          <a:xfrm>
            <a:off x="4617720" y="2761488"/>
            <a:ext cx="7223760" cy="9144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50" b="1" lang="en-GB">
                <a:solidFill>
                  <a:srgbClr val="1A1A1A"/>
                </a:solidFill>
                <a:latin typeface="Calibri"/>
              </a:rPr>
              <a:t>SCANNING AWARENESS  ·  VISION CONE  ·  BODY SHAPE</a:t>
            </a:r>
          </a:p>
          <a:p>
            <a:pPr algn="l"/>
            <a:r>
              <a:rPr sz="800" b="0" lang="en-GB">
                <a:solidFill>
                  <a:srgbClr val="6B6B6B"/>
                </a:solidFill>
                <a:latin typeface="Calibri"/>
              </a:rPr>
              <a:t>Scan zone (180°, dashed, very light) = the full area a player actively sweeps before receiving — peripheral awareness, not just facing direction.</a:t>
            </a:r>
          </a:p>
          <a:p>
            <a:pPr algn="l"/>
            <a:r>
              <a:rPr sz="300" b="0" lang="en-GB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800" b="0" lang="en-GB">
                <a:solidFill>
                  <a:srgbClr val="6B6B6B"/>
                </a:solidFill>
                <a:latin typeface="Calibri"/>
              </a:rPr>
              <a:t>Vision cone (70°, solid) = immediate focus and field of view. Scan zone + vision cone together show the difference between what a player checks and what they commit to.</a:t>
            </a:r>
          </a:p>
          <a:p>
            <a:pPr algn="l"/>
            <a:r>
              <a:rPr sz="300" b="0" lang="en-GB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COMBINED example (left): all three layers in one group. Rotate the whole group to orient the player. Use standalone or combined — each is a separate object.</a:t>
            </a:r>
          </a:p>
        </p:txBody>
      </p:sp>
      <p:cxnSp>
        <p:nvCxnSpPr>
          <p:cNvPr id="9032" name="Connector 9031"/>
          <p:cNvCxnSpPr/>
          <p:nvPr/>
        </p:nvCxnSpPr>
        <p:spPr>
          <a:xfrm>
            <a:off x="137160" y="3794760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3" name="TextBox 9032"/>
          <p:cNvSpPr txBox="1"/>
          <p:nvPr/>
        </p:nvSpPr>
        <p:spPr>
          <a:xfrm>
            <a:off x="365760" y="3849624"/>
            <a:ext cx="219456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0057B8"/>
                </a:solidFill>
                <a:latin typeface="Calibri"/>
              </a:rPr>
              <a:t>TEAM A  </a:t>
            </a:r>
            <a:r>
              <a:rPr sz="750" b="0" lang="en-GB">
                <a:solidFill>
                  <a:srgbClr val="6B6B6B"/>
                </a:solidFill>
                <a:latin typeface="Calibri"/>
              </a:rPr>
              <a:t>your team</a:t>
            </a:r>
          </a:p>
        </p:txBody>
      </p:sp>
      <p:sp>
        <p:nvSpPr>
          <p:cNvPr id="9034" name="Chord 9033"/>
          <p:cNvSpPr/>
          <p:nvPr/>
        </p:nvSpPr>
        <p:spPr>
          <a:xfrm>
            <a:off x="411480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035" name="Chord 9034"/>
          <p:cNvSpPr/>
          <p:nvPr/>
        </p:nvSpPr>
        <p:spPr>
          <a:xfrm>
            <a:off x="758952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036" name="Chord 9035"/>
          <p:cNvSpPr/>
          <p:nvPr/>
        </p:nvSpPr>
        <p:spPr>
          <a:xfrm>
            <a:off x="1106424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037" name="Chord 9036"/>
          <p:cNvSpPr/>
          <p:nvPr/>
        </p:nvSpPr>
        <p:spPr>
          <a:xfrm>
            <a:off x="1453896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038" name="Chord 9037"/>
          <p:cNvSpPr/>
          <p:nvPr/>
        </p:nvSpPr>
        <p:spPr>
          <a:xfrm>
            <a:off x="1801368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039" name="TextBox 9038"/>
          <p:cNvSpPr txBox="1"/>
          <p:nvPr/>
        </p:nvSpPr>
        <p:spPr>
          <a:xfrm>
            <a:off x="2514600" y="3849624"/>
            <a:ext cx="27432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1A1A1A"/>
                </a:solidFill>
                <a:latin typeface="Calibri"/>
              </a:rPr>
              <a:t>TEAM B  </a:t>
            </a:r>
            <a:r>
              <a:rPr sz="750" b="0" lang="en-GB">
                <a:solidFill>
                  <a:srgbClr val="6B6B6B"/>
                </a:solidFill>
                <a:latin typeface="Calibri"/>
              </a:rPr>
              <a:t>opposition — change fill colour to match</a:t>
            </a:r>
          </a:p>
        </p:txBody>
      </p:sp>
      <p:sp>
        <p:nvSpPr>
          <p:cNvPr id="9040" name="Chord 9039"/>
          <p:cNvSpPr/>
          <p:nvPr/>
        </p:nvSpPr>
        <p:spPr>
          <a:xfrm>
            <a:off x="2560320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041" name="Chord 9040"/>
          <p:cNvSpPr/>
          <p:nvPr/>
        </p:nvSpPr>
        <p:spPr>
          <a:xfrm>
            <a:off x="2907792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042" name="Chord 9041"/>
          <p:cNvSpPr/>
          <p:nvPr/>
        </p:nvSpPr>
        <p:spPr>
          <a:xfrm>
            <a:off x="3255264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043" name="Chord 9042"/>
          <p:cNvSpPr/>
          <p:nvPr/>
        </p:nvSpPr>
        <p:spPr>
          <a:xfrm>
            <a:off x="3602736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044" name="Chord 9043"/>
          <p:cNvSpPr/>
          <p:nvPr/>
        </p:nvSpPr>
        <p:spPr>
          <a:xfrm>
            <a:off x="3950208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045" name="TextBox 9044"/>
          <p:cNvSpPr txBox="1"/>
          <p:nvPr/>
        </p:nvSpPr>
        <p:spPr>
          <a:xfrm>
            <a:off x="5029200" y="3849624"/>
            <a:ext cx="68580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SCALE + COLOUR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Markers are at true court scale. Team pucks carry body shape: rotate any puck to angle the shoulders. To recolour Team B: select all 5 → Format Shape → Fill.</a:t>
            </a:r>
          </a:p>
        </p:txBody>
      </p:sp>
      <p:cxnSp>
        <p:nvCxnSpPr>
          <p:cNvPr id="9046" name="Connector 9045"/>
          <p:cNvCxnSpPr/>
          <p:nvPr/>
        </p:nvCxnSpPr>
        <p:spPr>
          <a:xfrm>
            <a:off x="137160" y="4434840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47" name="Rectangle 9046"/>
          <p:cNvSpPr/>
          <p:nvPr/>
        </p:nvSpPr>
        <p:spPr>
          <a:xfrm>
            <a:off x="365760" y="452628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8" name="TextBox 9047"/>
          <p:cNvSpPr txBox="1"/>
          <p:nvPr/>
        </p:nvSpPr>
        <p:spPr>
          <a:xfrm>
            <a:off x="438912" y="449884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FULL COURT  (40m × 20m)</a:t>
            </a:r>
          </a:p>
        </p:txBody>
      </p:sp>
      <p:grpSp>
        <p:nvGrpSpPr>
          <p:cNvPr id="9012" name="Library full court"/>
          <p:cNvGrpSpPr/>
          <p:nvPr/>
        </p:nvGrpSpPr>
        <p:grpSpPr>
          <a:xfrm>
            <a:off x="438912" y="4754880"/>
            <a:ext cx="3602736" cy="1737360"/>
            <a:chOff x="438912" y="4754880"/>
            <a:chExt cx="3602736" cy="1737360"/>
          </a:xfrm>
        </p:grpSpPr>
        <p:sp>
          <p:nvSpPr>
            <p:cNvPr id="9049" name="Rectangle 9048"/>
            <p:cNvSpPr/>
            <p:nvPr/>
          </p:nvSpPr>
          <p:spPr>
            <a:xfrm>
              <a:off x="502920" y="4754880"/>
              <a:ext cx="3474720" cy="1737360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0" name="Connector 9049"/>
            <p:cNvCxnSpPr/>
            <p:nvPr/>
          </p:nvCxnSpPr>
          <p:spPr>
            <a:xfrm>
              <a:off x="2240280" y="4754880"/>
              <a:ext cx="0" cy="173736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1" name="Oval 9050"/>
            <p:cNvSpPr/>
            <p:nvPr/>
          </p:nvSpPr>
          <p:spPr>
            <a:xfrm>
              <a:off x="1979676" y="5362956"/>
              <a:ext cx="521208" cy="521208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2" name="Oval 9051"/>
            <p:cNvSpPr/>
            <p:nvPr/>
          </p:nvSpPr>
          <p:spPr>
            <a:xfrm>
              <a:off x="2224278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3" name="Arc 9052"/>
            <p:cNvSpPr/>
            <p:nvPr/>
          </p:nvSpPr>
          <p:spPr>
            <a:xfrm>
              <a:off x="-18288" y="4972050"/>
              <a:ext cx="1042416" cy="1042416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4" name="Arc 9053"/>
            <p:cNvSpPr/>
            <p:nvPr/>
          </p:nvSpPr>
          <p:spPr>
            <a:xfrm>
              <a:off x="-18288" y="5232654"/>
              <a:ext cx="1042416" cy="1042416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5" name="Connector 9054"/>
            <p:cNvCxnSpPr/>
            <p:nvPr/>
          </p:nvCxnSpPr>
          <p:spPr>
            <a:xfrm>
              <a:off x="1024128" y="5493258"/>
              <a:ext cx="0" cy="260604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6" name="Oval 9055"/>
            <p:cNvSpPr/>
            <p:nvPr/>
          </p:nvSpPr>
          <p:spPr>
            <a:xfrm>
              <a:off x="1008126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7" name="Oval 9056"/>
            <p:cNvSpPr/>
            <p:nvPr/>
          </p:nvSpPr>
          <p:spPr>
            <a:xfrm>
              <a:off x="1355598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8" name="Rectangle 9057"/>
            <p:cNvSpPr/>
            <p:nvPr/>
          </p:nvSpPr>
          <p:spPr>
            <a:xfrm>
              <a:off x="438912" y="5493258"/>
              <a:ext cx="64008" cy="260604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9" name="Arc 9058"/>
            <p:cNvSpPr/>
            <p:nvPr/>
          </p:nvSpPr>
          <p:spPr>
            <a:xfrm>
              <a:off x="3456432" y="4972050"/>
              <a:ext cx="1042416" cy="1042416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0" name="Arc 9059"/>
            <p:cNvSpPr/>
            <p:nvPr/>
          </p:nvSpPr>
          <p:spPr>
            <a:xfrm>
              <a:off x="3456432" y="5232654"/>
              <a:ext cx="1042416" cy="1042416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61" name="Connector 9060"/>
            <p:cNvCxnSpPr/>
            <p:nvPr/>
          </p:nvCxnSpPr>
          <p:spPr>
            <a:xfrm>
              <a:off x="3456432" y="5493258"/>
              <a:ext cx="0" cy="260604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62" name="Oval 9061"/>
            <p:cNvSpPr/>
            <p:nvPr/>
          </p:nvSpPr>
          <p:spPr>
            <a:xfrm>
              <a:off x="3440430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3" name="Oval 9062"/>
            <p:cNvSpPr/>
            <p:nvPr/>
          </p:nvSpPr>
          <p:spPr>
            <a:xfrm>
              <a:off x="3092958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4" name="Rectangle 9063"/>
            <p:cNvSpPr/>
            <p:nvPr/>
          </p:nvSpPr>
          <p:spPr>
            <a:xfrm>
              <a:off x="3977640" y="5493258"/>
              <a:ext cx="64008" cy="260604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065" name="Rectangle 9064"/>
          <p:cNvSpPr/>
          <p:nvPr/>
        </p:nvSpPr>
        <p:spPr>
          <a:xfrm>
            <a:off x="5120640" y="452628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6" name="TextBox 9065"/>
          <p:cNvSpPr txBox="1"/>
          <p:nvPr/>
        </p:nvSpPr>
        <p:spPr>
          <a:xfrm>
            <a:off x="5193792" y="449884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HALF COURT  (20m × 20m)</a:t>
            </a:r>
          </a:p>
        </p:txBody>
      </p:sp>
      <p:grpSp>
        <p:nvGrpSpPr>
          <p:cNvPr id="9013" name="Library half court"/>
          <p:cNvGrpSpPr/>
          <p:nvPr/>
        </p:nvGrpSpPr>
        <p:grpSpPr>
          <a:xfrm>
            <a:off x="5193792" y="4754880"/>
            <a:ext cx="1801368" cy="1737360"/>
            <a:chOff x="5193792" y="4754880"/>
            <a:chExt cx="1801368" cy="1737360"/>
          </a:xfrm>
        </p:grpSpPr>
        <p:sp>
          <p:nvSpPr>
            <p:cNvPr id="9067" name="Rectangle 9066"/>
            <p:cNvSpPr/>
            <p:nvPr/>
          </p:nvSpPr>
          <p:spPr>
            <a:xfrm>
              <a:off x="5257800" y="4754880"/>
              <a:ext cx="1737360" cy="1737360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8" name="Arc 9067"/>
            <p:cNvSpPr/>
            <p:nvPr/>
          </p:nvSpPr>
          <p:spPr>
            <a:xfrm>
              <a:off x="6734556" y="5362956"/>
              <a:ext cx="521208" cy="521208"/>
            </a:xfrm>
            <a:prstGeom prst="arc">
              <a:avLst>
                <a:gd name="adj1" fmla="val 54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9" name="Oval 9068"/>
            <p:cNvSpPr/>
            <p:nvPr/>
          </p:nvSpPr>
          <p:spPr>
            <a:xfrm>
              <a:off x="6979158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0" name="Arc 9069"/>
            <p:cNvSpPr/>
            <p:nvPr/>
          </p:nvSpPr>
          <p:spPr>
            <a:xfrm>
              <a:off x="4736592" y="4972050"/>
              <a:ext cx="1042416" cy="1042416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1" name="Arc 9070"/>
            <p:cNvSpPr/>
            <p:nvPr/>
          </p:nvSpPr>
          <p:spPr>
            <a:xfrm>
              <a:off x="4736592" y="5232654"/>
              <a:ext cx="1042416" cy="1042416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2" name="Connector 9071"/>
            <p:cNvCxnSpPr/>
            <p:nvPr/>
          </p:nvCxnSpPr>
          <p:spPr>
            <a:xfrm>
              <a:off x="5779008" y="5493258"/>
              <a:ext cx="0" cy="260604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3" name="Oval 9072"/>
            <p:cNvSpPr/>
            <p:nvPr/>
          </p:nvSpPr>
          <p:spPr>
            <a:xfrm>
              <a:off x="5763006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4" name="Oval 9073"/>
            <p:cNvSpPr/>
            <p:nvPr/>
          </p:nvSpPr>
          <p:spPr>
            <a:xfrm>
              <a:off x="6110478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5" name="Rectangle 9074"/>
            <p:cNvSpPr/>
            <p:nvPr/>
          </p:nvSpPr>
          <p:spPr>
            <a:xfrm>
              <a:off x="5193792" y="5493258"/>
              <a:ext cx="64008" cy="260604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076" name="TextBox 9075"/>
          <p:cNvSpPr txBox="1"/>
          <p:nvPr/>
        </p:nvSpPr>
        <p:spPr>
          <a:xfrm>
            <a:off x="7406640" y="4754880"/>
            <a:ext cx="4434840" cy="18288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USAGE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Courts are grouped — one click selects the whole court. Copy and paste into any diagram zone, resize to fit. Ungroup (Ctrl+Shift+G) to edit individual markings.</a:t>
            </a:r>
          </a:p>
          <a:p>
            <a:pPr algn="l"/>
            <a:r>
              <a:rPr sz="300" b="0" lang="en-GB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All shapes are unlocked. Numbers inside markers are editable — double-click to change. To recolour: select shapes → Format Shape → Fill.</a:t>
            </a:r>
          </a:p>
        </p:txBody>
      </p:sp>
      <p:sp>
        <p:nvSpPr>
          <p:cNvPr id="9077" name="TextBox 9076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COMPONENT LIBRARY  —  court-scale tactical symbols  ·  scan zone (180°, 5.5 m) · vision cone (70°, 3 m) · body puck · rotate to orient · combined group available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