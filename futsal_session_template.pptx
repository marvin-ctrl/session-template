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MASTER TEMPLATE  —  keep clean  ·  duplicate Slide 2 for each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WORKING COPY  —  ready to edit  ·  duplicate weekly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GUIDE  —  annotated example  ·  delete the blue notes after reading</a:t>
            </a:r>
          </a:p>
        </p:txBody>
      </p:sp>
      <p:sp>
        <p:nvSpPr>
          <p:cNvPr id="9098" name="Rectangle 9097"/>
          <p:cNvSpPr/>
          <p:nvPr/>
        </p:nvSpPr>
        <p:spPr>
          <a:xfrm>
            <a:off x="50292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Set timing + lead coach in each block header. Keep the objective to one line.</a:t>
            </a:r>
          </a:p>
        </p:txBody>
      </p:sp>
      <p:sp>
        <p:nvSpPr>
          <p:cNvPr id="9099" name="Rectangle 9098"/>
          <p:cNvSpPr/>
          <p:nvPr/>
        </p:nvSpPr>
        <p:spPr>
          <a:xfrm>
            <a:off x="539496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Copy players, arrows and zones from Slide 4 (Component Library) onto the court.</a:t>
            </a:r>
          </a:p>
        </p:txBody>
      </p:sp>
      <p:sp>
        <p:nvSpPr>
          <p:cNvPr id="9100" name="Rectangle 9099"/>
          <p:cNvSpPr/>
          <p:nvPr/>
        </p:nvSpPr>
        <p:spPr>
          <a:xfrm>
            <a:off x="50292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Use the notes strip for constraints, progressions and setup / equipment reminders.</a:t>
            </a:r>
          </a:p>
        </p:txBody>
      </p:sp>
      <p:sp>
        <p:nvSpPr>
          <p:cNvPr id="9101" name="Rectangle 9100"/>
          <p:cNvSpPr/>
          <p:nvPr/>
        </p:nvSpPr>
        <p:spPr>
          <a:xfrm>
            <a:off x="539496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Duplicate Slide 2 each week. Delete these blue notes — they are single text boxes.</a:t>
            </a:r>
          </a:p>
        </p:txBody>
      </p:sp>
      <p:sp>
        <p:nvSpPr>
          <p:cNvPr id="9102" name="Rectangle 9101"/>
          <p:cNvSpPr/>
          <p:nvPr/>
        </p:nvSpPr>
        <p:spPr>
          <a:xfrm>
            <a:off x="9994392" y="3017520"/>
            <a:ext cx="1965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Update counts, names and status here for fast late changes. Tab moves between table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914400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COMPONENT LIBRARY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All markers are at true court scale (≈1.7 m on a 40 m court). Copy and paste directly onto any diagram — they will be proportionally correct.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PLAYER MARKERS  (plain)</a:t>
            </a:r>
          </a:p>
        </p:txBody>
      </p:sp>
      <p:sp>
        <p:nvSpPr>
          <p:cNvPr id="6" name="Oval 5"/>
          <p:cNvSpPr/>
          <p:nvPr/>
        </p:nvSpPr>
        <p:spPr>
          <a:xfrm>
            <a:off x="420624" y="896112"/>
            <a:ext cx="128016" cy="128016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8" name="Oval 7"/>
          <p:cNvSpPr/>
          <p:nvPr/>
        </p:nvSpPr>
        <p:spPr>
          <a:xfrm>
            <a:off x="8778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10" name="Oval 9"/>
          <p:cNvSpPr/>
          <p:nvPr/>
        </p:nvSpPr>
        <p:spPr>
          <a:xfrm>
            <a:off x="1335024" y="89611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12" name="Oval 11"/>
          <p:cNvSpPr/>
          <p:nvPr/>
        </p:nvSpPr>
        <p:spPr>
          <a:xfrm>
            <a:off x="1792224" y="89611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5648" y="1060704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317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EQUIPMENT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2404872" y="914400"/>
            <a:ext cx="82296" cy="73152"/>
          </a:xfrm>
          <a:prstGeom prst="triangl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8648" y="877824"/>
            <a:ext cx="36576" cy="1828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Pole</a:t>
            </a:r>
          </a:p>
        </p:txBody>
      </p:sp>
      <p:sp>
        <p:nvSpPr>
          <p:cNvPr id="20" name="Oval 19"/>
          <p:cNvSpPr/>
          <p:nvPr/>
        </p:nvSpPr>
        <p:spPr>
          <a:xfrm>
            <a:off x="3337560" y="932688"/>
            <a:ext cx="64008" cy="6400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1060704"/>
            <a:ext cx="3657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Ball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215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LINES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900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Run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34340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80" y="1005840"/>
            <a:ext cx="685800" cy="0"/>
          </a:xfrm>
          <a:prstGeom prst="line">
            <a:avLst/>
          </a:prstGeom>
          <a:ln w="19050">
            <a:solidFill>
              <a:srgbClr val="1A1A1A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166360" y="1060704"/>
            <a:ext cx="82296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Dribble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6858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9672" y="6583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ZONES /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896112"/>
            <a:ext cx="640080" cy="219456"/>
          </a:xfrm>
          <a:prstGeom prst="rect">
            <a:avLst/>
          </a:prstGeom>
          <a:solidFill>
            <a:srgbClr val="0057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8" y="1060704"/>
            <a:ext cx="6949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Zone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60920" y="969264"/>
            <a:ext cx="329184" cy="54864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51192" y="1060704"/>
            <a:ext cx="566928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Screen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7160" y="1508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BODY SHAPE  —  shoulder-line pucks</a:t>
            </a:r>
          </a:p>
        </p:txBody>
      </p:sp>
      <p:sp>
        <p:nvSpPr>
          <p:cNvPr id="39" name="Chord 38"/>
          <p:cNvSpPr/>
          <p:nvPr/>
        </p:nvSpPr>
        <p:spPr>
          <a:xfrm>
            <a:off x="4297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41" name="Chord 40"/>
          <p:cNvSpPr/>
          <p:nvPr/>
        </p:nvSpPr>
        <p:spPr>
          <a:xfrm>
            <a:off x="8869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43" name="Chord 42"/>
          <p:cNvSpPr/>
          <p:nvPr/>
        </p:nvSpPr>
        <p:spPr>
          <a:xfrm>
            <a:off x="13441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93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45" name="Chord 44"/>
          <p:cNvSpPr/>
          <p:nvPr/>
        </p:nvSpPr>
        <p:spPr>
          <a:xfrm>
            <a:off x="1801368" y="182880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FFFFFF"/>
          </a:solidFill>
          <a:ln w="12700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46504" y="1993392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2176272"/>
            <a:ext cx="2331720" cy="3291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Flat edge = shoulders, curve = chest. One shape — rotate it to show open / closed body shape.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VISION CONE  —  facing + field of view</a:t>
            </a:r>
          </a:p>
        </p:txBody>
      </p:sp>
      <p:grpSp>
        <p:nvGrpSpPr>
          <p:cNvPr id="9005" name="vm_A"/>
          <p:cNvGrpSpPr/>
          <p:nvPr/>
        </p:nvGrpSpPr>
        <p:grpSpPr>
          <a:xfrm>
            <a:off x="3086100" y="1796796"/>
            <a:ext cx="448056" cy="448056"/>
            <a:chOff x="3086100" y="1796796"/>
            <a:chExt cx="448056" cy="448056"/>
          </a:xfrm>
        </p:grpSpPr>
        <p:sp>
          <p:nvSpPr>
            <p:cNvPr id="50" name="Pie 49"/>
            <p:cNvSpPr/>
            <p:nvPr/>
          </p:nvSpPr>
          <p:spPr>
            <a:xfrm>
              <a:off x="3086100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0057B8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3246120" y="1956816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06" name="TextBox 9005"/>
          <p:cNvSpPr txBox="1"/>
          <p:nvPr/>
        </p:nvSpPr>
        <p:spPr>
          <a:xfrm>
            <a:off x="3108960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6" name="vm_D"/>
          <p:cNvGrpSpPr/>
          <p:nvPr/>
        </p:nvGrpSpPr>
        <p:grpSpPr>
          <a:xfrm>
            <a:off x="3653028" y="1796796"/>
            <a:ext cx="448056" cy="448056"/>
            <a:chOff x="3653028" y="1796796"/>
            <a:chExt cx="448056" cy="448056"/>
          </a:xfrm>
        </p:grpSpPr>
        <p:sp>
          <p:nvSpPr>
            <p:cNvPr id="9007" name="Pie 9006"/>
            <p:cNvSpPr/>
            <p:nvPr/>
          </p:nvSpPr>
          <p:spPr>
            <a:xfrm>
              <a:off x="3653028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6B6B6B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8" name="Oval 9007"/>
            <p:cNvSpPr/>
            <p:nvPr/>
          </p:nvSpPr>
          <p:spPr>
            <a:xfrm>
              <a:off x="3813048" y="1956816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3675888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07" name="vm_G"/>
          <p:cNvGrpSpPr/>
          <p:nvPr/>
        </p:nvGrpSpPr>
        <p:grpSpPr>
          <a:xfrm>
            <a:off x="4219956" y="1796796"/>
            <a:ext cx="448056" cy="448056"/>
            <a:chOff x="4219956" y="1796796"/>
            <a:chExt cx="448056" cy="448056"/>
          </a:xfrm>
        </p:grpSpPr>
        <p:sp>
          <p:nvSpPr>
            <p:cNvPr id="9010" name="Pie 9009"/>
            <p:cNvSpPr/>
            <p:nvPr/>
          </p:nvSpPr>
          <p:spPr>
            <a:xfrm>
              <a:off x="4219956" y="1796796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1A1A1A">
                <a:alpha val="20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1" name="Oval 9010"/>
            <p:cNvSpPr/>
            <p:nvPr/>
          </p:nvSpPr>
          <p:spPr>
            <a:xfrm>
              <a:off x="4379976" y="1956816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12" name="TextBox 9011"/>
          <p:cNvSpPr txBox="1"/>
          <p:nvPr/>
        </p:nvSpPr>
        <p:spPr>
          <a:xfrm>
            <a:off x="4242816" y="2121408"/>
            <a:ext cx="402336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3017520" y="2304288"/>
            <a:ext cx="260604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Rotate the group: cone shows where the player faces and what they see. On a defender it doubles as a cover shadow.</a:t>
            </a:r>
          </a:p>
        </p:txBody>
      </p:sp>
      <p:sp>
        <p:nvSpPr>
          <p:cNvPr id="9014" name="Rectangle 9013"/>
          <p:cNvSpPr/>
          <p:nvPr/>
        </p:nvSpPr>
        <p:spPr>
          <a:xfrm>
            <a:off x="5989320" y="1792224"/>
            <a:ext cx="301752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750">
                <a:solidFill>
                  <a:srgbClr val="6B6B6B"/>
                </a:solidFill>
                <a:latin typeface="Calibri"/>
              </a:rPr>
              <a:t>ROTATION  ·  All orientation markers face UP by default. Select → drag the rotation handle, or Format Shape → Rotation and type the angle (0 = up, 90 = right, 180 = down, 270 = left).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5989320" y="2395728"/>
            <a:ext cx="3017520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LONG CONES (right) are separate — no player attached. Drop one under any marker, rotate to aim, drag a corner handle to lengthen.</a:t>
            </a:r>
          </a:p>
        </p:txBody>
      </p:sp>
      <p:sp>
        <p:nvSpPr>
          <p:cNvPr id="9016" name="Long cone Attacker"/>
          <p:cNvSpPr/>
          <p:nvPr/>
        </p:nvSpPr>
        <p:spPr>
          <a:xfrm>
            <a:off x="905036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0057B8">
              <a:alpha val="20000"/>
            </a:srgbClr>
          </a:solidFill>
          <a:ln w="952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937260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9018" name="Long cone Defender"/>
          <p:cNvSpPr/>
          <p:nvPr/>
        </p:nvSpPr>
        <p:spPr>
          <a:xfrm>
            <a:off x="1001048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6B6B6B">
              <a:alpha val="20000"/>
            </a:srgbClr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1033272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9020" name="Long cone GK"/>
          <p:cNvSpPr/>
          <p:nvPr/>
        </p:nvSpPr>
        <p:spPr>
          <a:xfrm>
            <a:off x="10970605" y="1844893"/>
            <a:ext cx="1193109" cy="1193109"/>
          </a:xfrm>
          <a:prstGeom prst="pie">
            <a:avLst>
              <a:gd name="adj1" fmla="val 14100000"/>
              <a:gd name="adj2" fmla="val 18300000"/>
            </a:avLst>
          </a:prstGeom>
          <a:solidFill>
            <a:srgbClr val="1A1A1A">
              <a:alpha val="20000"/>
            </a:srgbClr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TextBox 9020"/>
          <p:cNvSpPr txBox="1"/>
          <p:nvPr/>
        </p:nvSpPr>
        <p:spPr>
          <a:xfrm>
            <a:off x="11292840" y="2478024"/>
            <a:ext cx="5486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9022" name="Rectangle 9021"/>
          <p:cNvSpPr/>
          <p:nvPr/>
        </p:nvSpPr>
        <p:spPr>
          <a:xfrm>
            <a:off x="9144000" y="1600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3" name="TextBox 9022"/>
          <p:cNvSpPr txBox="1"/>
          <p:nvPr/>
        </p:nvSpPr>
        <p:spPr>
          <a:xfrm>
            <a:off x="9217152" y="1572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LONG VISION CONES  (≈8 m, standalone)</a:t>
            </a:r>
          </a:p>
        </p:txBody>
      </p:sp>
      <p:cxnSp>
        <p:nvCxnSpPr>
          <p:cNvPr id="9024" name="Connector 9023"/>
          <p:cNvCxnSpPr/>
          <p:nvPr/>
        </p:nvCxnSpPr>
        <p:spPr>
          <a:xfrm>
            <a:off x="137160" y="2670048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008" name="scan_A"/>
          <p:cNvGrpSpPr/>
          <p:nvPr/>
        </p:nvGrpSpPr>
        <p:grpSpPr>
          <a:xfrm>
            <a:off x="248717" y="2690165"/>
            <a:ext cx="819302" cy="819302"/>
            <a:chOff x="248717" y="2690165"/>
            <a:chExt cx="819302" cy="819302"/>
          </a:xfrm>
        </p:grpSpPr>
        <p:sp>
          <p:nvSpPr>
            <p:cNvPr id="9025" name="Pie 9024"/>
            <p:cNvSpPr/>
            <p:nvPr/>
          </p:nvSpPr>
          <p:spPr>
            <a:xfrm>
              <a:off x="24871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0057B8">
                <a:alpha val="10000"/>
              </a:srgbClr>
            </a:solidFill>
            <a:ln w="12700">
              <a:solidFill>
                <a:srgbClr val="0057B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6" name="Oval 9025"/>
            <p:cNvSpPr/>
            <p:nvPr/>
          </p:nvSpPr>
          <p:spPr>
            <a:xfrm>
              <a:off x="594360" y="3035808"/>
              <a:ext cx="128016" cy="128016"/>
            </a:xfrm>
            <a:prstGeom prst="ellipse">
              <a:avLst/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27" name="TextBox 9026"/>
          <p:cNvSpPr txBox="1"/>
          <p:nvPr/>
        </p:nvSpPr>
        <p:spPr>
          <a:xfrm>
            <a:off x="52120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grpSp>
        <p:nvGrpSpPr>
          <p:cNvPr id="9009" name="scan_D"/>
          <p:cNvGrpSpPr/>
          <p:nvPr/>
        </p:nvGrpSpPr>
        <p:grpSpPr>
          <a:xfrm>
            <a:off x="1254557" y="2690165"/>
            <a:ext cx="819302" cy="819302"/>
            <a:chOff x="1254557" y="2690165"/>
            <a:chExt cx="819302" cy="819302"/>
          </a:xfrm>
        </p:grpSpPr>
        <p:sp>
          <p:nvSpPr>
            <p:cNvPr id="9028" name="Pie 9027"/>
            <p:cNvSpPr/>
            <p:nvPr/>
          </p:nvSpPr>
          <p:spPr>
            <a:xfrm>
              <a:off x="125455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6B6B6B">
                <a:alpha val="10000"/>
              </a:srgbClr>
            </a:solidFill>
            <a:ln w="1270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Oval 9028"/>
            <p:cNvSpPr/>
            <p:nvPr/>
          </p:nvSpPr>
          <p:spPr>
            <a:xfrm>
              <a:off x="1600200" y="3035808"/>
              <a:ext cx="128016" cy="12801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6B6B6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6B6B6B"/>
                  </a:solidFill>
                  <a:latin typeface="Calibri"/>
                </a:rPr>
                <a:t>D</a:t>
              </a:r>
            </a:p>
          </p:txBody>
        </p:sp>
      </p:grpSp>
      <p:sp>
        <p:nvSpPr>
          <p:cNvPr id="9030" name="TextBox 9029"/>
          <p:cNvSpPr txBox="1"/>
          <p:nvPr/>
        </p:nvSpPr>
        <p:spPr>
          <a:xfrm>
            <a:off x="152704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grpSp>
        <p:nvGrpSpPr>
          <p:cNvPr id="9010" name="scan_G"/>
          <p:cNvGrpSpPr/>
          <p:nvPr/>
        </p:nvGrpSpPr>
        <p:grpSpPr>
          <a:xfrm>
            <a:off x="2260397" y="2690165"/>
            <a:ext cx="819302" cy="819302"/>
            <a:chOff x="2260397" y="2690165"/>
            <a:chExt cx="819302" cy="819302"/>
          </a:xfrm>
        </p:grpSpPr>
        <p:sp>
          <p:nvSpPr>
            <p:cNvPr id="9031" name="Pie 9030"/>
            <p:cNvSpPr/>
            <p:nvPr/>
          </p:nvSpPr>
          <p:spPr>
            <a:xfrm>
              <a:off x="2260397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1A1A1A">
                <a:alpha val="10000"/>
              </a:srgbClr>
            </a:solidFill>
            <a:ln w="12700">
              <a:solidFill>
                <a:srgbClr val="1A1A1A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2" name="Oval 9031"/>
            <p:cNvSpPr/>
            <p:nvPr/>
          </p:nvSpPr>
          <p:spPr>
            <a:xfrm>
              <a:off x="2606040" y="3035808"/>
              <a:ext cx="128016" cy="128016"/>
            </a:xfrm>
            <a:prstGeom prst="ellipse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0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G</a:t>
              </a:r>
            </a:p>
          </p:txBody>
        </p:sp>
      </p:grpSp>
      <p:sp>
        <p:nvSpPr>
          <p:cNvPr id="9033" name="TextBox 9032"/>
          <p:cNvSpPr txBox="1"/>
          <p:nvPr/>
        </p:nvSpPr>
        <p:spPr>
          <a:xfrm>
            <a:off x="2532888" y="3218688"/>
            <a:ext cx="45720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grpSp>
        <p:nvGrpSpPr>
          <p:cNvPr id="9011" name="combined_A"/>
          <p:cNvGrpSpPr/>
          <p:nvPr/>
        </p:nvGrpSpPr>
        <p:grpSpPr>
          <a:xfrm>
            <a:off x="3385109" y="2690165"/>
            <a:ext cx="819302" cy="819302"/>
            <a:chOff x="3385109" y="2690165"/>
            <a:chExt cx="819302" cy="819302"/>
          </a:xfrm>
        </p:grpSpPr>
        <p:sp>
          <p:nvSpPr>
            <p:cNvPr id="9034" name="Pie 9033"/>
            <p:cNvSpPr/>
            <p:nvPr/>
          </p:nvSpPr>
          <p:spPr>
            <a:xfrm>
              <a:off x="3385109" y="2690165"/>
              <a:ext cx="819302" cy="819302"/>
            </a:xfrm>
            <a:prstGeom prst="pie">
              <a:avLst>
                <a:gd name="adj1" fmla="val 10800000"/>
                <a:gd name="adj2" fmla="val 21600000"/>
              </a:avLst>
            </a:prstGeom>
            <a:solidFill>
              <a:srgbClr val="0057B8">
                <a:alpha val="10000"/>
              </a:srgbClr>
            </a:solidFill>
            <a:ln w="12700">
              <a:solidFill>
                <a:srgbClr val="0057B8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5" name="Pie 9034"/>
            <p:cNvSpPr/>
            <p:nvPr/>
          </p:nvSpPr>
          <p:spPr>
            <a:xfrm>
              <a:off x="3570732" y="2875788"/>
              <a:ext cx="448056" cy="448056"/>
            </a:xfrm>
            <a:prstGeom prst="pie">
              <a:avLst>
                <a:gd name="adj1" fmla="val 14100000"/>
                <a:gd name="adj2" fmla="val 18300000"/>
              </a:avLst>
            </a:prstGeom>
            <a:solidFill>
              <a:srgbClr val="0057B8">
                <a:alpha val="22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6" name="Chord 9035"/>
            <p:cNvSpPr/>
            <p:nvPr/>
          </p:nvSpPr>
          <p:spPr>
            <a:xfrm>
              <a:off x="3730752" y="3035808"/>
              <a:ext cx="128016" cy="128016"/>
            </a:xfrm>
            <a:prstGeom prst="chord">
              <a:avLst>
                <a:gd name="adj1" fmla="val 9000000"/>
                <a:gd name="adj2" fmla="val 1800000"/>
              </a:avLst>
            </a:prstGeom>
            <a:solidFill>
              <a:srgbClr val="0057B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0" rIns="0" tIns="0" bIns="27432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Calibri"/>
                </a:rPr>
                <a:t>A</a:t>
              </a:r>
            </a:p>
          </p:txBody>
        </p:sp>
      </p:grpSp>
      <p:sp>
        <p:nvSpPr>
          <p:cNvPr id="9037" name="TextBox 9036"/>
          <p:cNvSpPr txBox="1"/>
          <p:nvPr/>
        </p:nvSpPr>
        <p:spPr>
          <a:xfrm>
            <a:off x="3602736" y="3218688"/>
            <a:ext cx="53035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Combined</a:t>
            </a:r>
          </a:p>
        </p:txBody>
      </p:sp>
      <p:sp>
        <p:nvSpPr>
          <p:cNvPr id="9038" name="Rectangle 9037"/>
          <p:cNvSpPr/>
          <p:nvPr/>
        </p:nvSpPr>
        <p:spPr>
          <a:xfrm>
            <a:off x="365760" y="274320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9" name="TextBox 9038"/>
          <p:cNvSpPr txBox="1"/>
          <p:nvPr/>
        </p:nvSpPr>
        <p:spPr>
          <a:xfrm>
            <a:off x="438912" y="271576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SCANNING AWARENESS ZONE  (180°, ≈5.5 m at court scale)</a:t>
            </a:r>
          </a:p>
        </p:txBody>
      </p:sp>
      <p:sp>
        <p:nvSpPr>
          <p:cNvPr id="9040" name="TextBox 9039"/>
          <p:cNvSpPr txBox="1"/>
          <p:nvPr/>
        </p:nvSpPr>
        <p:spPr>
          <a:xfrm>
            <a:off x="4617720" y="2761488"/>
            <a:ext cx="7223760" cy="9144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50" b="1" lang="en-GB">
                <a:solidFill>
                  <a:srgbClr val="1A1A1A"/>
                </a:solidFill>
                <a:latin typeface="Calibri"/>
              </a:rPr>
              <a:t>SCANNING AWARENESS  ·  VISION CONE  ·  BODY SHAPE</a:t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Scan zone (180°, dashed, very light) = the full area a player actively sweeps before receiving — peripheral awareness, not just facing direction.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6B6B6B"/>
                </a:solidFill>
                <a:latin typeface="Calibri"/>
              </a:rPr>
              <a:t>Vision cone (70°, solid) = immediate focus and field of view. Scan zone + vision cone together show the difference between what a player checks and what they commit to.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COMBINED example (left): all three layers in one group. Rotate the whole group to orient the player. Use standalone or combined — each is a separate object.</a:t>
            </a:r>
          </a:p>
        </p:txBody>
      </p:sp>
      <p:cxnSp>
        <p:nvCxnSpPr>
          <p:cNvPr id="9041" name="Connector 9040"/>
          <p:cNvCxnSpPr/>
          <p:nvPr/>
        </p:nvCxnSpPr>
        <p:spPr>
          <a:xfrm>
            <a:off x="137160" y="379476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2" name="TextBox 9041"/>
          <p:cNvSpPr txBox="1"/>
          <p:nvPr/>
        </p:nvSpPr>
        <p:spPr>
          <a:xfrm>
            <a:off x="365760" y="3849624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0057B8"/>
                </a:solidFill>
                <a:latin typeface="Calibri"/>
              </a:rPr>
              <a:t>TEAM A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your team</a:t>
            </a:r>
          </a:p>
        </p:txBody>
      </p:sp>
      <p:sp>
        <p:nvSpPr>
          <p:cNvPr id="9043" name="Chord 9042"/>
          <p:cNvSpPr/>
          <p:nvPr/>
        </p:nvSpPr>
        <p:spPr>
          <a:xfrm>
            <a:off x="41148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44" name="Chord 9043"/>
          <p:cNvSpPr/>
          <p:nvPr/>
        </p:nvSpPr>
        <p:spPr>
          <a:xfrm>
            <a:off x="75895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45" name="Chord 9044"/>
          <p:cNvSpPr/>
          <p:nvPr/>
        </p:nvSpPr>
        <p:spPr>
          <a:xfrm>
            <a:off x="110642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46" name="Chord 9045"/>
          <p:cNvSpPr/>
          <p:nvPr/>
        </p:nvSpPr>
        <p:spPr>
          <a:xfrm>
            <a:off x="145389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47" name="Chord 9046"/>
          <p:cNvSpPr/>
          <p:nvPr/>
        </p:nvSpPr>
        <p:spPr>
          <a:xfrm>
            <a:off x="180136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48" name="TextBox 9047"/>
          <p:cNvSpPr txBox="1"/>
          <p:nvPr/>
        </p:nvSpPr>
        <p:spPr>
          <a:xfrm>
            <a:off x="2514600" y="3849624"/>
            <a:ext cx="27432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1A1A1A"/>
                </a:solidFill>
                <a:latin typeface="Calibri"/>
              </a:rPr>
              <a:t>TEAM B  </a:t>
            </a:r>
            <a:r>
              <a:rPr sz="750" b="0" lang="en-GB">
                <a:solidFill>
                  <a:srgbClr val="6B6B6B"/>
                </a:solidFill>
                <a:latin typeface="Calibri"/>
              </a:rPr>
              <a:t>opposition — change fill colour to match</a:t>
            </a:r>
          </a:p>
        </p:txBody>
      </p:sp>
      <p:sp>
        <p:nvSpPr>
          <p:cNvPr id="9049" name="Chord 9048"/>
          <p:cNvSpPr/>
          <p:nvPr/>
        </p:nvSpPr>
        <p:spPr>
          <a:xfrm>
            <a:off x="2560320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50" name="Chord 9049"/>
          <p:cNvSpPr/>
          <p:nvPr/>
        </p:nvSpPr>
        <p:spPr>
          <a:xfrm>
            <a:off x="2907792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51" name="Chord 9050"/>
          <p:cNvSpPr/>
          <p:nvPr/>
        </p:nvSpPr>
        <p:spPr>
          <a:xfrm>
            <a:off x="3255264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052" name="Chord 9051"/>
          <p:cNvSpPr/>
          <p:nvPr/>
        </p:nvSpPr>
        <p:spPr>
          <a:xfrm>
            <a:off x="3602736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053" name="Chord 9052"/>
          <p:cNvSpPr/>
          <p:nvPr/>
        </p:nvSpPr>
        <p:spPr>
          <a:xfrm>
            <a:off x="3950208" y="4069080"/>
            <a:ext cx="128016" cy="128016"/>
          </a:xfrm>
          <a:prstGeom prst="chord">
            <a:avLst>
              <a:gd name="adj1" fmla="val 9000000"/>
              <a:gd name="adj2" fmla="val 1800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27432"/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054" name="TextBox 9053"/>
          <p:cNvSpPr txBox="1"/>
          <p:nvPr/>
        </p:nvSpPr>
        <p:spPr>
          <a:xfrm>
            <a:off x="5029200" y="3849624"/>
            <a:ext cx="68580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SCALE + COLOUR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Markers are at true court scale. Team pucks carry body shape: rotate any puck to angle the shoulders. To recolour Team B: select all 5 → Format Shape → Fill.</a:t>
            </a:r>
          </a:p>
        </p:txBody>
      </p:sp>
      <p:cxnSp>
        <p:nvCxnSpPr>
          <p:cNvPr id="9055" name="Connector 9054"/>
          <p:cNvCxnSpPr/>
          <p:nvPr/>
        </p:nvCxnSpPr>
        <p:spPr>
          <a:xfrm>
            <a:off x="137160" y="4434840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6" name="Rectangle 9055"/>
          <p:cNvSpPr/>
          <p:nvPr/>
        </p:nvSpPr>
        <p:spPr>
          <a:xfrm>
            <a:off x="365760" y="452628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7" name="TextBox 9056"/>
          <p:cNvSpPr txBox="1"/>
          <p:nvPr/>
        </p:nvSpPr>
        <p:spPr>
          <a:xfrm>
            <a:off x="438912" y="449884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FULL COURT  (40m × 20m)</a:t>
            </a:r>
          </a:p>
        </p:txBody>
      </p:sp>
      <p:grpSp>
        <p:nvGrpSpPr>
          <p:cNvPr id="9012" name="Library full court"/>
          <p:cNvGrpSpPr/>
          <p:nvPr/>
        </p:nvGrpSpPr>
        <p:grpSpPr>
          <a:xfrm>
            <a:off x="438912" y="4754880"/>
            <a:ext cx="3602736" cy="1737360"/>
            <a:chOff x="438912" y="4754880"/>
            <a:chExt cx="3602736" cy="1737360"/>
          </a:xfrm>
        </p:grpSpPr>
        <p:sp>
          <p:nvSpPr>
            <p:cNvPr id="9058" name="Rectangle 9057"/>
            <p:cNvSpPr/>
            <p:nvPr/>
          </p:nvSpPr>
          <p:spPr>
            <a:xfrm>
              <a:off x="502920" y="4754880"/>
              <a:ext cx="3474720" cy="173736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9" name="Connector 9058"/>
            <p:cNvCxnSpPr/>
            <p:nvPr/>
          </p:nvCxnSpPr>
          <p:spPr>
            <a:xfrm>
              <a:off x="2240280" y="4754880"/>
              <a:ext cx="0" cy="173736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0" name="Oval 9059"/>
            <p:cNvSpPr/>
            <p:nvPr/>
          </p:nvSpPr>
          <p:spPr>
            <a:xfrm>
              <a:off x="1979676" y="5362956"/>
              <a:ext cx="521208" cy="521208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1" name="Oval 9060"/>
            <p:cNvSpPr/>
            <p:nvPr/>
          </p:nvSpPr>
          <p:spPr>
            <a:xfrm>
              <a:off x="222427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2" name="Arc 9061"/>
            <p:cNvSpPr/>
            <p:nvPr/>
          </p:nvSpPr>
          <p:spPr>
            <a:xfrm>
              <a:off x="-18288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3" name="Arc 9062"/>
            <p:cNvSpPr/>
            <p:nvPr/>
          </p:nvSpPr>
          <p:spPr>
            <a:xfrm>
              <a:off x="-18288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64" name="Connector 9063"/>
            <p:cNvCxnSpPr/>
            <p:nvPr/>
          </p:nvCxnSpPr>
          <p:spPr>
            <a:xfrm>
              <a:off x="1024128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5" name="Oval 9064"/>
            <p:cNvSpPr/>
            <p:nvPr/>
          </p:nvSpPr>
          <p:spPr>
            <a:xfrm>
              <a:off x="1008126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6" name="Oval 9065"/>
            <p:cNvSpPr/>
            <p:nvPr/>
          </p:nvSpPr>
          <p:spPr>
            <a:xfrm>
              <a:off x="135559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7" name="Rectangle 9066"/>
            <p:cNvSpPr/>
            <p:nvPr/>
          </p:nvSpPr>
          <p:spPr>
            <a:xfrm>
              <a:off x="438912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8" name="Arc 9067"/>
            <p:cNvSpPr/>
            <p:nvPr/>
          </p:nvSpPr>
          <p:spPr>
            <a:xfrm>
              <a:off x="3456432" y="4972050"/>
              <a:ext cx="1042416" cy="1042416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9" name="Arc 9068"/>
            <p:cNvSpPr/>
            <p:nvPr/>
          </p:nvSpPr>
          <p:spPr>
            <a:xfrm>
              <a:off x="3456432" y="5232654"/>
              <a:ext cx="1042416" cy="1042416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0" name="Connector 9069"/>
            <p:cNvCxnSpPr/>
            <p:nvPr/>
          </p:nvCxnSpPr>
          <p:spPr>
            <a:xfrm>
              <a:off x="3456432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1" name="Oval 9070"/>
            <p:cNvSpPr/>
            <p:nvPr/>
          </p:nvSpPr>
          <p:spPr>
            <a:xfrm>
              <a:off x="3440430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2" name="Oval 9071"/>
            <p:cNvSpPr/>
            <p:nvPr/>
          </p:nvSpPr>
          <p:spPr>
            <a:xfrm>
              <a:off x="309295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Rectangle 9072"/>
            <p:cNvSpPr/>
            <p:nvPr/>
          </p:nvSpPr>
          <p:spPr>
            <a:xfrm>
              <a:off x="3977640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74" name="Rectangle 9073"/>
          <p:cNvSpPr/>
          <p:nvPr/>
        </p:nvSpPr>
        <p:spPr>
          <a:xfrm>
            <a:off x="5120640" y="452628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5" name="TextBox 9074"/>
          <p:cNvSpPr txBox="1"/>
          <p:nvPr/>
        </p:nvSpPr>
        <p:spPr>
          <a:xfrm>
            <a:off x="5193792" y="449884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HALF COURT  (20m × 20m)</a:t>
            </a:r>
          </a:p>
        </p:txBody>
      </p:sp>
      <p:grpSp>
        <p:nvGrpSpPr>
          <p:cNvPr id="9013" name="Library half court"/>
          <p:cNvGrpSpPr/>
          <p:nvPr/>
        </p:nvGrpSpPr>
        <p:grpSpPr>
          <a:xfrm>
            <a:off x="5193792" y="4754880"/>
            <a:ext cx="1801368" cy="1737360"/>
            <a:chOff x="5193792" y="4754880"/>
            <a:chExt cx="1801368" cy="1737360"/>
          </a:xfrm>
        </p:grpSpPr>
        <p:sp>
          <p:nvSpPr>
            <p:cNvPr id="9076" name="Rectangle 9075"/>
            <p:cNvSpPr/>
            <p:nvPr/>
          </p:nvSpPr>
          <p:spPr>
            <a:xfrm>
              <a:off x="5257800" y="4754880"/>
              <a:ext cx="1737360" cy="173736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7" name="Arc 9076"/>
            <p:cNvSpPr/>
            <p:nvPr/>
          </p:nvSpPr>
          <p:spPr>
            <a:xfrm>
              <a:off x="6734556" y="5362956"/>
              <a:ext cx="521208" cy="521208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697915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Arc 9078"/>
            <p:cNvSpPr/>
            <p:nvPr/>
          </p:nvSpPr>
          <p:spPr>
            <a:xfrm>
              <a:off x="4736592" y="4972050"/>
              <a:ext cx="1042416" cy="1042416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4736592" y="5232654"/>
              <a:ext cx="1042416" cy="1042416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1" name="Connector 9080"/>
            <p:cNvCxnSpPr/>
            <p:nvPr/>
          </p:nvCxnSpPr>
          <p:spPr>
            <a:xfrm>
              <a:off x="5779008" y="5493258"/>
              <a:ext cx="0" cy="260604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2" name="Oval 9081"/>
            <p:cNvSpPr/>
            <p:nvPr/>
          </p:nvSpPr>
          <p:spPr>
            <a:xfrm>
              <a:off x="5763006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3" name="Oval 9082"/>
            <p:cNvSpPr/>
            <p:nvPr/>
          </p:nvSpPr>
          <p:spPr>
            <a:xfrm>
              <a:off x="6110478" y="56075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Rectangle 9083"/>
            <p:cNvSpPr/>
            <p:nvPr/>
          </p:nvSpPr>
          <p:spPr>
            <a:xfrm>
              <a:off x="5193792" y="5493258"/>
              <a:ext cx="64008" cy="260604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85" name="TextBox 9084"/>
          <p:cNvSpPr txBox="1"/>
          <p:nvPr/>
        </p:nvSpPr>
        <p:spPr>
          <a:xfrm>
            <a:off x="7406640" y="4754880"/>
            <a:ext cx="4434840" cy="18288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USAGE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Courts are grouped — one click selects the whole court. Copy and paste into any diagram zone, resize to fit. Ungroup (Ctrl+Shift+G) to edit individual markings.</a:t>
            </a:r>
          </a:p>
          <a:p>
            <a:pPr algn="l"/>
            <a:r>
              <a:rPr sz="3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All shapes are unlocked. Numbers inside markers are editable — double-click to change. To recolour: select shapes → Format Shape → Fill.</a:t>
            </a:r>
          </a:p>
        </p:txBody>
      </p:sp>
      <p:sp>
        <p:nvSpPr>
          <p:cNvPr id="9086" name="TextBox 9085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COMPONENT LIBRARY  —  court-scale tactical symbols  ·  scan zone (180°, 5.5 m) · vision cone (70°, 3 m) · long cone (8 m, standalone) · body puck · rotate to orient · combined group available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1179576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SESSION CONTROL BOARD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The session as an instrument, not a document — time, load, tactical balance, rotations and the review loop on one surface. Plan it here, audit it here, seed next week here.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649224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621792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TEMPO + LOAD TIMELINE  (width = time)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40" y="603504"/>
            <a:ext cx="8183880" cy="36576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0" lang="en-GB">
                <a:solidFill>
                  <a:srgbClr val="6B6B6B"/>
                </a:solidFill>
                <a:latin typeface="Calibri"/>
              </a:rPr>
              <a:t>Bars are minutes — drag a bar edge to your real timings. Diamonds = planned intensity: drag one and the curve stays attached. After the session, copy the diamonds, recolour grey, set actual — instant planned vs actual.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19385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8653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17099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16367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14813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2920" y="14081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" y="12527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11795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1024128"/>
            <a:ext cx="1083564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950976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600" b="0" lang="en-GB">
                <a:solidFill>
                  <a:srgbClr val="6B6B6B"/>
                </a:solidFill>
                <a:latin typeface="Calibri"/>
              </a:rPr>
              <a:t>RPE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2103120"/>
            <a:ext cx="1805940" cy="256032"/>
          </a:xfrm>
          <a:prstGeom prst="rect">
            <a:avLst/>
          </a:prstGeom>
          <a:solidFill>
            <a:srgbClr val="0057B8">
              <a:alpha val="15000"/>
            </a:srgbClr>
          </a:solidFill>
          <a:ln w="952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2153412"/>
            <a:ext cx="176936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01  WARM UP · 15'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3760" y="2103120"/>
            <a:ext cx="2407920" cy="256032"/>
          </a:xfrm>
          <a:prstGeom prst="rect">
            <a:avLst/>
          </a:prstGeom>
          <a:solidFill>
            <a:srgbClr val="0057B8">
              <a:alpha val="15000"/>
            </a:srgbClr>
          </a:solidFill>
          <a:ln w="952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32048" y="2153412"/>
            <a:ext cx="23713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02  TECHNICAL · 20'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23660" y="2103120"/>
            <a:ext cx="2407920" cy="256032"/>
          </a:xfrm>
          <a:prstGeom prst="rect">
            <a:avLst/>
          </a:prstGeom>
          <a:solidFill>
            <a:srgbClr val="0057B8">
              <a:alpha val="15000"/>
            </a:srgbClr>
          </a:solidFill>
          <a:ln w="952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2153412"/>
            <a:ext cx="23713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03  TACTICAL · 20'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33560" y="2103120"/>
            <a:ext cx="2407920" cy="256032"/>
          </a:xfrm>
          <a:prstGeom prst="rect">
            <a:avLst/>
          </a:prstGeom>
          <a:solidFill>
            <a:srgbClr val="0057B8">
              <a:alpha val="15000"/>
            </a:srgbClr>
          </a:solidFill>
          <a:ln w="952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1848" y="2153412"/>
            <a:ext cx="2371344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1A1A1A"/>
                </a:solidFill>
                <a:latin typeface="Calibri"/>
              </a:rPr>
              <a:t>04  GAME · 20'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1780" y="2103120"/>
            <a:ext cx="601980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1780" y="2153412"/>
            <a:ext cx="6019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1" lang="en-GB">
                <a:solidFill>
                  <a:srgbClr val="6B6B6B"/>
                </a:solidFill>
                <a:latin typeface="Calibri"/>
              </a:rPr>
              <a:t>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21680" y="2103120"/>
            <a:ext cx="601980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21680" y="2153412"/>
            <a:ext cx="6019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1" lang="en-GB">
                <a:solidFill>
                  <a:srgbClr val="6B6B6B"/>
                </a:solidFill>
                <a:latin typeface="Calibri"/>
              </a:rPr>
              <a:t>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31580" y="2103120"/>
            <a:ext cx="601980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1580" y="2153412"/>
            <a:ext cx="6019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50" b="1" lang="en-GB">
                <a:solidFill>
                  <a:srgbClr val="6B6B6B"/>
                </a:solidFill>
                <a:latin typeface="Calibri"/>
              </a:rPr>
              <a:t>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60782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0980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81178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62890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15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41376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1574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61772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43484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30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21970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82168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42366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24078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45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2564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2762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2960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4672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60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83158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43356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03554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85266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75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63752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239500" y="2359152"/>
            <a:ext cx="0" cy="27432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841480" y="2359152"/>
            <a:ext cx="0" cy="45720"/>
          </a:xfrm>
          <a:prstGeom prst="line">
            <a:avLst/>
          </a:prstGeom>
          <a:ln w="6350">
            <a:solidFill>
              <a:srgbClr val="6B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1658600" y="2404872"/>
            <a:ext cx="365760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0" lang="en-GB">
                <a:solidFill>
                  <a:srgbClr val="6B6B6B"/>
                </a:solidFill>
                <a:latin typeface="Calibri"/>
              </a:rPr>
              <a:t>90</a:t>
            </a:r>
          </a:p>
        </p:txBody>
      </p:sp>
      <p:sp>
        <p:nvSpPr>
          <p:cNvPr id="57" name="Diamond 56"/>
          <p:cNvSpPr/>
          <p:nvPr/>
        </p:nvSpPr>
        <p:spPr>
          <a:xfrm>
            <a:off x="950976" y="16550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iamond 57"/>
          <p:cNvSpPr/>
          <p:nvPr/>
        </p:nvSpPr>
        <p:spPr>
          <a:xfrm>
            <a:off x="2756916" y="14264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58896" y="15407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iamond 59"/>
          <p:cNvSpPr/>
          <p:nvPr/>
        </p:nvSpPr>
        <p:spPr>
          <a:xfrm>
            <a:off x="5766816" y="11978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iamond 60"/>
          <p:cNvSpPr/>
          <p:nvPr/>
        </p:nvSpPr>
        <p:spPr>
          <a:xfrm>
            <a:off x="6368796" y="13121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iamond 61"/>
          <p:cNvSpPr/>
          <p:nvPr/>
        </p:nvSpPr>
        <p:spPr>
          <a:xfrm>
            <a:off x="8776716" y="10835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iamond 62"/>
          <p:cNvSpPr/>
          <p:nvPr/>
        </p:nvSpPr>
        <p:spPr>
          <a:xfrm>
            <a:off x="9378696" y="11978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iamond 63"/>
          <p:cNvSpPr/>
          <p:nvPr/>
        </p:nvSpPr>
        <p:spPr>
          <a:xfrm>
            <a:off x="11786616" y="969264"/>
            <a:ext cx="109728" cy="109728"/>
          </a:xfrm>
          <a:prstGeom prst="diamond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>
            <a:stCxn id="57" idx="3"/>
            <a:endCxn id="58" idx="1"/>
          </p:cNvCxnSpPr>
          <p:nvPr/>
        </p:nvCxnSpPr>
        <p:spPr>
          <a:xfrm flipV="1">
            <a:off x="1060704" y="1481328"/>
            <a:ext cx="1696212" cy="228600"/>
          </a:xfrm>
          <a:prstGeom prst="line">
            <a:avLst/>
          </a:prstGeom>
          <a:ln w="19050">
            <a:solidFill>
              <a:srgbClr val="0057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>
            <a:stCxn id="58" idx="3"/>
            <a:endCxn id="59" idx="1"/>
          </p:cNvCxnSpPr>
          <p:nvPr/>
        </p:nvCxnSpPr>
        <p:spPr>
          <a:xfrm>
            <a:off x="2866644" y="1481328"/>
            <a:ext cx="492252" cy="114300"/>
          </a:xfrm>
          <a:prstGeom prst="line">
            <a:avLst/>
          </a:prstGeom>
          <a:ln w="19050">
            <a:solidFill>
              <a:srgbClr val="0057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>
            <a:stCxn id="59" idx="3"/>
            <a:endCxn id="60" idx="1"/>
          </p:cNvCxnSpPr>
          <p:nvPr/>
        </p:nvCxnSpPr>
        <p:spPr>
          <a:xfrm flipV="1">
            <a:off x="3468624" y="1252728"/>
            <a:ext cx="2298192" cy="342900"/>
          </a:xfrm>
          <a:prstGeom prst="line">
            <a:avLst/>
          </a:prstGeom>
          <a:ln w="19050">
            <a:solidFill>
              <a:srgbClr val="0057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>
            <a:stCxn id="60" idx="3"/>
            <a:endCxn id="61" idx="1"/>
          </p:cNvCxnSpPr>
          <p:nvPr/>
        </p:nvCxnSpPr>
        <p:spPr>
          <a:xfrm>
            <a:off x="5876544" y="1252728"/>
            <a:ext cx="492252" cy="114300"/>
          </a:xfrm>
          <a:prstGeom prst="line">
            <a:avLst/>
          </a:prstGeom>
          <a:ln w="19050">
            <a:solidFill>
              <a:srgbClr val="0057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>
            <a:stCxn id="61" idx="3"/>
            <a:endCxn id="62" idx="1"/>
          </p:cNvCxnSpPr>
          <p:nvPr/>
        </p:nvCxnSpPr>
        <p:spPr>
          <a:xfrm flipV="1">
            <a:off x="6478524" y="1138428"/>
            <a:ext cx="2298192" cy="228600"/>
          </a:xfrm>
          <a:prstGeom prst="line">
            <a:avLst/>
          </a:prstGeom>
          <a:ln w="19050">
            <a:solidFill>
              <a:srgbClr val="0057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stCxn id="62" idx="3"/>
            <a:endCxn id="63" idx="1"/>
          </p:cNvCxnSpPr>
          <p:nvPr/>
        </p:nvCxnSpPr>
        <p:spPr>
          <a:xfrm>
            <a:off x="8886444" y="1138428"/>
            <a:ext cx="492252" cy="114300"/>
          </a:xfrm>
          <a:prstGeom prst="line">
            <a:avLst/>
          </a:prstGeom>
          <a:ln w="19050">
            <a:solidFill>
              <a:srgbClr val="0057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63" idx="3"/>
            <a:endCxn id="64" idx="1"/>
          </p:cNvCxnSpPr>
          <p:nvPr/>
        </p:nvCxnSpPr>
        <p:spPr>
          <a:xfrm flipV="1">
            <a:off x="9488424" y="1024128"/>
            <a:ext cx="2298192" cy="228600"/>
          </a:xfrm>
          <a:prstGeom prst="line">
            <a:avLst/>
          </a:prstGeom>
          <a:ln w="19050">
            <a:solidFill>
              <a:srgbClr val="0057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37160" y="2633472"/>
            <a:ext cx="11917375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365760" y="2752344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8912" y="2724912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GAME-MOMENT FINGERPRINT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4048" y="2907792"/>
            <a:ext cx="402336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0" lang="en-GB">
                <a:solidFill>
                  <a:srgbClr val="6B6B6B"/>
                </a:solidFill>
                <a:latin typeface="Calibri"/>
              </a:rPr>
              <a:t>Where does this session actually live? Fill before you coach.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1328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ATT ORG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66544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DEF ORG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651760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ATT→DEF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36976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DEF→ATT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22192" y="3108960"/>
            <a:ext cx="585216" cy="12801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SET PLAY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048" y="3328416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01  WARM UP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645920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231136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816352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401568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86784" y="3291840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84048" y="3675888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02  TECHNICAL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45920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231136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816352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01568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986784" y="3639312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4048" y="4023360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03  TACTICAL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645920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231136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816352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401568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986784" y="3986784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84048" y="4370832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1A1A1A"/>
                </a:solidFill>
                <a:latin typeface="Calibri"/>
              </a:rPr>
              <a:t>04  GAME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645920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231136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816352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401568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986784" y="4334256"/>
            <a:ext cx="25603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4048" y="4736592"/>
            <a:ext cx="1078992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MINUTES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81328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66544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651760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236976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22192" y="4718304"/>
            <a:ext cx="585216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800" b="1" lang="en-GB">
                <a:solidFill>
                  <a:srgbClr val="1A1A1A"/>
                </a:solidFill>
                <a:latin typeface="Calibri"/>
              </a:rPr>
              <a:t>[  ]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84048" y="4992624"/>
            <a:ext cx="128016" cy="12801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8640" y="4974336"/>
            <a:ext cx="100584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PRIMARY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280160" y="4992624"/>
            <a:ext cx="128016" cy="12801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444752" y="4974336"/>
            <a:ext cx="301752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SECONDARY  ·  click a square → Fill to mark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709160" y="2752344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782312" y="2724912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ROTATION BOARD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727448" y="2907792"/>
            <a:ext cx="301752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00" b="0" lang="en-GB">
                <a:solidFill>
                  <a:srgbClr val="6B6B6B"/>
                </a:solidFill>
                <a:latin typeface="Calibri"/>
              </a:rPr>
              <a:t>A / B = team   N = neutral   G = GK   R = rest</a:t>
            </a:r>
          </a:p>
        </p:txBody>
      </p:sp>
      <p:graphicFrame>
        <p:nvGraphicFramePr>
          <p:cNvPr id="118" name="Table 117"/>
          <p:cNvGraphicFramePr>
            <a:graphicFrameLocks noGrp="1"/>
          </p:cNvGraphicFramePr>
          <p:nvPr/>
        </p:nvGraphicFramePr>
        <p:xfrm>
          <a:off x="4709160" y="3145536"/>
          <a:ext cx="3017520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4048"/>
                <a:gridCol w="950976"/>
                <a:gridCol w="420624"/>
                <a:gridCol w="420624"/>
                <a:gridCol w="420624"/>
                <a:gridCol w="420624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1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19" name="TextBox 118"/>
          <p:cNvSpPr txBox="1"/>
          <p:nvPr/>
        </p:nvSpPr>
        <p:spPr>
          <a:xfrm>
            <a:off x="4709160" y="6455664"/>
            <a:ext cx="3017520" cy="18288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Empty cells are visible before the session — nobody hides.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01000" y="2752344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074152" y="2724912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REVIEW LOOP  —  close it in the hall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001000" y="2999232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055864" y="3035808"/>
            <a:ext cx="3730752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WHAT WORKED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— be specific]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9921240" y="3547872"/>
            <a:ext cx="0" cy="109728"/>
          </a:xfrm>
          <a:prstGeom prst="line">
            <a:avLst/>
          </a:prstGeom>
          <a:ln w="127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8001000" y="3657600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055864" y="3694176"/>
            <a:ext cx="3730752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WHAT TO CHANGE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— one constraint to adjust]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9921240" y="4206240"/>
            <a:ext cx="0" cy="109728"/>
          </a:xfrm>
          <a:prstGeom prst="line">
            <a:avLst/>
          </a:prstGeom>
          <a:ln w="127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tangle 127"/>
          <p:cNvSpPr/>
          <p:nvPr/>
        </p:nvSpPr>
        <p:spPr>
          <a:xfrm>
            <a:off x="8001000" y="4315968"/>
            <a:ext cx="3840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055864" y="4352544"/>
            <a:ext cx="3730752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CARRY FORWARD → NEXT SESSION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— paste into next week's SESSION THEME]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16636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38912" y="513892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SESSION AUDIT  —  the numbers nobody tracks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84048" y="5413248"/>
            <a:ext cx="1975104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0624" y="5431536"/>
            <a:ext cx="1901952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BALL-ROLLING TIME  (%)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0624" y="5650992"/>
            <a:ext cx="1901952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450592" y="5413248"/>
            <a:ext cx="1975104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487168" y="5431536"/>
            <a:ext cx="1901952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COACH TALK TIME  (min)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487168" y="5650992"/>
            <a:ext cx="1901952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84048" y="5998464"/>
            <a:ext cx="1975104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20624" y="6016752"/>
            <a:ext cx="1901952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PLANNED AVG INTENSITY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0624" y="6236208"/>
            <a:ext cx="1901952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450592" y="5998464"/>
            <a:ext cx="1975104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487168" y="6016752"/>
            <a:ext cx="1901952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50" b="1" lang="en-GB">
                <a:solidFill>
                  <a:srgbClr val="6B6B6B"/>
                </a:solidFill>
                <a:latin typeface="Calibri"/>
              </a:rPr>
              <a:t>ACTUAL AVG INTENSITY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487168" y="6236208"/>
            <a:ext cx="1901952" cy="2377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001000" y="5166360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074152" y="5138928"/>
            <a:ext cx="2377440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NEXT SESSION SEED  —  first three decisions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028432" y="5413248"/>
            <a:ext cx="3813048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000" b="1" lang="en-GB">
                <a:solidFill>
                  <a:srgbClr val="0057B8"/>
                </a:solidFill>
                <a:latin typeface="Calibri"/>
              </a:rPr>
              <a:t>1 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decision]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8028432" y="5705856"/>
            <a:ext cx="3813048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028432" y="5797296"/>
            <a:ext cx="3813048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000" b="1" lang="en-GB">
                <a:solidFill>
                  <a:srgbClr val="0057B8"/>
                </a:solidFill>
                <a:latin typeface="Calibri"/>
              </a:rPr>
              <a:t>2 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decision]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8028432" y="6089904"/>
            <a:ext cx="3813048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028432" y="6181344"/>
            <a:ext cx="3813048" cy="2743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000" b="1" lang="en-GB">
                <a:solidFill>
                  <a:srgbClr val="0057B8"/>
                </a:solidFill>
                <a:latin typeface="Calibri"/>
              </a:rPr>
              <a:t>3 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decision]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8028432" y="6473952"/>
            <a:ext cx="3813048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SESSION CONTROL BOARD  —  width = time · drag intensity diamonds, the curve follows · fingerprint shows tactical balance · review loop seeds next week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1179576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ON-COURT CARDS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Print this slide, cut along the dashed lines: four pocket cards, one per block, in session order. Three cues maximum per card — if it needs more words, it belongs on the plan, not on court.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77240"/>
            <a:ext cx="64008" cy="2788920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3210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96012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92354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057B8"/>
                </a:solidFill>
                <a:latin typeface="Calibri"/>
              </a:rPr>
              <a:t>[Insert mins]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8074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8191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767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13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9014" name="Card court 01"/>
          <p:cNvGrpSpPr/>
          <p:nvPr/>
        </p:nvGrpSpPr>
        <p:grpSpPr>
          <a:xfrm>
            <a:off x="3822192" y="1645920"/>
            <a:ext cx="1865376" cy="868680"/>
            <a:chOff x="3822192" y="1645920"/>
            <a:chExt cx="1865376" cy="868680"/>
          </a:xfrm>
        </p:grpSpPr>
        <p:sp>
          <p:nvSpPr>
            <p:cNvPr id="13" name="Rectangle 12"/>
            <p:cNvSpPr/>
            <p:nvPr/>
          </p:nvSpPr>
          <p:spPr>
            <a:xfrm>
              <a:off x="3886200" y="1645920"/>
              <a:ext cx="1737360" cy="868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754880" y="1645920"/>
              <a:ext cx="0" cy="86868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/>
            <p:cNvSpPr/>
            <p:nvPr/>
          </p:nvSpPr>
          <p:spPr>
            <a:xfrm>
              <a:off x="4624578" y="1949958"/>
              <a:ext cx="260604" cy="260604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4738878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Arc 16"/>
            <p:cNvSpPr/>
            <p:nvPr/>
          </p:nvSpPr>
          <p:spPr>
            <a:xfrm>
              <a:off x="3625596" y="175450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Arc 17"/>
            <p:cNvSpPr/>
            <p:nvPr/>
          </p:nvSpPr>
          <p:spPr>
            <a:xfrm>
              <a:off x="3625596" y="188480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4146804" y="201510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/>
            <p:cNvSpPr/>
            <p:nvPr/>
          </p:nvSpPr>
          <p:spPr>
            <a:xfrm>
              <a:off x="4130802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304538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822192" y="201510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Arc 22"/>
            <p:cNvSpPr/>
            <p:nvPr/>
          </p:nvSpPr>
          <p:spPr>
            <a:xfrm>
              <a:off x="5362956" y="175450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Arc 23"/>
            <p:cNvSpPr/>
            <p:nvPr/>
          </p:nvSpPr>
          <p:spPr>
            <a:xfrm>
              <a:off x="5362956" y="188480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5362956" y="201510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5346954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5173218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623560" y="201510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15" name="Connector 9014"/>
          <p:cNvCxnSpPr/>
          <p:nvPr/>
        </p:nvCxnSpPr>
        <p:spPr>
          <a:xfrm>
            <a:off x="457200" y="289864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16" name="TextBox 9015"/>
          <p:cNvSpPr txBox="1"/>
          <p:nvPr/>
        </p:nvSpPr>
        <p:spPr>
          <a:xfrm>
            <a:off x="457200" y="297180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206240" y="297180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9018" name="Rectangle 9017"/>
          <p:cNvSpPr/>
          <p:nvPr/>
        </p:nvSpPr>
        <p:spPr>
          <a:xfrm>
            <a:off x="6400800" y="77724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Rectangle 9018"/>
          <p:cNvSpPr/>
          <p:nvPr/>
        </p:nvSpPr>
        <p:spPr>
          <a:xfrm>
            <a:off x="6400800" y="777240"/>
            <a:ext cx="64008" cy="2788920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6537960" y="83210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7223760" y="96012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22" name="Rounded Rectangle 9021"/>
          <p:cNvSpPr/>
          <p:nvPr/>
        </p:nvSpPr>
        <p:spPr>
          <a:xfrm>
            <a:off x="10607040" y="92354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057B8"/>
                </a:solidFill>
                <a:latin typeface="Calibri"/>
              </a:rPr>
              <a:t>[Insert mins]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6583680" y="138074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6583680" y="158191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025" name="TextBox 9024"/>
          <p:cNvSpPr txBox="1"/>
          <p:nvPr/>
        </p:nvSpPr>
        <p:spPr>
          <a:xfrm>
            <a:off x="6583680" y="194767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026" name="TextBox 9025"/>
          <p:cNvSpPr txBox="1"/>
          <p:nvPr/>
        </p:nvSpPr>
        <p:spPr>
          <a:xfrm>
            <a:off x="6583680" y="2313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9015" name="Card court 02"/>
          <p:cNvGrpSpPr/>
          <p:nvPr/>
        </p:nvGrpSpPr>
        <p:grpSpPr>
          <a:xfrm>
            <a:off x="9948672" y="1645920"/>
            <a:ext cx="1865376" cy="868680"/>
            <a:chOff x="9948672" y="1645920"/>
            <a:chExt cx="1865376" cy="868680"/>
          </a:xfrm>
        </p:grpSpPr>
        <p:sp>
          <p:nvSpPr>
            <p:cNvPr id="9027" name="Rectangle 9026"/>
            <p:cNvSpPr/>
            <p:nvPr/>
          </p:nvSpPr>
          <p:spPr>
            <a:xfrm>
              <a:off x="10012680" y="1645920"/>
              <a:ext cx="1737360" cy="868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8" name="Connector 9027"/>
            <p:cNvCxnSpPr/>
            <p:nvPr/>
          </p:nvCxnSpPr>
          <p:spPr>
            <a:xfrm>
              <a:off x="10881360" y="1645920"/>
              <a:ext cx="0" cy="86868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9" name="Oval 9028"/>
            <p:cNvSpPr/>
            <p:nvPr/>
          </p:nvSpPr>
          <p:spPr>
            <a:xfrm>
              <a:off x="10751058" y="1949958"/>
              <a:ext cx="260604" cy="260604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0" name="Oval 9029"/>
            <p:cNvSpPr/>
            <p:nvPr/>
          </p:nvSpPr>
          <p:spPr>
            <a:xfrm>
              <a:off x="10865358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1" name="Arc 9030"/>
            <p:cNvSpPr/>
            <p:nvPr/>
          </p:nvSpPr>
          <p:spPr>
            <a:xfrm>
              <a:off x="9752076" y="175450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2" name="Arc 9031"/>
            <p:cNvSpPr/>
            <p:nvPr/>
          </p:nvSpPr>
          <p:spPr>
            <a:xfrm>
              <a:off x="9752076" y="188480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33" name="Connector 9032"/>
            <p:cNvCxnSpPr/>
            <p:nvPr/>
          </p:nvCxnSpPr>
          <p:spPr>
            <a:xfrm>
              <a:off x="10273284" y="201510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34" name="Oval 9033"/>
            <p:cNvSpPr/>
            <p:nvPr/>
          </p:nvSpPr>
          <p:spPr>
            <a:xfrm>
              <a:off x="10257282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5" name="Oval 9034"/>
            <p:cNvSpPr/>
            <p:nvPr/>
          </p:nvSpPr>
          <p:spPr>
            <a:xfrm>
              <a:off x="10431018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6" name="Rectangle 9035"/>
            <p:cNvSpPr/>
            <p:nvPr/>
          </p:nvSpPr>
          <p:spPr>
            <a:xfrm>
              <a:off x="9948672" y="201510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7" name="Arc 9036"/>
            <p:cNvSpPr/>
            <p:nvPr/>
          </p:nvSpPr>
          <p:spPr>
            <a:xfrm>
              <a:off x="11489436" y="175450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38" name="Arc 9037"/>
            <p:cNvSpPr/>
            <p:nvPr/>
          </p:nvSpPr>
          <p:spPr>
            <a:xfrm>
              <a:off x="11489436" y="188480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39" name="Connector 9038"/>
            <p:cNvCxnSpPr/>
            <p:nvPr/>
          </p:nvCxnSpPr>
          <p:spPr>
            <a:xfrm>
              <a:off x="11489436" y="201510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0" name="Oval 9039"/>
            <p:cNvSpPr/>
            <p:nvPr/>
          </p:nvSpPr>
          <p:spPr>
            <a:xfrm>
              <a:off x="11473434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1" name="Oval 9040"/>
            <p:cNvSpPr/>
            <p:nvPr/>
          </p:nvSpPr>
          <p:spPr>
            <a:xfrm>
              <a:off x="11299698" y="206425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2" name="Rectangle 9041"/>
            <p:cNvSpPr/>
            <p:nvPr/>
          </p:nvSpPr>
          <p:spPr>
            <a:xfrm>
              <a:off x="11750040" y="201510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43" name="Connector 9042"/>
          <p:cNvCxnSpPr/>
          <p:nvPr/>
        </p:nvCxnSpPr>
        <p:spPr>
          <a:xfrm>
            <a:off x="6583680" y="289864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4" name="TextBox 9043"/>
          <p:cNvSpPr txBox="1"/>
          <p:nvPr/>
        </p:nvSpPr>
        <p:spPr>
          <a:xfrm>
            <a:off x="6583680" y="297180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9045" name="TextBox 9044"/>
          <p:cNvSpPr txBox="1"/>
          <p:nvPr/>
        </p:nvSpPr>
        <p:spPr>
          <a:xfrm>
            <a:off x="10332720" y="297180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9046" name="Rectangle 9045"/>
          <p:cNvSpPr/>
          <p:nvPr/>
        </p:nvSpPr>
        <p:spPr>
          <a:xfrm>
            <a:off x="274320" y="379476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7" name="Rectangle 9046"/>
          <p:cNvSpPr/>
          <p:nvPr/>
        </p:nvSpPr>
        <p:spPr>
          <a:xfrm>
            <a:off x="274320" y="3794760"/>
            <a:ext cx="64008" cy="2788920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8" name="TextBox 9047"/>
          <p:cNvSpPr txBox="1"/>
          <p:nvPr/>
        </p:nvSpPr>
        <p:spPr>
          <a:xfrm>
            <a:off x="411480" y="384962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49" name="TextBox 9048"/>
          <p:cNvSpPr txBox="1"/>
          <p:nvPr/>
        </p:nvSpPr>
        <p:spPr>
          <a:xfrm>
            <a:off x="1097280" y="397764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50" name="Rounded Rectangle 9049"/>
          <p:cNvSpPr/>
          <p:nvPr/>
        </p:nvSpPr>
        <p:spPr>
          <a:xfrm>
            <a:off x="4480560" y="394106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057B8"/>
                </a:solidFill>
                <a:latin typeface="Calibri"/>
              </a:rPr>
              <a:t>[Insert mins]</a:t>
            </a:r>
          </a:p>
        </p:txBody>
      </p:sp>
      <p:sp>
        <p:nvSpPr>
          <p:cNvPr id="9051" name="TextBox 9050"/>
          <p:cNvSpPr txBox="1"/>
          <p:nvPr/>
        </p:nvSpPr>
        <p:spPr>
          <a:xfrm>
            <a:off x="457200" y="439826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9052" name="TextBox 9051"/>
          <p:cNvSpPr txBox="1"/>
          <p:nvPr/>
        </p:nvSpPr>
        <p:spPr>
          <a:xfrm>
            <a:off x="457200" y="4599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053" name="TextBox 9052"/>
          <p:cNvSpPr txBox="1"/>
          <p:nvPr/>
        </p:nvSpPr>
        <p:spPr>
          <a:xfrm>
            <a:off x="457200" y="496519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054" name="TextBox 9053"/>
          <p:cNvSpPr txBox="1"/>
          <p:nvPr/>
        </p:nvSpPr>
        <p:spPr>
          <a:xfrm>
            <a:off x="457200" y="533095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9016" name="Card court 03"/>
          <p:cNvGrpSpPr/>
          <p:nvPr/>
        </p:nvGrpSpPr>
        <p:grpSpPr>
          <a:xfrm>
            <a:off x="3822192" y="4663440"/>
            <a:ext cx="1865376" cy="868680"/>
            <a:chOff x="3822192" y="4663440"/>
            <a:chExt cx="1865376" cy="868680"/>
          </a:xfrm>
        </p:grpSpPr>
        <p:sp>
          <p:nvSpPr>
            <p:cNvPr id="9055" name="Rectangle 9054"/>
            <p:cNvSpPr/>
            <p:nvPr/>
          </p:nvSpPr>
          <p:spPr>
            <a:xfrm>
              <a:off x="3886200" y="4663440"/>
              <a:ext cx="1737360" cy="868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6" name="Connector 9055"/>
            <p:cNvCxnSpPr/>
            <p:nvPr/>
          </p:nvCxnSpPr>
          <p:spPr>
            <a:xfrm>
              <a:off x="4754880" y="4663440"/>
              <a:ext cx="0" cy="86868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7" name="Oval 9056"/>
            <p:cNvSpPr/>
            <p:nvPr/>
          </p:nvSpPr>
          <p:spPr>
            <a:xfrm>
              <a:off x="4624578" y="4967478"/>
              <a:ext cx="260604" cy="260604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8" name="Oval 9057"/>
            <p:cNvSpPr/>
            <p:nvPr/>
          </p:nvSpPr>
          <p:spPr>
            <a:xfrm>
              <a:off x="4738878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9" name="Arc 9058"/>
            <p:cNvSpPr/>
            <p:nvPr/>
          </p:nvSpPr>
          <p:spPr>
            <a:xfrm>
              <a:off x="3625596" y="477202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0" name="Arc 9059"/>
            <p:cNvSpPr/>
            <p:nvPr/>
          </p:nvSpPr>
          <p:spPr>
            <a:xfrm>
              <a:off x="3625596" y="490232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61" name="Connector 9060"/>
            <p:cNvCxnSpPr/>
            <p:nvPr/>
          </p:nvCxnSpPr>
          <p:spPr>
            <a:xfrm>
              <a:off x="4146804" y="503262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2" name="Oval 9061"/>
            <p:cNvSpPr/>
            <p:nvPr/>
          </p:nvSpPr>
          <p:spPr>
            <a:xfrm>
              <a:off x="4130802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3" name="Oval 9062"/>
            <p:cNvSpPr/>
            <p:nvPr/>
          </p:nvSpPr>
          <p:spPr>
            <a:xfrm>
              <a:off x="4304538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4" name="Rectangle 9063"/>
            <p:cNvSpPr/>
            <p:nvPr/>
          </p:nvSpPr>
          <p:spPr>
            <a:xfrm>
              <a:off x="3822192" y="503262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5" name="Arc 9064"/>
            <p:cNvSpPr/>
            <p:nvPr/>
          </p:nvSpPr>
          <p:spPr>
            <a:xfrm>
              <a:off x="5362956" y="477202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6" name="Arc 9065"/>
            <p:cNvSpPr/>
            <p:nvPr/>
          </p:nvSpPr>
          <p:spPr>
            <a:xfrm>
              <a:off x="5362956" y="490232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67" name="Connector 9066"/>
            <p:cNvCxnSpPr/>
            <p:nvPr/>
          </p:nvCxnSpPr>
          <p:spPr>
            <a:xfrm>
              <a:off x="5362956" y="503262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68" name="Oval 9067"/>
            <p:cNvSpPr/>
            <p:nvPr/>
          </p:nvSpPr>
          <p:spPr>
            <a:xfrm>
              <a:off x="5346954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69" name="Oval 9068"/>
            <p:cNvSpPr/>
            <p:nvPr/>
          </p:nvSpPr>
          <p:spPr>
            <a:xfrm>
              <a:off x="5173218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0" name="Rectangle 9069"/>
            <p:cNvSpPr/>
            <p:nvPr/>
          </p:nvSpPr>
          <p:spPr>
            <a:xfrm>
              <a:off x="5623560" y="503262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71" name="Connector 9070"/>
          <p:cNvCxnSpPr/>
          <p:nvPr/>
        </p:nvCxnSpPr>
        <p:spPr>
          <a:xfrm>
            <a:off x="457200" y="591616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72" name="TextBox 9071"/>
          <p:cNvSpPr txBox="1"/>
          <p:nvPr/>
        </p:nvSpPr>
        <p:spPr>
          <a:xfrm>
            <a:off x="457200" y="598932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9073" name="TextBox 9072"/>
          <p:cNvSpPr txBox="1"/>
          <p:nvPr/>
        </p:nvSpPr>
        <p:spPr>
          <a:xfrm>
            <a:off x="4206240" y="598932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sp>
        <p:nvSpPr>
          <p:cNvPr id="9074" name="Rectangle 9073"/>
          <p:cNvSpPr/>
          <p:nvPr/>
        </p:nvSpPr>
        <p:spPr>
          <a:xfrm>
            <a:off x="6400800" y="3794760"/>
            <a:ext cx="55778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5" name="Rectangle 9074"/>
          <p:cNvSpPr/>
          <p:nvPr/>
        </p:nvSpPr>
        <p:spPr>
          <a:xfrm>
            <a:off x="6400800" y="3794760"/>
            <a:ext cx="64008" cy="2788920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6" name="TextBox 9075"/>
          <p:cNvSpPr txBox="1"/>
          <p:nvPr/>
        </p:nvSpPr>
        <p:spPr>
          <a:xfrm>
            <a:off x="6537960" y="3849624"/>
            <a:ext cx="685800" cy="45720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26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77" name="TextBox 9076"/>
          <p:cNvSpPr txBox="1"/>
          <p:nvPr/>
        </p:nvSpPr>
        <p:spPr>
          <a:xfrm>
            <a:off x="7223760" y="3977640"/>
            <a:ext cx="3246120" cy="29260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4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78" name="Rounded Rectangle 9077"/>
          <p:cNvSpPr/>
          <p:nvPr/>
        </p:nvSpPr>
        <p:spPr>
          <a:xfrm>
            <a:off x="10607040" y="3941064"/>
            <a:ext cx="1207008" cy="34747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057B8"/>
                </a:solidFill>
                <a:latin typeface="Calibri"/>
              </a:rPr>
              <a:t>[Insert mins]</a:t>
            </a:r>
          </a:p>
        </p:txBody>
      </p:sp>
      <p:sp>
        <p:nvSpPr>
          <p:cNvPr id="9079" name="TextBox 9078"/>
          <p:cNvSpPr txBox="1"/>
          <p:nvPr/>
        </p:nvSpPr>
        <p:spPr>
          <a:xfrm>
            <a:off x="6583680" y="4398264"/>
            <a:ext cx="1097280" cy="16459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CUES</a:t>
            </a:r>
          </a:p>
        </p:txBody>
      </p:sp>
      <p:sp>
        <p:nvSpPr>
          <p:cNvPr id="9080" name="TextBox 9079"/>
          <p:cNvSpPr txBox="1"/>
          <p:nvPr/>
        </p:nvSpPr>
        <p:spPr>
          <a:xfrm>
            <a:off x="6583680" y="459943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1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081" name="TextBox 9080"/>
          <p:cNvSpPr txBox="1"/>
          <p:nvPr/>
        </p:nvSpPr>
        <p:spPr>
          <a:xfrm>
            <a:off x="6583680" y="496519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2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sp>
        <p:nvSpPr>
          <p:cNvPr id="9082" name="TextBox 9081"/>
          <p:cNvSpPr txBox="1"/>
          <p:nvPr/>
        </p:nvSpPr>
        <p:spPr>
          <a:xfrm>
            <a:off x="6583680" y="5330952"/>
            <a:ext cx="3291840" cy="31089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1300" b="1" lang="en-GB">
                <a:solidFill>
                  <a:srgbClr val="0057B8"/>
                </a:solidFill>
                <a:latin typeface="Calibri"/>
              </a:rPr>
              <a:t>3  </a:t>
            </a:r>
            <a:r>
              <a:rPr sz="1200" b="1" lang="en-GB">
                <a:solidFill>
                  <a:srgbClr val="1A1A1A"/>
                </a:solidFill>
                <a:latin typeface="Calibri"/>
              </a:rPr>
              <a:t>[Insert cue — five words max]</a:t>
            </a:r>
          </a:p>
        </p:txBody>
      </p:sp>
      <p:grpSp>
        <p:nvGrpSpPr>
          <p:cNvPr id="9017" name="Card court 04"/>
          <p:cNvGrpSpPr/>
          <p:nvPr/>
        </p:nvGrpSpPr>
        <p:grpSpPr>
          <a:xfrm>
            <a:off x="9948672" y="4663440"/>
            <a:ext cx="1865376" cy="868680"/>
            <a:chOff x="9948672" y="4663440"/>
            <a:chExt cx="1865376" cy="868680"/>
          </a:xfrm>
        </p:grpSpPr>
        <p:sp>
          <p:nvSpPr>
            <p:cNvPr id="9083" name="Rectangle 9082"/>
            <p:cNvSpPr/>
            <p:nvPr/>
          </p:nvSpPr>
          <p:spPr>
            <a:xfrm>
              <a:off x="10012680" y="4663440"/>
              <a:ext cx="1737360" cy="868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4" name="Connector 9083"/>
            <p:cNvCxnSpPr/>
            <p:nvPr/>
          </p:nvCxnSpPr>
          <p:spPr>
            <a:xfrm>
              <a:off x="10881360" y="4663440"/>
              <a:ext cx="0" cy="86868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5" name="Oval 9084"/>
            <p:cNvSpPr/>
            <p:nvPr/>
          </p:nvSpPr>
          <p:spPr>
            <a:xfrm>
              <a:off x="10751058" y="4967478"/>
              <a:ext cx="260604" cy="260604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6" name="Oval 9085"/>
            <p:cNvSpPr/>
            <p:nvPr/>
          </p:nvSpPr>
          <p:spPr>
            <a:xfrm>
              <a:off x="10865358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7" name="Arc 9086"/>
            <p:cNvSpPr/>
            <p:nvPr/>
          </p:nvSpPr>
          <p:spPr>
            <a:xfrm>
              <a:off x="9752076" y="4772025"/>
              <a:ext cx="521208" cy="5212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8" name="Arc 9087"/>
            <p:cNvSpPr/>
            <p:nvPr/>
          </p:nvSpPr>
          <p:spPr>
            <a:xfrm>
              <a:off x="9752076" y="4902327"/>
              <a:ext cx="521208" cy="5212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9" name="Connector 9088"/>
            <p:cNvCxnSpPr/>
            <p:nvPr/>
          </p:nvCxnSpPr>
          <p:spPr>
            <a:xfrm>
              <a:off x="10273284" y="503262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90" name="Oval 9089"/>
            <p:cNvSpPr/>
            <p:nvPr/>
          </p:nvSpPr>
          <p:spPr>
            <a:xfrm>
              <a:off x="10257282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1" name="Oval 9090"/>
            <p:cNvSpPr/>
            <p:nvPr/>
          </p:nvSpPr>
          <p:spPr>
            <a:xfrm>
              <a:off x="10431018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2" name="Rectangle 9091"/>
            <p:cNvSpPr/>
            <p:nvPr/>
          </p:nvSpPr>
          <p:spPr>
            <a:xfrm>
              <a:off x="9948672" y="503262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3" name="Arc 9092"/>
            <p:cNvSpPr/>
            <p:nvPr/>
          </p:nvSpPr>
          <p:spPr>
            <a:xfrm>
              <a:off x="11489436" y="4772025"/>
              <a:ext cx="521208" cy="5212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4" name="Arc 9093"/>
            <p:cNvSpPr/>
            <p:nvPr/>
          </p:nvSpPr>
          <p:spPr>
            <a:xfrm>
              <a:off x="11489436" y="4902327"/>
              <a:ext cx="521208" cy="5212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95" name="Connector 9094"/>
            <p:cNvCxnSpPr/>
            <p:nvPr/>
          </p:nvCxnSpPr>
          <p:spPr>
            <a:xfrm>
              <a:off x="11489436" y="5032629"/>
              <a:ext cx="0" cy="13030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96" name="Oval 9095"/>
            <p:cNvSpPr/>
            <p:nvPr/>
          </p:nvSpPr>
          <p:spPr>
            <a:xfrm>
              <a:off x="11473434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7" name="Oval 9096"/>
            <p:cNvSpPr/>
            <p:nvPr/>
          </p:nvSpPr>
          <p:spPr>
            <a:xfrm>
              <a:off x="11299698" y="508177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98" name="Rectangle 9097"/>
            <p:cNvSpPr/>
            <p:nvPr/>
          </p:nvSpPr>
          <p:spPr>
            <a:xfrm>
              <a:off x="11750040" y="5032629"/>
              <a:ext cx="64008" cy="13030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99" name="Connector 9098"/>
          <p:cNvCxnSpPr/>
          <p:nvPr/>
        </p:nvCxnSpPr>
        <p:spPr>
          <a:xfrm>
            <a:off x="6583680" y="5916168"/>
            <a:ext cx="5257800" cy="0"/>
          </a:xfrm>
          <a:prstGeom prst="line">
            <a:avLst/>
          </a:prstGeom>
          <a:ln w="635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00" name="TextBox 9099"/>
          <p:cNvSpPr txBox="1"/>
          <p:nvPr/>
        </p:nvSpPr>
        <p:spPr>
          <a:xfrm>
            <a:off x="6583680" y="5989320"/>
            <a:ext cx="356616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50" b="1" lang="en-GB">
                <a:solidFill>
                  <a:srgbClr val="6B6B6B"/>
                </a:solidFill>
                <a:latin typeface="Calibri"/>
              </a:rPr>
              <a:t>WATCH FOR   </a:t>
            </a:r>
            <a:r>
              <a:rPr sz="950" b="0" lang="en-GB">
                <a:solidFill>
                  <a:srgbClr val="1A1A1A"/>
                </a:solidFill>
                <a:latin typeface="Calibri"/>
              </a:rPr>
              <a:t>[Insert the trigger that makes you stop play]</a:t>
            </a:r>
          </a:p>
        </p:txBody>
      </p:sp>
      <p:sp>
        <p:nvSpPr>
          <p:cNvPr id="9101" name="TextBox 9100"/>
          <p:cNvSpPr txBox="1"/>
          <p:nvPr/>
        </p:nvSpPr>
        <p:spPr>
          <a:xfrm>
            <a:off x="10332720" y="5989320"/>
            <a:ext cx="1508760" cy="274320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50" b="1" lang="en-GB">
                <a:solidFill>
                  <a:srgbClr val="6B6B6B"/>
                </a:solidFill>
                <a:latin typeface="Calibri"/>
              </a:rPr>
              <a:t>WORK : REST   </a:t>
            </a:r>
            <a:r>
              <a:rPr sz="950" b="1" lang="en-GB">
                <a:solidFill>
                  <a:srgbClr val="1A1A1A"/>
                </a:solidFill>
                <a:latin typeface="Calibri"/>
              </a:rPr>
              <a:t>[   ]</a:t>
            </a:r>
          </a:p>
        </p:txBody>
      </p:sp>
      <p:cxnSp>
        <p:nvCxnSpPr>
          <p:cNvPr id="9102" name="Connector 9101"/>
          <p:cNvCxnSpPr/>
          <p:nvPr/>
        </p:nvCxnSpPr>
        <p:spPr>
          <a:xfrm>
            <a:off x="6126480" y="713232"/>
            <a:ext cx="0" cy="5943600"/>
          </a:xfrm>
          <a:prstGeom prst="line">
            <a:avLst/>
          </a:prstGeom>
          <a:ln w="9525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03" name="Connector 9102"/>
          <p:cNvCxnSpPr/>
          <p:nvPr/>
        </p:nvCxnSpPr>
        <p:spPr>
          <a:xfrm>
            <a:off x="182880" y="3680460"/>
            <a:ext cx="11823192" cy="0"/>
          </a:xfrm>
          <a:prstGeom prst="line">
            <a:avLst/>
          </a:prstGeom>
          <a:ln w="9525">
            <a:solidFill>
              <a:srgbClr val="6B6B6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04" name="TextBox 9103"/>
          <p:cNvSpPr txBox="1"/>
          <p:nvPr/>
        </p:nvSpPr>
        <p:spPr>
          <a:xfrm>
            <a:off x="5907024" y="548640"/>
            <a:ext cx="457200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ctr"/>
            <a:r>
              <a:rPr sz="600" b="1" lang="en-GB">
                <a:solidFill>
                  <a:srgbClr val="6B6B6B"/>
                </a:solidFill>
                <a:latin typeface="Calibri"/>
              </a:rPr>
              <a:t>CUT</a:t>
            </a:r>
          </a:p>
        </p:txBody>
      </p:sp>
      <p:sp>
        <p:nvSpPr>
          <p:cNvPr id="9105" name="TextBox 9104"/>
          <p:cNvSpPr txBox="1"/>
          <p:nvPr/>
        </p:nvSpPr>
        <p:spPr>
          <a:xfrm>
            <a:off x="11887200" y="3593592"/>
            <a:ext cx="310896" cy="146304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600" b="1" lang="en-GB">
                <a:solidFill>
                  <a:srgbClr val="6B6B6B"/>
                </a:solidFill>
                <a:latin typeface="Calibri"/>
              </a:rPr>
              <a:t>CUT</a:t>
            </a:r>
          </a:p>
        </p:txBody>
      </p:sp>
      <p:sp>
        <p:nvSpPr>
          <p:cNvPr id="9106" name="TextBox 9105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ON-COURT CARDS  —  print · cut · pocket  ·  one card per block  ·  three cues max  ·  readable at arm's length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